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4" r:id="rId4"/>
  </p:sldMasterIdLst>
  <p:notesMasterIdLst>
    <p:notesMasterId r:id="rId12"/>
  </p:notesMasterIdLst>
  <p:sldIdLst>
    <p:sldId id="256" r:id="rId5"/>
    <p:sldId id="282" r:id="rId6"/>
    <p:sldId id="283" r:id="rId7"/>
    <p:sldId id="278" r:id="rId8"/>
    <p:sldId id="276" r:id="rId9"/>
    <p:sldId id="260" r:id="rId10"/>
    <p:sldId id="274" r:id="rId11"/>
  </p:sldIdLst>
  <p:sldSz cx="14630400" cy="8229600"/>
  <p:notesSz cx="8229600" cy="146304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Microsoft YaHei UI" panose="020B0503020204020204" pitchFamily="34" charset="-122"/>
      <p:regular r:id="rId17"/>
      <p:bold r:id="rId18"/>
    </p:embeddedFont>
    <p:embeddedFont>
      <p:font typeface="Montserrat Bold" panose="020B0604020202020204" charset="0"/>
      <p:bold r:id="rId19"/>
    </p:embeddedFont>
    <p:embeddedFont>
      <p:font typeface="Source Sans 3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52CDD5-B737-4757-9781-5C2DF6668DA4}">
          <p14:sldIdLst>
            <p14:sldId id="256"/>
            <p14:sldId id="282"/>
            <p14:sldId id="283"/>
            <p14:sldId id="278"/>
            <p14:sldId id="276"/>
            <p14:sldId id="260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5B99F-FB76-8BA4-E1AA-EB3C67AF405C}" v="144" dt="2026-01-06T07:23:19.251"/>
    <p1510:client id="{4AAFF8D0-788B-BA19-6F8C-32D974CF22C5}" v="128" dt="2026-01-05T17:16:39.839"/>
    <p1510:client id="{6E1FDD68-53B9-7777-6F16-F0F6910D5E6B}" v="479" dt="2026-01-06T02:57:34.288"/>
    <p1510:client id="{92550BB9-22FB-DD44-F485-174D2322C48D}" v="20" dt="2026-01-05T17:13:06.195"/>
    <p1510:client id="{936C03E2-F49F-783C-022E-3CC8936C056F}" v="1" dt="2026-01-06T20:34:45.225"/>
    <p1510:client id="{C9206146-F0D3-6849-8838-BEBAD2B4661B}" v="92" dt="2026-01-06T05:19:50.104"/>
    <p1510:client id="{D04A1228-B16E-3B93-1198-6F35ABFCA1AF}" v="11" dt="2026-01-06T08:14:12.115"/>
    <p1510:client id="{D9B59C69-57BC-8396-FEAD-42362C8A9265}" v="1636" dt="2026-01-06T03:45:06.381"/>
    <p1510:client id="{DCA52D8D-5A34-8815-DDCA-9B62A6C38EBD}" v="265" dt="2026-01-05T17:59:26.182"/>
    <p1510:client id="{E3DB0DDE-46D1-2367-AABE-E3D4D1797819}" v="337" dt="2026-01-06T03:46:59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47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BD5C1-7D54-ABBB-56C0-FA4DC638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83F78-6521-BC5B-C772-3C22A10A7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E67DE-9F24-C16F-EA8D-0DA3F57D3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,Sans-Serif"/>
              <a:buChar char="•"/>
            </a:pPr>
            <a:r>
              <a:rPr lang="en-US"/>
              <a:t>The cognitive load estimator provides a score.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/>
              <a:t>The contextual bandit takes that score plus context like typing rhythm and time of day.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/>
              <a:t>It chooses the next work interval and break length.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/>
              <a:t>The outcome is evaluated as a reward based on how much fatigue was relieved and how much progress was made.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/>
              <a:t>Over time, it learns each student’s unique rhythm.</a:t>
            </a:r>
            <a:endParaRPr lang="en-US">
              <a:solidFill>
                <a:srgbClr val="444444"/>
              </a:solidFill>
            </a:endParaRPr>
          </a:p>
          <a:p>
            <a:endParaRPr lang="en-US">
              <a:solidFill>
                <a:srgbClr val="444444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933D4-E684-2E18-C05C-B66D0DCA6B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56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0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7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04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9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1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2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9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3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63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48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02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E6E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9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09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E6E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67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F2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09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6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41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347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F2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58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64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90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3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3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0003" y="427315"/>
            <a:ext cx="8870275" cy="37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 pitchFamily="34" charset="-120"/>
              </a:rPr>
              <a:t>Adaptive Cognitive-Load Study Timer for Personalized Break Scheduling </a:t>
            </a:r>
            <a:endParaRPr lang="en-US" sz="235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3878" y="1066800"/>
            <a:ext cx="13542645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>
                <a:solidFill>
                  <a:srgbClr val="E2E6E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ource Sans 3" pitchFamily="34" charset="-120"/>
              </a:rPr>
              <a:t>Revolutionizing student productivity with a privacy-first, adaptive learning tool.</a:t>
            </a:r>
            <a:endParaRPr lang="en-US" sz="1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3878" y="1413629"/>
            <a:ext cx="6705243" cy="957858"/>
          </a:xfrm>
          <a:prstGeom prst="roundRect">
            <a:avLst>
              <a:gd name="adj" fmla="val 2069"/>
            </a:avLst>
          </a:prstGeom>
          <a:solidFill>
            <a:srgbClr val="1D1F22"/>
          </a:solidFill>
          <a:ln w="1524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3878" y="1413629"/>
            <a:ext cx="60960" cy="957858"/>
          </a:xfrm>
          <a:prstGeom prst="roundRect">
            <a:avLst>
              <a:gd name="adj" fmla="val 325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2118" y="1560909"/>
            <a:ext cx="1501140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>
                <a:solidFill>
                  <a:srgbClr val="E2E6E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 pitchFamily="34" charset="-120"/>
              </a:rPr>
              <a:t>The Problem</a:t>
            </a:r>
            <a:endParaRPr lang="en-US" sz="115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2118" y="1827728"/>
            <a:ext cx="6349722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>
                <a:solidFill>
                  <a:srgbClr val="E2E6E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ource Sans 3" pitchFamily="34" charset="-120"/>
              </a:rPr>
              <a:t>Students rely on fixed timers, ignoring natural cognitive load fluctuations. This leads to premature interruptions or prolonged exhaustion, reducing study efficiency.</a:t>
            </a:r>
            <a:endParaRPr lang="en-US" sz="12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81161" y="1413629"/>
            <a:ext cx="6705362" cy="957858"/>
          </a:xfrm>
          <a:prstGeom prst="roundRect">
            <a:avLst>
              <a:gd name="adj" fmla="val 2069"/>
            </a:avLst>
          </a:prstGeom>
          <a:solidFill>
            <a:srgbClr val="1D1F22"/>
          </a:solidFill>
          <a:ln w="1524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81161" y="1413629"/>
            <a:ext cx="60960" cy="957858"/>
          </a:xfrm>
          <a:prstGeom prst="roundRect">
            <a:avLst>
              <a:gd name="adj" fmla="val 325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89401" y="1560909"/>
            <a:ext cx="1501140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>
                <a:solidFill>
                  <a:srgbClr val="E2E6E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 pitchFamily="34" charset="-120"/>
              </a:rPr>
              <a:t>Our Approach</a:t>
            </a:r>
            <a:endParaRPr lang="en-US" sz="115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89401" y="1827727"/>
            <a:ext cx="6349841" cy="5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200">
                <a:solidFill>
                  <a:srgbClr val="E2E6E9"/>
                </a:solidFill>
                <a:latin typeface="Microsoft YaHei UI"/>
                <a:ea typeface="Microsoft YaHei UI"/>
                <a:cs typeface="Source Sans 3" pitchFamily="34" charset="-120"/>
              </a:rPr>
              <a:t>A privacy-first app fusing typing/touch dynamics + micro-EMA. Features an Adaptive Scheduler, Chronotype Heatmap, and Intent-Lock overlay for personalized focus.</a:t>
            </a:r>
            <a:endParaRPr lang="en-US" sz="1200">
              <a:latin typeface="Microsoft YaHei UI"/>
              <a:ea typeface="Microsoft YaHei UI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118" y="2345078"/>
            <a:ext cx="11511201" cy="55715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24669" y="4577927"/>
            <a:ext cx="2266098" cy="28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 pitchFamily="34" charset="-120"/>
              </a:rPr>
              <a:t>Student</a:t>
            </a:r>
            <a:endParaRPr lang="en-US" sz="12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66674" y="4999157"/>
            <a:ext cx="2382087" cy="49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ource Sans 3" pitchFamily="34" charset="-120"/>
              </a:rPr>
              <a:t>Central adaptive agent receiving and sending data</a:t>
            </a:r>
            <a:endParaRPr lang="en-US" sz="105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947958" y="3536580"/>
            <a:ext cx="2266099" cy="28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 pitchFamily="34" charset="-120"/>
              </a:rPr>
              <a:t>Scheduler</a:t>
            </a:r>
            <a:endParaRPr lang="en-US" sz="12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728718" y="3865511"/>
            <a:ext cx="2747709" cy="49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ource Sans 3" pitchFamily="34" charset="-120"/>
              </a:rPr>
              <a:t>Outputs adaptive work and break intervals</a:t>
            </a:r>
            <a:endParaRPr lang="en-US" sz="14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188100" y="6328971"/>
            <a:ext cx="2266098" cy="28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 pitchFamily="34" charset="-120"/>
              </a:rPr>
              <a:t>Heatmap</a:t>
            </a:r>
            <a:endParaRPr lang="en-US" sz="12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947294" y="6647194"/>
            <a:ext cx="2747709" cy="498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ource Sans 3" pitchFamily="34" charset="-120"/>
              </a:rPr>
              <a:t>Visualizes daily rhythm and peaks</a:t>
            </a:r>
            <a:endParaRPr lang="en-US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428904" y="3026355"/>
            <a:ext cx="2266099" cy="28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>
                <a:latin typeface="Microsoft YaHei UI"/>
                <a:ea typeface="Microsoft YaHei UI"/>
                <a:cs typeface="Montserrat Bold" pitchFamily="34" charset="-120"/>
              </a:rPr>
              <a:t>Estimator</a:t>
            </a:r>
            <a:endParaRPr lang="en-US" sz="1200">
              <a:latin typeface="Microsoft YaHei UI"/>
              <a:ea typeface="Microsoft YaHei U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188100" y="3316820"/>
            <a:ext cx="2747709" cy="4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>
                <a:latin typeface="Microsoft YaHei UI"/>
                <a:ea typeface="Microsoft YaHei UI"/>
                <a:cs typeface="Source Sans 3" pitchFamily="34" charset="-120"/>
              </a:rPr>
              <a:t>Inputs typing and touch dynamics</a:t>
            </a:r>
            <a:endParaRPr lang="en-US" sz="1600">
              <a:latin typeface="Microsoft YaHei UI"/>
              <a:ea typeface="Microsoft YaHei UI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600792" y="6751994"/>
            <a:ext cx="2266099" cy="28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>
                <a:latin typeface="Microsoft YaHei UI"/>
                <a:ea typeface="Microsoft YaHei UI"/>
                <a:cs typeface="Montserrat Bold" pitchFamily="34" charset="-120"/>
              </a:rPr>
              <a:t>Intent-Lock</a:t>
            </a:r>
            <a:endParaRPr lang="en-US" sz="1200">
              <a:latin typeface="Microsoft YaHei UI"/>
              <a:ea typeface="Microsoft YaHei U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299617" y="7067586"/>
            <a:ext cx="2747709" cy="4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>
                <a:latin typeface="Microsoft YaHei UI"/>
                <a:ea typeface="Microsoft YaHei UI"/>
                <a:cs typeface="Source Sans 3" pitchFamily="34" charset="-120"/>
              </a:rPr>
              <a:t>Controls distractions to protect focus</a:t>
            </a:r>
            <a:endParaRPr lang="en-US" sz="1600">
              <a:latin typeface="Microsoft YaHei UI"/>
              <a:ea typeface="Microsoft YaHei U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6397" y="7915277"/>
            <a:ext cx="13542645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>
                <a:solidFill>
                  <a:srgbClr val="E2E6E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ource Sans 3" pitchFamily="34" charset="-120"/>
              </a:rPr>
              <a:t>Our system addresses critical gaps in existing static study tools, supporting millions of students.</a:t>
            </a:r>
            <a:endParaRPr lang="en-US" sz="1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14C20C-5C04-0238-DBC6-E3C567FE288C}"/>
              </a:ext>
            </a:extLst>
          </p:cNvPr>
          <p:cNvSpPr/>
          <p:nvPr/>
        </p:nvSpPr>
        <p:spPr>
          <a:xfrm>
            <a:off x="12812751" y="7738946"/>
            <a:ext cx="1739590" cy="370165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41A8701-A643-7780-055A-88F8E2915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22" y="173973"/>
            <a:ext cx="5973297" cy="687481"/>
          </a:xfrm>
          <a:prstGeom prst="rect">
            <a:avLst/>
          </a:prstGeom>
        </p:spPr>
      </p:pic>
      <p:pic>
        <p:nvPicPr>
          <p:cNvPr id="8" name="Picture 7" descr="A black rectangular object with white lines&#10;&#10;AI-generated content may be incorrect.">
            <a:extLst>
              <a:ext uri="{FF2B5EF4-FFF2-40B4-BE49-F238E27FC236}">
                <a16:creationId xmlns:a16="http://schemas.microsoft.com/office/drawing/2014/main" id="{66E1353F-89C5-DC44-C72F-80F7A8059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95" y="977993"/>
            <a:ext cx="6590740" cy="3140449"/>
          </a:xfrm>
          <a:prstGeom prst="rect">
            <a:avLst/>
          </a:prstGeom>
        </p:spPr>
      </p:pic>
      <p:pic>
        <p:nvPicPr>
          <p:cNvPr id="10" name="Picture 9" descr="A black rectangular object with white lines&#10;&#10;AI-generated content may be incorrect.">
            <a:extLst>
              <a:ext uri="{FF2B5EF4-FFF2-40B4-BE49-F238E27FC236}">
                <a16:creationId xmlns:a16="http://schemas.microsoft.com/office/drawing/2014/main" id="{D307CE46-8C04-5527-8961-D259029A5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853" y="977992"/>
            <a:ext cx="6590740" cy="3140449"/>
          </a:xfrm>
          <a:prstGeom prst="rect">
            <a:avLst/>
          </a:prstGeom>
        </p:spPr>
      </p:pic>
      <p:pic>
        <p:nvPicPr>
          <p:cNvPr id="11" name="Picture 10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ED62C730-0D66-B028-4B2F-22A7EF56D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94" y="978554"/>
            <a:ext cx="6593542" cy="557493"/>
          </a:xfrm>
          <a:prstGeom prst="rect">
            <a:avLst/>
          </a:prstGeom>
        </p:spPr>
      </p:pic>
      <p:pic>
        <p:nvPicPr>
          <p:cNvPr id="12" name="Picture 11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B14EAF96-A2D8-B923-D36B-A52AB5776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452" y="978553"/>
            <a:ext cx="6593542" cy="557493"/>
          </a:xfrm>
          <a:prstGeom prst="rect">
            <a:avLst/>
          </a:prstGeom>
        </p:spPr>
      </p:pic>
      <p:pic>
        <p:nvPicPr>
          <p:cNvPr id="13" name="Picture 12" descr="A black rectangle with white text&#10;&#10;AI-generated content may be incorrect.">
            <a:extLst>
              <a:ext uri="{FF2B5EF4-FFF2-40B4-BE49-F238E27FC236}">
                <a16:creationId xmlns:a16="http://schemas.microsoft.com/office/drawing/2014/main" id="{4A8B6828-CD1D-12DE-7ABA-7E6BC8590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91" y="1795463"/>
            <a:ext cx="1943100" cy="523875"/>
          </a:xfrm>
          <a:prstGeom prst="rect">
            <a:avLst/>
          </a:prstGeom>
        </p:spPr>
      </p:pic>
      <p:pic>
        <p:nvPicPr>
          <p:cNvPr id="15" name="Picture 14" descr="A black rectangle with white text&#10;&#10;AI-generated content may be incorrect.">
            <a:extLst>
              <a:ext uri="{FF2B5EF4-FFF2-40B4-BE49-F238E27FC236}">
                <a16:creationId xmlns:a16="http://schemas.microsoft.com/office/drawing/2014/main" id="{1A62D445-2DBC-9946-496A-362C69805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7769037" y="1794902"/>
            <a:ext cx="2817158" cy="471207"/>
          </a:xfrm>
          <a:prstGeom prst="rect">
            <a:avLst/>
          </a:prstGeom>
        </p:spPr>
      </p:pic>
      <p:pic>
        <p:nvPicPr>
          <p:cNvPr id="17" name="Picture 1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2DBE1EC-F435-0E56-F7CD-A2CBF0DBC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879" y="1823197"/>
            <a:ext cx="1457325" cy="495300"/>
          </a:xfrm>
          <a:prstGeom prst="rect">
            <a:avLst/>
          </a:prstGeom>
        </p:spPr>
      </p:pic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A5F0F39-90AA-26F7-CF1F-13E44C24AF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758" y="1796303"/>
            <a:ext cx="2562225" cy="495300"/>
          </a:xfrm>
          <a:prstGeom prst="rect">
            <a:avLst/>
          </a:prstGeom>
        </p:spPr>
      </p:pic>
      <p:pic>
        <p:nvPicPr>
          <p:cNvPr id="19" name="Picture 1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FA7020B-E1AC-0849-CC03-73ACA4519C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353" y="2300288"/>
            <a:ext cx="7772400" cy="1800225"/>
          </a:xfrm>
          <a:prstGeom prst="rect">
            <a:avLst/>
          </a:prstGeom>
        </p:spPr>
      </p:pic>
      <p:pic>
        <p:nvPicPr>
          <p:cNvPr id="20" name="Picture 1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9DE55AF-E43F-7555-5D18-0F14EC86B9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7638" y="2273394"/>
            <a:ext cx="7781925" cy="1800225"/>
          </a:xfrm>
          <a:prstGeom prst="rect">
            <a:avLst/>
          </a:prstGeom>
        </p:spPr>
      </p:pic>
      <p:pic>
        <p:nvPicPr>
          <p:cNvPr id="21" name="Picture 20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DEF2C37C-5A63-4063-11E3-9E235E124D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953" y="4082023"/>
            <a:ext cx="9448800" cy="1114425"/>
          </a:xfrm>
          <a:prstGeom prst="rect">
            <a:avLst/>
          </a:prstGeom>
        </p:spPr>
      </p:pic>
      <p:pic>
        <p:nvPicPr>
          <p:cNvPr id="22" name="Picture 2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AC854B1-778A-1287-DF1F-6F7739D1B7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435" y="7522088"/>
            <a:ext cx="14630400" cy="527519"/>
          </a:xfrm>
          <a:prstGeom prst="rect">
            <a:avLst/>
          </a:prstGeom>
        </p:spPr>
      </p:pic>
      <p:pic>
        <p:nvPicPr>
          <p:cNvPr id="23" name="Picture 22" descr="A black and white text&#10;&#10;AI-generated content may be incorrect.">
            <a:extLst>
              <a:ext uri="{FF2B5EF4-FFF2-40B4-BE49-F238E27FC236}">
                <a16:creationId xmlns:a16="http://schemas.microsoft.com/office/drawing/2014/main" id="{863D1D1D-A1BB-27BD-1650-649938EF13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4435" y="5178709"/>
            <a:ext cx="12667130" cy="181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3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F0130DA-F0B2-0286-1E5C-5B4B51589647}"/>
              </a:ext>
            </a:extLst>
          </p:cNvPr>
          <p:cNvSpPr/>
          <p:nvPr/>
        </p:nvSpPr>
        <p:spPr>
          <a:xfrm>
            <a:off x="4576167" y="79037"/>
            <a:ext cx="5478066" cy="50042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algn="ctr">
              <a:lnSpc>
                <a:spcPts val="2900"/>
              </a:lnSpc>
              <a:defRPr/>
            </a:pPr>
            <a:r>
              <a:rPr lang="en-US" sz="2300" dirty="0">
                <a:latin typeface="Montserrat Bold"/>
                <a:ea typeface="Calibri"/>
                <a:cs typeface="Calibri"/>
              </a:rPr>
              <a:t>Key Features</a:t>
            </a:r>
          </a:p>
        </p:txBody>
      </p:sp>
      <p:sp>
        <p:nvSpPr>
          <p:cNvPr id="6" name="Shape 16">
            <a:extLst>
              <a:ext uri="{FF2B5EF4-FFF2-40B4-BE49-F238E27FC236}">
                <a16:creationId xmlns:a16="http://schemas.microsoft.com/office/drawing/2014/main" id="{E02F9EF7-5C06-F2C6-E06B-B96ED6487988}"/>
              </a:ext>
            </a:extLst>
          </p:cNvPr>
          <p:cNvSpPr/>
          <p:nvPr/>
        </p:nvSpPr>
        <p:spPr>
          <a:xfrm>
            <a:off x="920080" y="1914497"/>
            <a:ext cx="6378402" cy="2500466"/>
          </a:xfrm>
          <a:prstGeom prst="roundRect">
            <a:avLst>
              <a:gd name="adj" fmla="val 1639"/>
            </a:avLst>
          </a:prstGeom>
          <a:solidFill>
            <a:srgbClr val="E2E6E9"/>
          </a:solidFill>
          <a:ln w="15240">
            <a:solidFill>
              <a:srgbClr val="494A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17">
            <a:extLst>
              <a:ext uri="{FF2B5EF4-FFF2-40B4-BE49-F238E27FC236}">
                <a16:creationId xmlns:a16="http://schemas.microsoft.com/office/drawing/2014/main" id="{C1795007-7C1B-98F9-9F75-7620264E94A3}"/>
              </a:ext>
            </a:extLst>
          </p:cNvPr>
          <p:cNvSpPr/>
          <p:nvPr/>
        </p:nvSpPr>
        <p:spPr>
          <a:xfrm>
            <a:off x="852845" y="1901050"/>
            <a:ext cx="60960" cy="1196102"/>
          </a:xfrm>
          <a:prstGeom prst="roundRect">
            <a:avLst>
              <a:gd name="adj" fmla="val 32161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18">
            <a:extLst>
              <a:ext uri="{FF2B5EF4-FFF2-40B4-BE49-F238E27FC236}">
                <a16:creationId xmlns:a16="http://schemas.microsoft.com/office/drawing/2014/main" id="{5C767457-F31A-24BF-C6FB-7469B625373B}"/>
              </a:ext>
            </a:extLst>
          </p:cNvPr>
          <p:cNvSpPr/>
          <p:nvPr/>
        </p:nvSpPr>
        <p:spPr>
          <a:xfrm>
            <a:off x="1073103" y="2060348"/>
            <a:ext cx="5532749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  <a:defRPr/>
            </a:pPr>
            <a:r>
              <a:rPr lang="en-US" b="1">
                <a:solidFill>
                  <a:srgbClr val="000000"/>
                </a:solidFill>
                <a:latin typeface="Montserrat Bold"/>
                <a:ea typeface="+mn-lt"/>
                <a:cs typeface="+mn-lt"/>
              </a:rPr>
              <a:t>Personalized Study Time Recommendation</a:t>
            </a:r>
          </a:p>
          <a:p>
            <a:pPr>
              <a:lnSpc>
                <a:spcPts val="1450"/>
              </a:lnSpc>
              <a:defRPr/>
            </a:pPr>
            <a:endParaRPr lang="en-US" b="1">
              <a:latin typeface="Montserrat Bold"/>
              <a:ea typeface="Calibri"/>
              <a:cs typeface="Calibri"/>
            </a:endParaRPr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555FEFA3-6C3C-AFE7-18CE-C769DCACCEAB}"/>
              </a:ext>
            </a:extLst>
          </p:cNvPr>
          <p:cNvSpPr/>
          <p:nvPr/>
        </p:nvSpPr>
        <p:spPr>
          <a:xfrm>
            <a:off x="1073103" y="2376458"/>
            <a:ext cx="5958504" cy="187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Source Sans 3"/>
                <a:ea typeface="+mn-lt"/>
                <a:cs typeface="+mn-lt"/>
              </a:rPr>
              <a:t>Uses a </a:t>
            </a:r>
            <a:r>
              <a:rPr lang="en-US" sz="1400" b="1">
                <a:solidFill>
                  <a:srgbClr val="000000"/>
                </a:solidFill>
                <a:latin typeface="Source Sans 3"/>
                <a:ea typeface="+mn-lt"/>
                <a:cs typeface="+mn-lt"/>
              </a:rPr>
              <a:t>Contextual Bandit (</a:t>
            </a:r>
            <a:r>
              <a:rPr lang="en-US" sz="1400" b="1" err="1">
                <a:solidFill>
                  <a:srgbClr val="000000"/>
                </a:solidFill>
                <a:latin typeface="Source Sans 3"/>
                <a:ea typeface="+mn-lt"/>
                <a:cs typeface="+mn-lt"/>
              </a:rPr>
              <a:t>LinUCB</a:t>
            </a:r>
            <a:r>
              <a:rPr lang="en-US" sz="1400" b="1">
                <a:solidFill>
                  <a:srgbClr val="000000"/>
                </a:solidFill>
                <a:latin typeface="Source Sans 3"/>
                <a:ea typeface="+mn-lt"/>
                <a:cs typeface="+mn-lt"/>
              </a:rPr>
              <a:t>)</a:t>
            </a:r>
            <a:r>
              <a:rPr lang="en-US" sz="1400">
                <a:solidFill>
                  <a:srgbClr val="000000"/>
                </a:solidFill>
                <a:latin typeface="Source Sans 3"/>
                <a:ea typeface="+mn-lt"/>
                <a:cs typeface="+mn-lt"/>
              </a:rPr>
              <a:t> model to recommend the most productive study time. And gives advanced insights about study pattern and how it improves.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solidFill>
                <a:srgbClr val="000000"/>
              </a:solidFill>
              <a:latin typeface="Source Sans 3"/>
              <a:ea typeface="+mn-lt"/>
              <a:cs typeface="+mn-lt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Source Sans 3"/>
                <a:ea typeface="+mn-lt"/>
                <a:cs typeface="+mn-lt"/>
              </a:rPr>
              <a:t>Gives predictive study next windows to plan next session with machine learning powered application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solidFill>
                <a:srgbClr val="000000"/>
              </a:solidFill>
              <a:latin typeface="Source Sans 3"/>
              <a:ea typeface="+mn-lt"/>
              <a:cs typeface="+mn-lt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Hourly Productivity Intensity Analysis to identify how student studies throughout weekly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4" name="Shape 20">
            <a:extLst>
              <a:ext uri="{FF2B5EF4-FFF2-40B4-BE49-F238E27FC236}">
                <a16:creationId xmlns:a16="http://schemas.microsoft.com/office/drawing/2014/main" id="{DACA05CF-0A07-5B2A-44C3-36DDC2D29D41}"/>
              </a:ext>
            </a:extLst>
          </p:cNvPr>
          <p:cNvSpPr/>
          <p:nvPr/>
        </p:nvSpPr>
        <p:spPr>
          <a:xfrm>
            <a:off x="879739" y="4733833"/>
            <a:ext cx="6391264" cy="3091162"/>
          </a:xfrm>
          <a:prstGeom prst="roundRect">
            <a:avLst>
              <a:gd name="adj" fmla="val 1639"/>
            </a:avLst>
          </a:prstGeom>
          <a:solidFill>
            <a:srgbClr val="E2E6E9"/>
          </a:solidFill>
          <a:ln w="15240">
            <a:solidFill>
              <a:srgbClr val="494A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21">
            <a:extLst>
              <a:ext uri="{FF2B5EF4-FFF2-40B4-BE49-F238E27FC236}">
                <a16:creationId xmlns:a16="http://schemas.microsoft.com/office/drawing/2014/main" id="{FF831E5E-572B-8EFA-8C59-7146D84DB806}"/>
              </a:ext>
            </a:extLst>
          </p:cNvPr>
          <p:cNvSpPr/>
          <p:nvPr/>
        </p:nvSpPr>
        <p:spPr>
          <a:xfrm>
            <a:off x="799057" y="4599362"/>
            <a:ext cx="60960" cy="1196102"/>
          </a:xfrm>
          <a:prstGeom prst="roundRect">
            <a:avLst>
              <a:gd name="adj" fmla="val 32161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0AB29DDE-6B7E-E381-1539-B7322CD568ED}"/>
              </a:ext>
            </a:extLst>
          </p:cNvPr>
          <p:cNvSpPr/>
          <p:nvPr/>
        </p:nvSpPr>
        <p:spPr>
          <a:xfrm>
            <a:off x="1072324" y="4879686"/>
            <a:ext cx="229040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  <a:defRPr/>
            </a:pPr>
            <a:r>
              <a:rPr lang="en-US" b="1" err="1">
                <a:solidFill>
                  <a:prstClr val="black"/>
                </a:solidFill>
                <a:latin typeface="Montserrat Bold"/>
              </a:rPr>
              <a:t>Intentlock</a:t>
            </a:r>
            <a:r>
              <a:rPr lang="en-US" b="1">
                <a:solidFill>
                  <a:prstClr val="black"/>
                </a:solidFill>
                <a:latin typeface="Montserrat Bold"/>
              </a:rPr>
              <a:t> Overlay</a:t>
            </a:r>
            <a:endParaRPr 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Bold"/>
            </a:endParaRPr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5E7AF588-DC15-3074-C4BA-7461F02826B0}"/>
              </a:ext>
            </a:extLst>
          </p:cNvPr>
          <p:cNvSpPr/>
          <p:nvPr/>
        </p:nvSpPr>
        <p:spPr>
          <a:xfrm>
            <a:off x="1072323" y="5195797"/>
            <a:ext cx="5959089" cy="232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Source Sans 3"/>
                <a:ea typeface="+mn-lt"/>
                <a:cs typeface="+mn-lt"/>
              </a:rPr>
              <a:t>Binary exit-intent classifier (impulsive vs genuine) using session duration + cognitive load</a:t>
            </a:r>
            <a:endParaRPr lang="en-US">
              <a:solidFill>
                <a:srgbClr val="000000"/>
              </a:solidFill>
              <a:latin typeface="Source Sans 3"/>
              <a:ea typeface="+mn-lt"/>
              <a:cs typeface="+mn-lt"/>
            </a:endParaRPr>
          </a:p>
          <a:p>
            <a:pPr>
              <a:lnSpc>
                <a:spcPts val="1500"/>
              </a:lnSpc>
              <a:defRPr/>
            </a:pPr>
            <a:endParaRPr lang="en-US" sz="1400">
              <a:latin typeface="Source Sans 3"/>
              <a:ea typeface="+mn-lt"/>
              <a:cs typeface="+mn-lt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latin typeface="Source Sans 3"/>
                <a:ea typeface="+mn-lt"/>
                <a:cs typeface="+mn-lt"/>
              </a:rPr>
              <a:t>Uses CLE’s real-time cognitive load (</a:t>
            </a:r>
            <a:r>
              <a:rPr lang="en-US" sz="1400" err="1">
                <a:latin typeface="Source Sans 3"/>
                <a:ea typeface="+mn-lt"/>
                <a:cs typeface="+mn-lt"/>
              </a:rPr>
              <a:t>latent_mean</a:t>
            </a:r>
            <a:r>
              <a:rPr lang="en-US" sz="1400">
                <a:latin typeface="Source Sans 3"/>
                <a:ea typeface="+mn-lt"/>
                <a:cs typeface="+mn-lt"/>
              </a:rPr>
              <a:t>) as input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latin typeface="Source Sans 3"/>
              <a:ea typeface="+mn-lt"/>
              <a:cs typeface="+mn-lt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latin typeface="Source Sans 3"/>
                <a:ea typeface="+mn-lt"/>
                <a:cs typeface="+mn-lt"/>
              </a:rPr>
              <a:t>Logistic regression model, load-or-train on startup; cold-start uses 500 synthetic, research-backed samples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latin typeface="Source Sans 3"/>
              <a:ea typeface="+mn-lt"/>
              <a:cs typeface="+mn-lt"/>
            </a:endParaRPr>
          </a:p>
          <a:p>
            <a:pPr>
              <a:defRPr/>
            </a:pPr>
            <a:r>
              <a:rPr lang="en-US" sz="1400">
                <a:latin typeface="Source Sans 3"/>
                <a:ea typeface="+mn-lt"/>
                <a:cs typeface="+mn-lt"/>
              </a:rPr>
              <a:t>Adaptive friction</a:t>
            </a:r>
            <a:endParaRPr lang="en-US" sz="1400">
              <a:latin typeface="Source Sans 3"/>
            </a:endParaRPr>
          </a:p>
          <a:p>
            <a:pPr>
              <a:defRPr/>
            </a:pPr>
            <a:r>
              <a:rPr lang="en-US" sz="1400">
                <a:latin typeface="Source Sans 3"/>
                <a:ea typeface="+mn-lt"/>
                <a:cs typeface="+mn-lt"/>
              </a:rPr>
              <a:t>Three escalation levels by number of impulsive exits in the session:</a:t>
            </a:r>
            <a:endParaRPr lang="en-US">
              <a:latin typeface="Source Sans 3"/>
            </a:endParaRPr>
          </a:p>
          <a:p>
            <a:pPr>
              <a:defRPr/>
            </a:pPr>
            <a:r>
              <a:rPr lang="en-US" sz="1400">
                <a:latin typeface="Source Sans 3"/>
                <a:ea typeface="+mn-lt"/>
                <a:cs typeface="+mn-lt"/>
              </a:rPr>
              <a:t>Genuine exits get no friction; impulsive exits get friction that increases with repeated attempts</a:t>
            </a:r>
            <a:endParaRPr lang="en-US"/>
          </a:p>
          <a:p>
            <a:pPr>
              <a:lnSpc>
                <a:spcPts val="1500"/>
              </a:lnSpc>
              <a:defRPr/>
            </a:pPr>
            <a:endParaRPr lang="en-US" sz="1400">
              <a:latin typeface="Source Sans 3"/>
              <a:ea typeface="+mn-lt"/>
              <a:cs typeface="+mn-lt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19D96BE3-F830-E237-59CB-ECF27C2F4B7B}"/>
              </a:ext>
            </a:extLst>
          </p:cNvPr>
          <p:cNvSpPr/>
          <p:nvPr/>
        </p:nvSpPr>
        <p:spPr>
          <a:xfrm>
            <a:off x="7509724" y="1901049"/>
            <a:ext cx="6629803" cy="3276693"/>
          </a:xfrm>
          <a:prstGeom prst="roundRect">
            <a:avLst>
              <a:gd name="adj" fmla="val 1639"/>
            </a:avLst>
          </a:prstGeom>
          <a:solidFill>
            <a:srgbClr val="E2E6E9"/>
          </a:solidFill>
          <a:ln w="15240">
            <a:solidFill>
              <a:srgbClr val="494A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5641E459-D937-15D8-987C-4A2BF9A23280}"/>
              </a:ext>
            </a:extLst>
          </p:cNvPr>
          <p:cNvSpPr/>
          <p:nvPr/>
        </p:nvSpPr>
        <p:spPr>
          <a:xfrm>
            <a:off x="7455741" y="2073523"/>
            <a:ext cx="60960" cy="1196102"/>
          </a:xfrm>
          <a:prstGeom prst="roundRect">
            <a:avLst>
              <a:gd name="adj" fmla="val 32161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884B9B6E-DCD5-5DC1-CCD3-B8262D8AA57E}"/>
              </a:ext>
            </a:extLst>
          </p:cNvPr>
          <p:cNvSpPr/>
          <p:nvPr/>
        </p:nvSpPr>
        <p:spPr>
          <a:xfrm>
            <a:off x="7715560" y="2508981"/>
            <a:ext cx="5985593" cy="1913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  <a:defRPr/>
            </a:pPr>
            <a:r>
              <a:rPr lang="en-US" sz="1400" err="1">
                <a:solidFill>
                  <a:srgbClr val="000000"/>
                </a:solidFill>
                <a:latin typeface="Source Sans 3"/>
              </a:rPr>
              <a:t>LinUcb</a:t>
            </a:r>
            <a:r>
              <a:rPr lang="en-US" sz="1400">
                <a:solidFill>
                  <a:srgbClr val="000000"/>
                </a:solidFill>
                <a:latin typeface="Source Sans 3"/>
              </a:rPr>
              <a:t> + </a:t>
            </a:r>
            <a:r>
              <a:rPr lang="en-US" sz="1400" err="1">
                <a:solidFill>
                  <a:srgbClr val="000000"/>
                </a:solidFill>
                <a:latin typeface="Source Sans 3"/>
              </a:rPr>
              <a:t>Thomp</a:t>
            </a:r>
            <a:r>
              <a:rPr lang="en-US" sz="1400">
                <a:solidFill>
                  <a:srgbClr val="000000"/>
                </a:solidFill>
                <a:latin typeface="Source Sans 3"/>
              </a:rPr>
              <a:t>son sampling for smart adaptive timer scheduling 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solidFill>
                <a:prstClr val="black"/>
              </a:solidFill>
              <a:latin typeface="Source Sans 3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prstClr val="black"/>
                </a:solidFill>
                <a:latin typeface="Source Sans 3"/>
              </a:rPr>
              <a:t>Enforce safety </a:t>
            </a:r>
            <a:r>
              <a:rPr lang="en-US" sz="1400" err="1">
                <a:solidFill>
                  <a:prstClr val="black"/>
                </a:solidFill>
                <a:latin typeface="Source Sans 3"/>
              </a:rPr>
              <a:t>contraints</a:t>
            </a:r>
            <a:r>
              <a:rPr lang="en-US" sz="1400">
                <a:solidFill>
                  <a:prstClr val="black"/>
                </a:solidFill>
                <a:latin typeface="Source Sans 3"/>
              </a:rPr>
              <a:t> for max continues work time , min brake frequency etc.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solidFill>
                <a:prstClr val="black"/>
              </a:solidFill>
              <a:latin typeface="Source Sans 3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prstClr val="black"/>
                </a:solidFill>
                <a:latin typeface="Source Sans 3"/>
                <a:ea typeface="+mn-lt"/>
                <a:cs typeface="+mn-lt"/>
              </a:rPr>
              <a:t>Reward — Progress (typing/focus or completion) plus post-break relief (cognitive load drop), with variance-based confidence and shaping (e.g. improved-focus bonus, deep-work-interrupt penalty, EMA adjustment). Immediate + delayed reward, clipped to [−1, 1]; bandit updated with (action, context, reward).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solidFill>
                <a:prstClr val="black"/>
              </a:solidFill>
              <a:latin typeface="Source Sans 3"/>
              <a:ea typeface="Calibri"/>
              <a:cs typeface="Calibri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prstClr val="black"/>
                </a:solidFill>
                <a:latin typeface="Source Sans 3"/>
                <a:ea typeface="+mn-lt"/>
                <a:cs typeface="+mn-lt"/>
              </a:rPr>
              <a:t>Time-block scheduling &amp; metrics — User sets a time block; scheduler fills it with work/break intervals (optionally adapted from prior PG, AHL, SVR). Eight productivity metrics (PG, RPH, AHL, EOI, AUC-BUC, CTU, SPF variance, SVR) support evaluation and adaptation of the next session’s intervals.</a:t>
            </a:r>
            <a:endParaRPr lang="en-US"/>
          </a:p>
          <a:p>
            <a:pPr>
              <a:lnSpc>
                <a:spcPts val="1500"/>
              </a:lnSpc>
              <a:defRPr/>
            </a:pPr>
            <a:endParaRPr lang="en-US" sz="1400">
              <a:solidFill>
                <a:prstClr val="black"/>
              </a:solidFill>
              <a:latin typeface="Source Sans 3"/>
              <a:ea typeface="Calibri"/>
              <a:cs typeface="Calibri"/>
            </a:endParaRP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A2FA129B-08EE-DDEE-F74D-F00CE6A189AB}"/>
              </a:ext>
            </a:extLst>
          </p:cNvPr>
          <p:cNvSpPr/>
          <p:nvPr/>
        </p:nvSpPr>
        <p:spPr>
          <a:xfrm>
            <a:off x="7509918" y="5310498"/>
            <a:ext cx="6629803" cy="2508067"/>
          </a:xfrm>
          <a:prstGeom prst="roundRect">
            <a:avLst>
              <a:gd name="adj" fmla="val 1639"/>
            </a:avLst>
          </a:prstGeom>
          <a:solidFill>
            <a:srgbClr val="E2E6E9"/>
          </a:solidFill>
          <a:ln w="15240">
            <a:solidFill>
              <a:srgbClr val="494A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00801B16-1ADC-744F-E1E9-B8B4F2621C35}"/>
              </a:ext>
            </a:extLst>
          </p:cNvPr>
          <p:cNvSpPr/>
          <p:nvPr/>
        </p:nvSpPr>
        <p:spPr>
          <a:xfrm>
            <a:off x="7636242" y="5456351"/>
            <a:ext cx="2396422" cy="46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  <a:defRPr/>
            </a:pPr>
            <a:r>
              <a:rPr lang="en-US" b="1" err="1">
                <a:solidFill>
                  <a:prstClr val="black"/>
                </a:solidFill>
                <a:latin typeface="Montserrat Bold"/>
              </a:rPr>
              <a:t>Congnitive</a:t>
            </a:r>
            <a:r>
              <a:rPr lang="en-US" b="1">
                <a:solidFill>
                  <a:prstClr val="black"/>
                </a:solidFill>
                <a:latin typeface="Montserrat Bold"/>
              </a:rPr>
              <a:t> Loading </a:t>
            </a:r>
            <a:r>
              <a:rPr lang="en-US" b="1" err="1">
                <a:solidFill>
                  <a:prstClr val="black"/>
                </a:solidFill>
                <a:latin typeface="Montserrat Bold"/>
              </a:rPr>
              <a:t>Estimater</a:t>
            </a:r>
            <a:endParaRPr 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Bold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ACCB34B7-B0B3-D9F3-5A58-08889C3982A6}"/>
              </a:ext>
            </a:extLst>
          </p:cNvPr>
          <p:cNvSpPr/>
          <p:nvPr/>
        </p:nvSpPr>
        <p:spPr>
          <a:xfrm>
            <a:off x="7715754" y="5785714"/>
            <a:ext cx="6184376" cy="15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prstClr val="black"/>
                </a:solidFill>
                <a:latin typeface="Source Sans 3"/>
              </a:rPr>
              <a:t>Predicting </a:t>
            </a:r>
            <a:r>
              <a:rPr lang="en-US" sz="1400" err="1">
                <a:solidFill>
                  <a:prstClr val="black"/>
                </a:solidFill>
                <a:latin typeface="Source Sans 3"/>
              </a:rPr>
              <a:t>congnitive</a:t>
            </a:r>
            <a:r>
              <a:rPr lang="en-US" sz="1400">
                <a:solidFill>
                  <a:prstClr val="black"/>
                </a:solidFill>
                <a:latin typeface="Source Sans 3"/>
              </a:rPr>
              <a:t> load with user inputs </a:t>
            </a:r>
            <a:r>
              <a:rPr lang="en-US" sz="1400" err="1">
                <a:solidFill>
                  <a:prstClr val="black"/>
                </a:solidFill>
                <a:latin typeface="Source Sans 3"/>
              </a:rPr>
              <a:t>su</a:t>
            </a:r>
            <a:r>
              <a:rPr lang="en-US" sz="1400">
                <a:solidFill>
                  <a:prstClr val="black"/>
                </a:solidFill>
                <a:latin typeface="Source Sans 3"/>
              </a:rPr>
              <a:t>ch as mouse velocity , key strokes intervals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solidFill>
                <a:prstClr val="black"/>
              </a:solidFill>
              <a:latin typeface="Source Sans 3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prstClr val="black"/>
                </a:solidFill>
                <a:ea typeface="+mn-lt"/>
                <a:cs typeface="+mn-lt"/>
              </a:rPr>
              <a:t>Micro-EMA Active Learning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solidFill>
                <a:prstClr val="black"/>
              </a:solidFill>
              <a:ea typeface="Calibri"/>
              <a:cs typeface="Calibri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prstClr val="black"/>
                </a:solidFill>
                <a:ea typeface="+mn-lt"/>
                <a:cs typeface="+mn-lt"/>
              </a:rPr>
              <a:t>Context Classification</a:t>
            </a:r>
          </a:p>
          <a:p>
            <a:pPr>
              <a:lnSpc>
                <a:spcPts val="1500"/>
              </a:lnSpc>
              <a:defRPr/>
            </a:pPr>
            <a:endParaRPr lang="en-US" sz="1400">
              <a:solidFill>
                <a:prstClr val="black"/>
              </a:solidFill>
              <a:ea typeface="Calibri"/>
              <a:cs typeface="Calibri"/>
            </a:endParaRPr>
          </a:p>
          <a:p>
            <a:pPr>
              <a:lnSpc>
                <a:spcPts val="1500"/>
              </a:lnSpc>
              <a:defRPr/>
            </a:pPr>
            <a:r>
              <a:rPr lang="en-US" sz="1400">
                <a:solidFill>
                  <a:prstClr val="black"/>
                </a:solidFill>
                <a:ea typeface="+mn-lt"/>
                <a:cs typeface="+mn-lt"/>
              </a:rPr>
              <a:t>Context classifier and Distraction tracker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DA6DB7E5-40B7-5BCC-2BF8-04D6D5890579}"/>
              </a:ext>
            </a:extLst>
          </p:cNvPr>
          <p:cNvSpPr/>
          <p:nvPr/>
        </p:nvSpPr>
        <p:spPr>
          <a:xfrm>
            <a:off x="7711662" y="2215998"/>
            <a:ext cx="2290405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  <a:defRPr/>
            </a:pPr>
            <a:r>
              <a:rPr lang="en-US" b="1">
                <a:solidFill>
                  <a:prstClr val="black"/>
                </a:solidFill>
                <a:latin typeface="Montserrat Bold"/>
              </a:rPr>
              <a:t>Smart Scheduler</a:t>
            </a:r>
            <a:endParaRPr 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170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1194-9BB2-13DE-A7A7-672259476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AC9738-8DA8-7427-686D-8EB26CAF67B1}"/>
              </a:ext>
            </a:extLst>
          </p:cNvPr>
          <p:cNvSpPr/>
          <p:nvPr/>
        </p:nvSpPr>
        <p:spPr>
          <a:xfrm>
            <a:off x="2880003" y="427315"/>
            <a:ext cx="8870275" cy="37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50"/>
              </a:lnSpc>
            </a:pPr>
            <a:r>
              <a:rPr lang="en-US" sz="2350" b="1">
                <a:solidFill>
                  <a:srgbClr val="FFFFFF"/>
                </a:solidFill>
                <a:latin typeface="Microsoft YaHei UI"/>
                <a:ea typeface="Microsoft YaHei UI"/>
              </a:rPr>
              <a:t>High level Architecture diagram </a:t>
            </a:r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1D30BC6-375F-A787-9998-D8FD1C3A256E}"/>
              </a:ext>
            </a:extLst>
          </p:cNvPr>
          <p:cNvSpPr/>
          <p:nvPr/>
        </p:nvSpPr>
        <p:spPr>
          <a:xfrm>
            <a:off x="386397" y="7915277"/>
            <a:ext cx="13542645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>
                <a:solidFill>
                  <a:srgbClr val="E2E6E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ource Sans 3" pitchFamily="34" charset="-120"/>
              </a:rPr>
              <a:t>Our system addresses critical gaps in existing static study tools, supporting millions of students.</a:t>
            </a:r>
            <a:endParaRPr lang="en-US" sz="1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E59E40-DA9F-2E32-F973-636AB7A3FDAB}"/>
              </a:ext>
            </a:extLst>
          </p:cNvPr>
          <p:cNvSpPr/>
          <p:nvPr/>
        </p:nvSpPr>
        <p:spPr>
          <a:xfrm>
            <a:off x="12812751" y="7738946"/>
            <a:ext cx="1739590" cy="370165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46E896DC-A665-3563-AC10-5D5CA9FAA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862141"/>
            <a:ext cx="14247541" cy="70618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CD9AE9-9589-5B36-8F5E-7FC75B694DCC}"/>
              </a:ext>
            </a:extLst>
          </p:cNvPr>
          <p:cNvSpPr txBox="1"/>
          <p:nvPr/>
        </p:nvSpPr>
        <p:spPr>
          <a:xfrm>
            <a:off x="12638304" y="4114800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IT22087874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38AF0-466C-97ED-2B7B-A8CDF021152C}"/>
              </a:ext>
            </a:extLst>
          </p:cNvPr>
          <p:cNvSpPr txBox="1"/>
          <p:nvPr/>
        </p:nvSpPr>
        <p:spPr>
          <a:xfrm>
            <a:off x="3429000" y="883129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IT22148254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13B25-00E0-0021-AB1A-9460CDD57E74}"/>
              </a:ext>
            </a:extLst>
          </p:cNvPr>
          <p:cNvSpPr txBox="1"/>
          <p:nvPr/>
        </p:nvSpPr>
        <p:spPr>
          <a:xfrm>
            <a:off x="5236028" y="497477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IT22276582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EFB65-C807-486D-C3FE-8D6DD1F9CBE2}"/>
              </a:ext>
            </a:extLst>
          </p:cNvPr>
          <p:cNvSpPr txBox="1"/>
          <p:nvPr/>
        </p:nvSpPr>
        <p:spPr>
          <a:xfrm>
            <a:off x="11234057" y="97893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IT22054418</a:t>
            </a:r>
          </a:p>
        </p:txBody>
      </p:sp>
    </p:spTree>
    <p:extLst>
      <p:ext uri="{BB962C8B-B14F-4D97-AF65-F5344CB8AC3E}">
        <p14:creationId xmlns:p14="http://schemas.microsoft.com/office/powerpoint/2010/main" val="54126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55583"/>
            <a:ext cx="1099375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 pitchFamily="34" charset="-120"/>
              </a:rPr>
              <a:t>Adaptive Cognitive-Load Study Timer</a:t>
            </a:r>
            <a:endParaRPr lang="en-US" sz="44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1927027"/>
            <a:ext cx="6671548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 pitchFamily="34" charset="-120"/>
              </a:rPr>
              <a:t>Commercialization &amp; Impact</a:t>
            </a:r>
            <a:endParaRPr lang="en-US" sz="35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52305" y="27402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>
                <a:solidFill>
                  <a:srgbClr val="E2E6E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tserrat Bold" pitchFamily="34" charset="-120"/>
              </a:rPr>
              <a:t>Cost &amp; Recovery</a:t>
            </a:r>
            <a:endParaRPr lang="en-US" sz="22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8340" y="3091003"/>
            <a:ext cx="4838839" cy="152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900"/>
              </a:lnSpc>
            </a:pPr>
            <a:r>
              <a:rPr lang="en-US" sz="1900">
                <a:solidFill>
                  <a:srgbClr val="E2E6E9"/>
                </a:solidFill>
                <a:latin typeface="Microsoft YaHei UI"/>
                <a:ea typeface="Microsoft YaHei UI"/>
              </a:rPr>
              <a:t>Low development cost, subscription/licensing model</a:t>
            </a:r>
            <a:endParaRPr lang="en-US" sz="1900">
              <a:solidFill>
                <a:srgbClr val="000000"/>
              </a:solidFill>
              <a:latin typeface="Microsoft YaHei UI"/>
              <a:ea typeface="Microsoft YaHei UI"/>
            </a:endParaRPr>
          </a:p>
          <a:p>
            <a:pPr algn="r">
              <a:lnSpc>
                <a:spcPts val="2900"/>
              </a:lnSpc>
            </a:pPr>
            <a:r>
              <a:rPr lang="en-US" sz="1900">
                <a:solidFill>
                  <a:srgbClr val="E2E6E9"/>
                </a:solidFill>
                <a:latin typeface="Microsoft YaHei UI"/>
                <a:ea typeface="Microsoft YaHei UI"/>
              </a:rPr>
              <a:t>Introducing premium model , Introduce studend packages, recover within 6 months.</a:t>
            </a:r>
            <a:endParaRPr lang="en-US" sz="1900">
              <a:solidFill>
                <a:srgbClr val="000000"/>
              </a:solidFill>
              <a:latin typeface="Microsoft YaHei UI"/>
              <a:ea typeface="Microsoft YaHei UI"/>
            </a:endParaRPr>
          </a:p>
          <a:p>
            <a:pPr algn="r">
              <a:lnSpc>
                <a:spcPts val="2900"/>
              </a:lnSpc>
            </a:pPr>
            <a:endParaRPr lang="en-US" sz="1900">
              <a:solidFill>
                <a:srgbClr val="E2E6E9"/>
              </a:solidFill>
              <a:latin typeface="Microsoft YaHei UI"/>
              <a:ea typeface="Microsoft YaHei UI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858095"/>
            <a:ext cx="4515922" cy="451592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242" y="4076819"/>
            <a:ext cx="347067" cy="4338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73101" y="27402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>
                <a:solidFill>
                  <a:srgbClr val="E2E6E9"/>
                </a:solidFill>
                <a:latin typeface="Microsoft YaHei UI"/>
                <a:ea typeface="Microsoft YaHei UI"/>
              </a:rPr>
              <a:t>Customer Persona </a:t>
            </a:r>
          </a:p>
        </p:txBody>
      </p:sp>
      <p:sp>
        <p:nvSpPr>
          <p:cNvPr id="9" name="Text 5"/>
          <p:cNvSpPr/>
          <p:nvPr/>
        </p:nvSpPr>
        <p:spPr>
          <a:xfrm>
            <a:off x="9559654" y="3117897"/>
            <a:ext cx="4126265" cy="1809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1900">
                <a:solidFill>
                  <a:srgbClr val="E2E6E9"/>
                </a:solidFill>
                <a:latin typeface="Microsoft YaHei UI"/>
                <a:ea typeface="Microsoft YaHei UI"/>
                <a:cs typeface="Source Sans 3" pitchFamily="34" charset="-120"/>
              </a:rPr>
              <a:t>Students, self-learners, and professionals; integrate with LMS platforms to address their poor time management and lack of awareness in productivity pattern</a:t>
            </a:r>
            <a:endParaRPr lang="en-US" sz="19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80" y="2858095"/>
            <a:ext cx="4515922" cy="451592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733" y="4076819"/>
            <a:ext cx="347067" cy="4338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73101" y="516988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>
                <a:solidFill>
                  <a:srgbClr val="E2E6E9"/>
                </a:solidFill>
                <a:latin typeface="Microsoft YaHei UI"/>
                <a:ea typeface="Microsoft YaHei UI"/>
              </a:rPr>
              <a:t>Market Size</a:t>
            </a:r>
            <a:endParaRPr lang="en-US" sz="2200" b="1">
              <a:solidFill>
                <a:srgbClr val="E2E6E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Text 7"/>
          <p:cNvSpPr/>
          <p:nvPr/>
        </p:nvSpPr>
        <p:spPr>
          <a:xfrm>
            <a:off x="9559654" y="5534046"/>
            <a:ext cx="419350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1900">
                <a:solidFill>
                  <a:srgbClr val="E2E6E9"/>
                </a:solidFill>
                <a:latin typeface="Microsoft YaHei UI"/>
                <a:ea typeface="Microsoft YaHei UI"/>
              </a:rPr>
              <a:t>Initial target markets are students , free lancers, remote workers</a:t>
            </a:r>
            <a:endParaRPr lang="en-US" sz="1900">
              <a:solidFill>
                <a:srgbClr val="E2E6E9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180" y="2858095"/>
            <a:ext cx="4515922" cy="451592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3733" y="5721310"/>
            <a:ext cx="347067" cy="43386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029420" y="5021965"/>
            <a:ext cx="302775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750"/>
              </a:lnSpc>
            </a:pPr>
            <a:r>
              <a:rPr lang="en-US" sz="2200" b="1">
                <a:solidFill>
                  <a:srgbClr val="E2E6E9"/>
                </a:solidFill>
                <a:latin typeface="Microsoft YaHei UI"/>
                <a:ea typeface="Microsoft YaHei UI"/>
              </a:rPr>
              <a:t>What Is Unique</a:t>
            </a:r>
            <a:endParaRPr lang="en-US"/>
          </a:p>
        </p:txBody>
      </p:sp>
      <p:sp>
        <p:nvSpPr>
          <p:cNvPr id="17" name="Text 9"/>
          <p:cNvSpPr/>
          <p:nvPr/>
        </p:nvSpPr>
        <p:spPr>
          <a:xfrm>
            <a:off x="863798" y="5386128"/>
            <a:ext cx="4193381" cy="185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900"/>
              </a:lnSpc>
            </a:pPr>
            <a:r>
              <a:rPr lang="en-US" sz="1900">
                <a:solidFill>
                  <a:srgbClr val="E2E6E9"/>
                </a:solidFill>
                <a:latin typeface="Microsoft YaHei UI"/>
                <a:ea typeface="Microsoft YaHei UI"/>
                <a:cs typeface="Source Sans 3" pitchFamily="34" charset="-120"/>
              </a:rPr>
              <a:t>Adaptive recommendation for students based on past data and real time </a:t>
            </a:r>
            <a:r>
              <a:rPr lang="en-US" sz="1900" err="1">
                <a:solidFill>
                  <a:srgbClr val="E2E6E9"/>
                </a:solidFill>
                <a:latin typeface="Microsoft YaHei UI"/>
                <a:ea typeface="Microsoft YaHei UI"/>
                <a:cs typeface="Source Sans 3" pitchFamily="34" charset="-120"/>
              </a:rPr>
              <a:t>congnitive</a:t>
            </a:r>
            <a:r>
              <a:rPr lang="en-US" sz="1900">
                <a:solidFill>
                  <a:srgbClr val="E2E6E9"/>
                </a:solidFill>
                <a:latin typeface="Microsoft YaHei UI"/>
                <a:ea typeface="Microsoft YaHei UI"/>
                <a:cs typeface="Source Sans 3" pitchFamily="34" charset="-120"/>
              </a:rPr>
              <a:t> load , gives </a:t>
            </a:r>
            <a:r>
              <a:rPr lang="en-US" sz="1900" err="1">
                <a:solidFill>
                  <a:srgbClr val="E2E6E9"/>
                </a:solidFill>
                <a:latin typeface="Microsoft YaHei UI"/>
                <a:ea typeface="Microsoft YaHei UI"/>
                <a:cs typeface="Source Sans 3" pitchFamily="34" charset="-120"/>
              </a:rPr>
              <a:t>explanable</a:t>
            </a:r>
            <a:r>
              <a:rPr lang="en-US" sz="1900">
                <a:solidFill>
                  <a:srgbClr val="E2E6E9"/>
                </a:solidFill>
                <a:latin typeface="Microsoft YaHei UI"/>
                <a:ea typeface="Microsoft YaHei UI"/>
                <a:cs typeface="Source Sans 3" pitchFamily="34" charset="-120"/>
              </a:rPr>
              <a:t> </a:t>
            </a:r>
            <a:r>
              <a:rPr lang="en-US" sz="1900" err="1">
                <a:solidFill>
                  <a:srgbClr val="E2E6E9"/>
                </a:solidFill>
                <a:latin typeface="Microsoft YaHei UI"/>
                <a:ea typeface="Microsoft YaHei UI"/>
                <a:cs typeface="Source Sans 3" pitchFamily="34" charset="-120"/>
              </a:rPr>
              <a:t>insights.Use</a:t>
            </a:r>
            <a:r>
              <a:rPr lang="en-US" sz="1900">
                <a:solidFill>
                  <a:srgbClr val="E2E6E9"/>
                </a:solidFill>
                <a:latin typeface="Microsoft YaHei UI"/>
                <a:ea typeface="Microsoft YaHei UI"/>
                <a:cs typeface="Source Sans 3" pitchFamily="34" charset="-120"/>
              </a:rPr>
              <a:t> ml with visualizations</a:t>
            </a:r>
            <a:endParaRPr lang="en-US" sz="1900">
              <a:latin typeface="Microsoft YaHei UI"/>
              <a:ea typeface="Microsoft YaHei UI"/>
            </a:endParaRPr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5097" y="3113588"/>
            <a:ext cx="4206640" cy="412595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9242" y="5721310"/>
            <a:ext cx="347067" cy="43386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814E6B8-2842-B068-B2B9-D18247185126}"/>
              </a:ext>
            </a:extLst>
          </p:cNvPr>
          <p:cNvSpPr/>
          <p:nvPr/>
        </p:nvSpPr>
        <p:spPr>
          <a:xfrm>
            <a:off x="12823902" y="7716644"/>
            <a:ext cx="1728439" cy="434897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3255AFAD-43B0-C2BF-5109-1E1AFE0A55F7}"/>
              </a:ext>
            </a:extLst>
          </p:cNvPr>
          <p:cNvSpPr/>
          <p:nvPr/>
        </p:nvSpPr>
        <p:spPr>
          <a:xfrm>
            <a:off x="1598995" y="7430080"/>
            <a:ext cx="11871771" cy="57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1900">
                <a:solidFill>
                  <a:srgbClr val="E2E6E9"/>
                </a:solidFill>
                <a:ea typeface="+mn-lt"/>
                <a:cs typeface="+mn-lt"/>
              </a:rPr>
              <a:t>1M+ students use Pomodoro apps; capturing even 1% market (~10k users) at $2/month yields $20k monthly revenue.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561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7382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References</a:t>
            </a: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863798" y="1768388"/>
            <a:ext cx="4415552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IEEE Referencing Format</a:t>
            </a:r>
            <a:endParaRPr lang="en-US" sz="2650"/>
          </a:p>
        </p:txBody>
      </p:sp>
      <p:sp>
        <p:nvSpPr>
          <p:cNvPr id="4" name="Text 2"/>
          <p:cNvSpPr/>
          <p:nvPr/>
        </p:nvSpPr>
        <p:spPr>
          <a:xfrm>
            <a:off x="848728" y="2565916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[1] </a:t>
            </a:r>
            <a:r>
              <a:rPr lang="en-US" sz="190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Zerbini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G., et al. (2017). "Time to learn: How chronotype impacts education." </a:t>
            </a:r>
            <a:r>
              <a:rPr lang="en-US" sz="190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PsyCh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Journal, 6(4), 263-276. Available at: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848727" y="2936081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[2] Goldstein, D., et al. (2023). "Chronotype, Time of Day, and Performance on Intelligence Tests in the School Setting." Behavioral Sciences, 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848726" y="3627776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[3] Nguyen, T. M., et al. (2023). "A Review on Smartphone Keystroke Dynamics as a Digital Biomarker..." </a:t>
            </a:r>
            <a:r>
              <a:rPr lang="en-US" sz="1900" i="1">
                <a:solidFill>
                  <a:srgbClr val="CCCC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Brain Sciences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A2DCAE-BA8F-9DBB-D880-B7AC64AF302C}"/>
              </a:ext>
            </a:extLst>
          </p:cNvPr>
          <p:cNvSpPr txBox="1"/>
          <p:nvPr/>
        </p:nvSpPr>
        <p:spPr>
          <a:xfrm>
            <a:off x="11046142" y="7372686"/>
            <a:ext cx="3569188" cy="400110"/>
          </a:xfrm>
          <a:prstGeom prst="rect">
            <a:avLst/>
          </a:prstGeom>
          <a:solidFill>
            <a:srgbClr val="1D1F22"/>
          </a:solidFill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IT22276582 – Yasasvin W.M.Y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545E726-437E-4BA9-990A-0ECFEFD88DDA}"/>
              </a:ext>
            </a:extLst>
          </p:cNvPr>
          <p:cNvSpPr/>
          <p:nvPr/>
        </p:nvSpPr>
        <p:spPr>
          <a:xfrm>
            <a:off x="848728" y="4043888"/>
            <a:ext cx="12902803" cy="7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[4] Vollmer, C., et al. (2023). "A better alignment between chronotype and school timing I</a:t>
            </a:r>
          </a:p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 associated with lower grade retention in adolescents." </a:t>
            </a:r>
            <a:r>
              <a:rPr lang="en-US" sz="190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npj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Science of Learning, 10, 25.</a:t>
            </a:r>
          </a:p>
          <a:p>
            <a:pPr algn="l">
              <a:lnSpc>
                <a:spcPts val="2900"/>
              </a:lnSpc>
              <a:buSzPct val="100000"/>
            </a:pPr>
            <a:endParaRPr lang="en-US" sz="190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6237AA2-2DAD-4D2B-86E8-0EB21CF184CF}"/>
              </a:ext>
            </a:extLst>
          </p:cNvPr>
          <p:cNvSpPr/>
          <p:nvPr/>
        </p:nvSpPr>
        <p:spPr>
          <a:xfrm>
            <a:off x="848725" y="4784218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[5] Goldin, A. P., et al. (2017). "Lower school performance in late chronotypes: underlying factors and mechanisms." Scientific Reports, 7, 4385:</a:t>
            </a:r>
            <a:endParaRPr lang="en-US" sz="190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D166DD3-3162-44C9-89FE-ACD5220B4596}"/>
              </a:ext>
            </a:extLst>
          </p:cNvPr>
          <p:cNvSpPr/>
          <p:nvPr/>
        </p:nvSpPr>
        <p:spPr>
          <a:xfrm>
            <a:off x="848722" y="5521859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[6] Chen, Y., et al. (2023). "Adaptive Sequence Learning: Contextual Multi-armed Bandit Approach." IEEE International Conference on Data Mining.</a:t>
            </a:r>
            <a:endParaRPr lang="en-US" sz="190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2FF69C90-7EE0-4A28-BBEA-DAB38802A8F1}"/>
              </a:ext>
            </a:extLst>
          </p:cNvPr>
          <p:cNvSpPr/>
          <p:nvPr/>
        </p:nvSpPr>
        <p:spPr>
          <a:xfrm>
            <a:off x="841190" y="6259500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[7] Lan, A., et al. (2016). "A Contextual Bandits Framework for Personalized Learning Action Selection." Educational Data Mining. Available at: </a:t>
            </a:r>
            <a:endParaRPr lang="en-US" sz="190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1CCA4554-239E-432C-9723-3F90664DF95C}"/>
              </a:ext>
            </a:extLst>
          </p:cNvPr>
          <p:cNvSpPr/>
          <p:nvPr/>
        </p:nvSpPr>
        <p:spPr>
          <a:xfrm>
            <a:off x="833658" y="6995884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[8] </a:t>
            </a:r>
            <a:r>
              <a:rPr lang="en-US" sz="190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Hunziker</a:t>
            </a: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A., et al. (2020). "Reinforcement Learning for the Adaptive Scheduling of Educational Activities." Proceedings of the 2020 CHI Conference on Human Factors in Computing Systems.</a:t>
            </a:r>
            <a:endParaRPr lang="en-US" sz="1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A89919-1826-41C2-8D42-770D2E922461}"/>
              </a:ext>
            </a:extLst>
          </p:cNvPr>
          <p:cNvSpPr/>
          <p:nvPr/>
        </p:nvSpPr>
        <p:spPr>
          <a:xfrm>
            <a:off x="3158922" y="7791449"/>
            <a:ext cx="11471477" cy="43815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6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IT22276582</a:t>
            </a: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|  Yasasvin W.M.Y</a:t>
            </a:r>
            <a:r>
              <a:rPr kumimoji="0" lang="en-US" sz="216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</a:t>
            </a: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25-26J-458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9CCA6F-6D73-4D11-B468-1293949EB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2" y="7692983"/>
            <a:ext cx="307673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E5C41D71-81FD-4B29-AF0E-DB8588032149}"/>
              </a:ext>
            </a:extLst>
          </p:cNvPr>
          <p:cNvSpPr/>
          <p:nvPr/>
        </p:nvSpPr>
        <p:spPr>
          <a:xfrm>
            <a:off x="694827" y="843887"/>
            <a:ext cx="12902803" cy="507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[9] Multi-Armed Bandits for Intelligent Tutoring Systems. Journal of Educational Data Mining (2015). Available at: </a:t>
            </a:r>
            <a:endParaRPr lang="en-US" sz="190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90754580-CA5D-4859-9474-1AD770226B65}"/>
              </a:ext>
            </a:extLst>
          </p:cNvPr>
          <p:cNvSpPr/>
          <p:nvPr/>
        </p:nvSpPr>
        <p:spPr>
          <a:xfrm>
            <a:off x="694822" y="1339365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[10] Expert Features for a Student Support Recommendation Contextual Bandit Algorithm (2024). Proceedings of the 14th Learning Analytics and Knowledge Conference. </a:t>
            </a:r>
            <a:endParaRPr lang="en-US" sz="1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4C2EC3-6D7E-4885-9852-2C7FAAA46009}"/>
              </a:ext>
            </a:extLst>
          </p:cNvPr>
          <p:cNvSpPr/>
          <p:nvPr/>
        </p:nvSpPr>
        <p:spPr>
          <a:xfrm>
            <a:off x="694821" y="2167805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[11] An Overview of Contextual Bandits (2025). Towards Data Science</a:t>
            </a:r>
            <a:endParaRPr lang="en-US" sz="19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DB0AA40-845B-446B-B21A-C6CB6772A4AC}"/>
              </a:ext>
            </a:extLst>
          </p:cNvPr>
          <p:cNvSpPr/>
          <p:nvPr/>
        </p:nvSpPr>
        <p:spPr>
          <a:xfrm>
            <a:off x="694820" y="2626079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[12] Dynamic Linear Epsilon-Greedy: A Bandit You Can Trust (2023). Proceedings of the 31st ACM Conference on User Modeling, Adaptation and Personalization. </a:t>
            </a:r>
            <a:endParaRPr lang="en-US" sz="190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36AA907-F0BD-442C-9299-F01F8457B5C1}"/>
              </a:ext>
            </a:extLst>
          </p:cNvPr>
          <p:cNvSpPr/>
          <p:nvPr/>
        </p:nvSpPr>
        <p:spPr>
          <a:xfrm>
            <a:off x="694827" y="3454519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900"/>
              </a:lnSpc>
              <a:buSzPct val="100000"/>
            </a:pPr>
            <a:r>
              <a:rPr lang="en-US" sz="190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[13] Contextual Bandits as Supervised Learning (2024). True Theta</a:t>
            </a:r>
            <a:endParaRPr lang="en-US" sz="19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2392CD-4119-49E6-85CE-1CE147AE4F47}"/>
              </a:ext>
            </a:extLst>
          </p:cNvPr>
          <p:cNvSpPr/>
          <p:nvPr/>
        </p:nvSpPr>
        <p:spPr>
          <a:xfrm>
            <a:off x="3158922" y="7791449"/>
            <a:ext cx="11471477" cy="438150"/>
          </a:xfrm>
          <a:prstGeom prst="rect">
            <a:avLst/>
          </a:prstGeom>
          <a:solidFill>
            <a:srgbClr val="1D1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6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IT22276582</a:t>
            </a: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|  Yasasvin W.M.Y</a:t>
            </a:r>
            <a:r>
              <a:rPr kumimoji="0" lang="en-US" sz="216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</a:t>
            </a: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25-26J-458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AB1327-06C0-42F0-84B2-C38492FDF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2" y="7692983"/>
            <a:ext cx="307673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268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64CD6E-5DB3-424F-AB51-53F1F19303D4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d1e402-c42d-419a-bd83-d8d365e28f1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476C4981FE2047819081DBF807662E" ma:contentTypeVersion="15" ma:contentTypeDescription="Create a new document." ma:contentTypeScope="" ma:versionID="0785887ac77d067a4a3ebd0f2bf18ec7">
  <xsd:schema xmlns:xsd="http://www.w3.org/2001/XMLSchema" xmlns:xs="http://www.w3.org/2001/XMLSchema" xmlns:p="http://schemas.microsoft.com/office/2006/metadata/properties" xmlns:ns3="42d1e402-c42d-419a-bd83-d8d365e28f11" xmlns:ns4="fdf483cb-5937-4af3-915e-55fd2d7d3a90" targetNamespace="http://schemas.microsoft.com/office/2006/metadata/properties" ma:root="true" ma:fieldsID="a4425530e458d0935d7373f94e9fafa8" ns3:_="" ns4:_="">
    <xsd:import namespace="42d1e402-c42d-419a-bd83-d8d365e28f11"/>
    <xsd:import namespace="fdf483cb-5937-4af3-915e-55fd2d7d3a9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1e402-c42d-419a-bd83-d8d365e28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483cb-5937-4af3-915e-55fd2d7d3a9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3EB916-4FC2-47A1-BC60-A38262FC3255}">
  <ds:schemaRefs>
    <ds:schemaRef ds:uri="42d1e402-c42d-419a-bd83-d8d365e28f11"/>
    <ds:schemaRef ds:uri="fdf483cb-5937-4af3-915e-55fd2d7d3a9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4E7E880-0133-4D7D-A93C-38D37BC6CC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1E4DF5-066E-4811-9520-FBF0047EADBA}">
  <ds:schemaRefs>
    <ds:schemaRef ds:uri="42d1e402-c42d-419a-bd83-d8d365e28f11"/>
    <ds:schemaRef ds:uri="fdf483cb-5937-4af3-915e-55fd2d7d3a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Microsoft Office PowerPoint</Application>
  <PresentationFormat>Custom</PresentationFormat>
  <Paragraphs>96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Microsoft YaHei UI</vt:lpstr>
      <vt:lpstr>Source Sans 3</vt:lpstr>
      <vt:lpstr>Calibri</vt:lpstr>
      <vt:lpstr>Montserrat Bold</vt:lpstr>
      <vt:lpstr>Arial,Sans-Serif</vt:lpstr>
      <vt:lpstr>Arial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KALUARACHCHI V I it22054418</cp:lastModifiedBy>
  <cp:revision>12</cp:revision>
  <dcterms:created xsi:type="dcterms:W3CDTF">2025-09-08T16:38:02Z</dcterms:created>
  <dcterms:modified xsi:type="dcterms:W3CDTF">2026-04-26T04:20:22Z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0x01010018476C4981FE2047819081DBF807662E</vt:lpwstr>
  </property>
</Properties>
</file>