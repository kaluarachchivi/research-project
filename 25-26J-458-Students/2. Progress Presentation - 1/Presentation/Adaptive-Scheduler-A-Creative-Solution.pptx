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 id="2147483656" r:id="rId5"/>
    <p:sldMasterId id="2147483671" r:id="rId6"/>
  </p:sldMasterIdLst>
  <p:notesMasterIdLst>
    <p:notesMasterId r:id="rId31"/>
  </p:notesMasterIdLst>
  <p:sldIdLst>
    <p:sldId id="256" r:id="rId7"/>
    <p:sldId id="278" r:id="rId8"/>
    <p:sldId id="266" r:id="rId9"/>
    <p:sldId id="267" r:id="rId10"/>
    <p:sldId id="268" r:id="rId11"/>
    <p:sldId id="269" r:id="rId12"/>
    <p:sldId id="270" r:id="rId13"/>
    <p:sldId id="264" r:id="rId14"/>
    <p:sldId id="261" r:id="rId15"/>
    <p:sldId id="257" r:id="rId16"/>
    <p:sldId id="258" r:id="rId17"/>
    <p:sldId id="259" r:id="rId18"/>
    <p:sldId id="275" r:id="rId19"/>
    <p:sldId id="271" r:id="rId20"/>
    <p:sldId id="272" r:id="rId21"/>
    <p:sldId id="273" r:id="rId22"/>
    <p:sldId id="262" r:id="rId23"/>
    <p:sldId id="277" r:id="rId24"/>
    <p:sldId id="279" r:id="rId25"/>
    <p:sldId id="280" r:id="rId26"/>
    <p:sldId id="281" r:id="rId27"/>
    <p:sldId id="260" r:id="rId28"/>
    <p:sldId id="274" r:id="rId29"/>
    <p:sldId id="276" r:id="rId30"/>
  </p:sldIdLst>
  <p:sldSz cx="14630400" cy="8229600"/>
  <p:notesSz cx="8229600" cy="14630400"/>
  <p:embeddedFontLst>
    <p:embeddedFont>
      <p:font typeface="Cambria" panose="02040503050406030204" pitchFamily="18" charset="0"/>
      <p:regular r:id="rId32"/>
      <p:bold r:id="rId33"/>
      <p:italic r:id="rId34"/>
      <p:boldItalic r:id="rId35"/>
    </p:embeddedFont>
    <p:embeddedFont>
      <p:font typeface="Microsoft YaHei UI" panose="020B0503020204020204" pitchFamily="34" charset="-122"/>
      <p:regular r:id="rId36"/>
      <p:bold r:id="rId37"/>
    </p:embeddedFont>
    <p:embeddedFont>
      <p:font typeface="Montserrat Bold" panose="020B0604020202020204" charset="0"/>
      <p:bold r:id="rId38"/>
    </p:embeddedFont>
    <p:embeddedFont>
      <p:font typeface="Source Sans 3" panose="020B0604020202020204" charset="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552CDD5-B737-4757-9781-5C2DF6668DA4}">
          <p14:sldIdLst>
            <p14:sldId id="256"/>
            <p14:sldId id="278"/>
            <p14:sldId id="266"/>
            <p14:sldId id="267"/>
            <p14:sldId id="268"/>
            <p14:sldId id="269"/>
            <p14:sldId id="270"/>
            <p14:sldId id="264"/>
            <p14:sldId id="261"/>
            <p14:sldId id="257"/>
            <p14:sldId id="258"/>
            <p14:sldId id="259"/>
            <p14:sldId id="275"/>
            <p14:sldId id="271"/>
            <p14:sldId id="272"/>
            <p14:sldId id="273"/>
            <p14:sldId id="262"/>
            <p14:sldId id="277"/>
            <p14:sldId id="279"/>
            <p14:sldId id="280"/>
            <p14:sldId id="281"/>
            <p14:sldId id="260"/>
            <p14:sldId id="274"/>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12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61B864-4D3A-69EE-0984-5FC2DBAC6419}" v="72" dt="2025-09-09T03:07:29.577"/>
    <p1510:client id="{4F776572-0ED6-BE77-A33C-3910B7F946D0}" v="4" dt="2025-09-08T17:43:02.237"/>
    <p1510:client id="{7DADF54F-319B-7F17-C60A-6ECEFEAF8742}" v="51" dt="2025-09-09T06:31:33.778"/>
    <p1510:client id="{BB80AFDA-2187-7671-CCDD-F0C54FBEC8EC}" v="239" dt="2025-09-09T06:29:12.730"/>
    <p1510:client id="{BC11257B-69D0-D803-2DBF-992A06B676E7}" v="5" dt="2025-09-08T17:41:23.947"/>
    <p1510:client id="{D96B03B2-E305-4786-AD46-FCE741883F9A}" v="1" dt="2025-09-08T17:50:24.002"/>
    <p1510:client id="{E604AE55-DB28-F907-C867-1709178D8BFB}" v="42" dt="2025-09-09T06:10:01.1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8" d="100"/>
          <a:sy n="88" d="100"/>
        </p:scale>
        <p:origin x="76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font" Target="fonts/font8.fntdata"/><Relationship Id="rId21" Type="http://schemas.openxmlformats.org/officeDocument/2006/relationships/slide" Target="slides/slide15.xml"/><Relationship Id="rId34" Type="http://schemas.openxmlformats.org/officeDocument/2006/relationships/font" Target="fonts/font3.fntdata"/><Relationship Id="rId42"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font" Target="fonts/font5.fntdata"/><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notesMaster" Target="notesMasters/notesMaster1.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font" Target="fonts/font4.fntdata"/><Relationship Id="rId43" Type="http://schemas.openxmlformats.org/officeDocument/2006/relationships/tableStyles" Target="tableStyle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font" Target="fonts/font2.fntdata"/><Relationship Id="rId38"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2476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BD5C1-7D54-ABBB-56C0-FA4DC6388C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383F78-6521-BC5B-C772-3C22A10A76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EE67DE-9F24-C16F-EA8D-0DA3F57D3FDE}"/>
              </a:ext>
            </a:extLst>
          </p:cNvPr>
          <p:cNvSpPr>
            <a:spLocks noGrp="1"/>
          </p:cNvSpPr>
          <p:nvPr>
            <p:ph type="body" idx="1"/>
          </p:nvPr>
        </p:nvSpPr>
        <p:spPr/>
        <p:txBody>
          <a:bodyPr/>
          <a:lstStyle/>
          <a:p>
            <a:pPr marL="171450" indent="-171450">
              <a:buFont typeface="Arial,Sans-Serif"/>
              <a:buChar char="•"/>
            </a:pPr>
            <a:r>
              <a:rPr lang="en-US"/>
              <a:t>The cognitive load estimator provides a score.</a:t>
            </a:r>
            <a:endParaRPr lang="en-US">
              <a:solidFill>
                <a:srgbClr val="444444"/>
              </a:solidFill>
            </a:endParaRPr>
          </a:p>
          <a:p>
            <a:pPr marL="171450" indent="-171450">
              <a:buFont typeface="Arial,Sans-Serif"/>
              <a:buChar char="•"/>
            </a:pPr>
            <a:r>
              <a:rPr lang="en-US"/>
              <a:t>The contextual bandit takes that score plus context like typing rhythm and time of day.</a:t>
            </a:r>
            <a:endParaRPr lang="en-US">
              <a:solidFill>
                <a:srgbClr val="444444"/>
              </a:solidFill>
            </a:endParaRPr>
          </a:p>
          <a:p>
            <a:pPr marL="171450" indent="-171450">
              <a:buFont typeface="Arial,Sans-Serif"/>
              <a:buChar char="•"/>
            </a:pPr>
            <a:r>
              <a:rPr lang="en-US"/>
              <a:t>It chooses the next work interval and break length.</a:t>
            </a:r>
            <a:endParaRPr lang="en-US">
              <a:solidFill>
                <a:srgbClr val="444444"/>
              </a:solidFill>
            </a:endParaRPr>
          </a:p>
          <a:p>
            <a:pPr marL="171450" indent="-171450">
              <a:buFont typeface="Arial,Sans-Serif"/>
              <a:buChar char="•"/>
            </a:pPr>
            <a:r>
              <a:rPr lang="en-US"/>
              <a:t>The outcome is evaluated as a reward based on how much fatigue was relieved and how much progress was made.</a:t>
            </a:r>
            <a:endParaRPr lang="en-US">
              <a:solidFill>
                <a:srgbClr val="444444"/>
              </a:solidFill>
            </a:endParaRPr>
          </a:p>
          <a:p>
            <a:pPr marL="171450" indent="-171450">
              <a:buFont typeface="Arial,Sans-Serif"/>
              <a:buChar char="•"/>
            </a:pPr>
            <a:r>
              <a:rPr lang="en-US"/>
              <a:t>Over time, it learns each student’s unique rhythm.</a:t>
            </a:r>
            <a:endParaRPr lang="en-US">
              <a:solidFill>
                <a:srgbClr val="444444"/>
              </a:solidFill>
            </a:endParaRPr>
          </a:p>
          <a:p>
            <a:endParaRPr lang="en-US">
              <a:solidFill>
                <a:srgbClr val="444444"/>
              </a:solidFill>
            </a:endParaRPr>
          </a:p>
          <a:p>
            <a:endParaRPr lang="en-US"/>
          </a:p>
        </p:txBody>
      </p:sp>
      <p:sp>
        <p:nvSpPr>
          <p:cNvPr id="4" name="Slide Number Placeholder 3">
            <a:extLst>
              <a:ext uri="{FF2B5EF4-FFF2-40B4-BE49-F238E27FC236}">
                <a16:creationId xmlns:a16="http://schemas.microsoft.com/office/drawing/2014/main" id="{8C5933D4-E684-2E18-C05C-B66D0DCA6B43}"/>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966556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4101480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0764070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7653204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9793045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tudent Information Sec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55701" y="3404505"/>
            <a:ext cx="12435840" cy="1634490"/>
          </a:xfrm>
        </p:spPr>
        <p:txBody>
          <a:bodyPr anchor="t"/>
          <a:lstStyle>
            <a:lvl1pPr algn="l">
              <a:defRPr sz="4800" b="1" cap="all"/>
            </a:lvl1pPr>
          </a:lstStyle>
          <a:p>
            <a:r>
              <a:rPr lang="en-US"/>
              <a:t>Student IT Number | Student Name</a:t>
            </a:r>
          </a:p>
        </p:txBody>
      </p:sp>
      <p:sp>
        <p:nvSpPr>
          <p:cNvPr id="3" name="Text Placeholder 2"/>
          <p:cNvSpPr>
            <a:spLocks noGrp="1"/>
          </p:cNvSpPr>
          <p:nvPr>
            <p:ph type="body" idx="1" hasCustomPrompt="1"/>
          </p:nvPr>
        </p:nvSpPr>
        <p:spPr>
          <a:xfrm>
            <a:off x="1155701" y="5084714"/>
            <a:ext cx="12435840" cy="1800224"/>
          </a:xfrm>
        </p:spPr>
        <p:txBody>
          <a:bodyPr anchor="b"/>
          <a:lstStyle>
            <a:lvl1pPr marL="0" indent="0">
              <a:buNone/>
              <a:defRPr sz="2400">
                <a:solidFill>
                  <a:schemeClr val="tx1">
                    <a:tint val="7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Student’s Specialization</a:t>
            </a:r>
          </a:p>
        </p:txBody>
      </p:sp>
      <p:sp>
        <p:nvSpPr>
          <p:cNvPr id="13" name="二等辺三角形 10"/>
          <p:cNvSpPr/>
          <p:nvPr userDrawn="1"/>
        </p:nvSpPr>
        <p:spPr>
          <a:xfrm>
            <a:off x="0" y="8012288"/>
            <a:ext cx="14630400" cy="217314"/>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160"/>
          </a:p>
        </p:txBody>
      </p:sp>
      <p:sp>
        <p:nvSpPr>
          <p:cNvPr id="4" name="Rectangle 3">
            <a:extLst>
              <a:ext uri="{FF2B5EF4-FFF2-40B4-BE49-F238E27FC236}">
                <a16:creationId xmlns:a16="http://schemas.microsoft.com/office/drawing/2014/main" id="{0A8789F7-2DE1-4BD0-98A0-4D627E8C7924}"/>
              </a:ext>
            </a:extLst>
          </p:cNvPr>
          <p:cNvSpPr/>
          <p:nvPr userDrawn="1"/>
        </p:nvSpPr>
        <p:spPr>
          <a:xfrm>
            <a:off x="12161520" y="182880"/>
            <a:ext cx="2377440" cy="27432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60"/>
              <a:t>Student Must add a professional photo to this cage</a:t>
            </a:r>
          </a:p>
        </p:txBody>
      </p:sp>
    </p:spTree>
    <p:extLst>
      <p:ext uri="{BB962C8B-B14F-4D97-AF65-F5344CB8AC3E}">
        <p14:creationId xmlns:p14="http://schemas.microsoft.com/office/powerpoint/2010/main" val="769539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Project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097280" y="914401"/>
            <a:ext cx="12435840" cy="1764030"/>
          </a:xfrm>
        </p:spPr>
        <p:txBody>
          <a:bodyPr/>
          <a:lstStyle>
            <a:lvl1pPr>
              <a:defRPr/>
            </a:lvl1pPr>
          </a:lstStyle>
          <a:p>
            <a:r>
              <a:rPr lang="en-US"/>
              <a:t>Add the Project Title</a:t>
            </a:r>
          </a:p>
        </p:txBody>
      </p:sp>
      <p:sp>
        <p:nvSpPr>
          <p:cNvPr id="3" name="Subtitle 2"/>
          <p:cNvSpPr>
            <a:spLocks noGrp="1"/>
          </p:cNvSpPr>
          <p:nvPr>
            <p:ph type="subTitle" idx="1" hasCustomPrompt="1"/>
          </p:nvPr>
        </p:nvSpPr>
        <p:spPr>
          <a:xfrm>
            <a:off x="2194560" y="3017520"/>
            <a:ext cx="10241280" cy="2103120"/>
          </a:xfrm>
        </p:spPr>
        <p:txBody>
          <a:bodyPr/>
          <a:lstStyle>
            <a:lvl1pPr marL="0" indent="0" algn="ctr">
              <a:buNone/>
              <a:defRPr>
                <a:solidFill>
                  <a:schemeClr val="tx1">
                    <a:tint val="75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Project ID</a:t>
            </a:r>
          </a:p>
        </p:txBody>
      </p:sp>
      <p:pic>
        <p:nvPicPr>
          <p:cNvPr id="20" name="Picture 19" descr="A picture containing photo, table, person, monitor&#10;&#10;Description automatically generated">
            <a:extLst>
              <a:ext uri="{FF2B5EF4-FFF2-40B4-BE49-F238E27FC236}">
                <a16:creationId xmlns:a16="http://schemas.microsoft.com/office/drawing/2014/main" id="{C4A8CD1C-223D-4C87-9519-FDBD49BC597A}"/>
              </a:ext>
            </a:extLst>
          </p:cNvPr>
          <p:cNvPicPr>
            <a:picLocks noChangeAspect="1"/>
          </p:cNvPicPr>
          <p:nvPr userDrawn="1"/>
        </p:nvPicPr>
        <p:blipFill rotWithShape="1">
          <a:blip r:embed="rId2"/>
          <a:srcRect t="90286" r="71976"/>
          <a:stretch/>
        </p:blipFill>
        <p:spPr>
          <a:xfrm>
            <a:off x="0" y="7647962"/>
            <a:ext cx="3017520" cy="588370"/>
          </a:xfrm>
          <a:prstGeom prst="rect">
            <a:avLst/>
          </a:prstGeom>
        </p:spPr>
      </p:pic>
    </p:spTree>
    <p:extLst>
      <p:ext uri="{BB962C8B-B14F-4D97-AF65-F5344CB8AC3E}">
        <p14:creationId xmlns:p14="http://schemas.microsoft.com/office/powerpoint/2010/main" val="2250266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2556512"/>
            <a:ext cx="12435840" cy="1764030"/>
          </a:xfrm>
        </p:spPr>
        <p:txBody>
          <a:bodyPr/>
          <a:lstStyle/>
          <a:p>
            <a:r>
              <a:rPr lang="en-US"/>
              <a:t>Click to edit Master title style</a:t>
            </a:r>
          </a:p>
        </p:txBody>
      </p:sp>
      <p:sp>
        <p:nvSpPr>
          <p:cNvPr id="3" name="Subtitle 2"/>
          <p:cNvSpPr>
            <a:spLocks noGrp="1"/>
          </p:cNvSpPr>
          <p:nvPr>
            <p:ph type="subTitle" idx="1"/>
          </p:nvPr>
        </p:nvSpPr>
        <p:spPr>
          <a:xfrm>
            <a:off x="2194560" y="4663440"/>
            <a:ext cx="10241280" cy="2103120"/>
          </a:xfrm>
        </p:spPr>
        <p:txBody>
          <a:bodyPr/>
          <a:lstStyle>
            <a:lvl1pPr marL="0" indent="0" algn="ctr">
              <a:buNone/>
              <a:defRPr>
                <a:solidFill>
                  <a:schemeClr val="tx1">
                    <a:tint val="75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p>
        </p:txBody>
      </p:sp>
      <p:pic>
        <p:nvPicPr>
          <p:cNvPr id="20" name="Picture 19" descr="A picture containing photo, table, person, monitor&#10;&#10;Description automatically generated">
            <a:extLst>
              <a:ext uri="{FF2B5EF4-FFF2-40B4-BE49-F238E27FC236}">
                <a16:creationId xmlns:a16="http://schemas.microsoft.com/office/drawing/2014/main" id="{C4A8CD1C-223D-4C87-9519-FDBD49BC597A}"/>
              </a:ext>
            </a:extLst>
          </p:cNvPr>
          <p:cNvPicPr>
            <a:picLocks noChangeAspect="1"/>
          </p:cNvPicPr>
          <p:nvPr userDrawn="1"/>
        </p:nvPicPr>
        <p:blipFill rotWithShape="1">
          <a:blip r:embed="rId2"/>
          <a:srcRect t="90286" r="71976"/>
          <a:stretch/>
        </p:blipFill>
        <p:spPr>
          <a:xfrm>
            <a:off x="0" y="7647962"/>
            <a:ext cx="3017520" cy="588370"/>
          </a:xfrm>
          <a:prstGeom prst="rect">
            <a:avLst/>
          </a:prstGeom>
        </p:spPr>
      </p:pic>
    </p:spTree>
    <p:extLst>
      <p:ext uri="{BB962C8B-B14F-4D97-AF65-F5344CB8AC3E}">
        <p14:creationId xmlns:p14="http://schemas.microsoft.com/office/powerpoint/2010/main" val="4113141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Individual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二等辺三角形 9"/>
          <p:cNvSpPr/>
          <p:nvPr userDrawn="1"/>
        </p:nvSpPr>
        <p:spPr>
          <a:xfrm>
            <a:off x="0" y="7778650"/>
            <a:ext cx="14630400" cy="452023"/>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160"/>
          </a:p>
        </p:txBody>
      </p:sp>
      <p:sp>
        <p:nvSpPr>
          <p:cNvPr id="13" name="二等辺三角形 10"/>
          <p:cNvSpPr/>
          <p:nvPr userDrawn="1"/>
        </p:nvSpPr>
        <p:spPr>
          <a:xfrm>
            <a:off x="0" y="8012288"/>
            <a:ext cx="14630400" cy="217314"/>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160"/>
          </a:p>
        </p:txBody>
      </p:sp>
    </p:spTree>
    <p:extLst>
      <p:ext uri="{BB962C8B-B14F-4D97-AF65-F5344CB8AC3E}">
        <p14:creationId xmlns:p14="http://schemas.microsoft.com/office/powerpoint/2010/main" val="1442334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verall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82831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55701" y="3404505"/>
            <a:ext cx="12435840" cy="1634490"/>
          </a:xfrm>
        </p:spPr>
        <p:txBody>
          <a:bodyPr anchor="t"/>
          <a:lstStyle>
            <a:lvl1pPr algn="l">
              <a:defRPr sz="4800" b="1" cap="all"/>
            </a:lvl1pPr>
          </a:lstStyle>
          <a:p>
            <a:r>
              <a:rPr lang="en-US"/>
              <a:t>Section Title</a:t>
            </a:r>
          </a:p>
        </p:txBody>
      </p:sp>
      <p:sp>
        <p:nvSpPr>
          <p:cNvPr id="3" name="Text Placeholder 2"/>
          <p:cNvSpPr>
            <a:spLocks noGrp="1"/>
          </p:cNvSpPr>
          <p:nvPr>
            <p:ph type="body" idx="1" hasCustomPrompt="1"/>
          </p:nvPr>
        </p:nvSpPr>
        <p:spPr>
          <a:xfrm>
            <a:off x="1155701" y="5084714"/>
            <a:ext cx="12435840" cy="1800224"/>
          </a:xfrm>
        </p:spPr>
        <p:txBody>
          <a:bodyPr anchor="b"/>
          <a:lstStyle>
            <a:lvl1pPr marL="0" indent="0">
              <a:buNone/>
              <a:defRPr sz="2400">
                <a:solidFill>
                  <a:schemeClr val="tx1">
                    <a:tint val="7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Section Sub-Titles</a:t>
            </a:r>
          </a:p>
        </p:txBody>
      </p:sp>
      <p:sp>
        <p:nvSpPr>
          <p:cNvPr id="19" name="Rectangle 18">
            <a:extLst>
              <a:ext uri="{FF2B5EF4-FFF2-40B4-BE49-F238E27FC236}">
                <a16:creationId xmlns:a16="http://schemas.microsoft.com/office/drawing/2014/main" id="{77C29E58-4878-471A-A8CF-FA8607A4052E}"/>
              </a:ext>
            </a:extLst>
          </p:cNvPr>
          <p:cNvSpPr/>
          <p:nvPr userDrawn="1"/>
        </p:nvSpPr>
        <p:spPr>
          <a:xfrm>
            <a:off x="3158923" y="7791449"/>
            <a:ext cx="8179638" cy="4381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160" b="1">
                <a:solidFill>
                  <a:schemeClr val="tx1"/>
                </a:solidFill>
              </a:rPr>
              <a:t>ITXXXXXXXX</a:t>
            </a:r>
            <a:r>
              <a:rPr lang="en-US" sz="2160">
                <a:solidFill>
                  <a:schemeClr val="tx1"/>
                </a:solidFill>
              </a:rPr>
              <a:t>   |   &lt;</a:t>
            </a:r>
            <a:r>
              <a:rPr lang="en-US" sz="2160" b="1">
                <a:solidFill>
                  <a:schemeClr val="tx1"/>
                </a:solidFill>
              </a:rPr>
              <a:t>&lt;Student Name&gt;&gt;   </a:t>
            </a:r>
            <a:r>
              <a:rPr lang="en-US" sz="2160">
                <a:solidFill>
                  <a:schemeClr val="tx1"/>
                </a:solidFill>
              </a:rPr>
              <a:t>|   </a:t>
            </a:r>
            <a:r>
              <a:rPr lang="en-US" sz="2160" b="0">
                <a:solidFill>
                  <a:schemeClr val="tx1"/>
                </a:solidFill>
              </a:rPr>
              <a:t>&lt;&lt;Project ID&gt;&gt;</a:t>
            </a:r>
          </a:p>
        </p:txBody>
      </p:sp>
    </p:spTree>
    <p:extLst>
      <p:ext uri="{BB962C8B-B14F-4D97-AF65-F5344CB8AC3E}">
        <p14:creationId xmlns:p14="http://schemas.microsoft.com/office/powerpoint/2010/main" val="11814890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tudent Information Sec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55701" y="3404505"/>
            <a:ext cx="12435840" cy="1634490"/>
          </a:xfrm>
        </p:spPr>
        <p:txBody>
          <a:bodyPr anchor="t"/>
          <a:lstStyle>
            <a:lvl1pPr algn="l">
              <a:defRPr sz="4800" b="1" cap="all"/>
            </a:lvl1pPr>
          </a:lstStyle>
          <a:p>
            <a:r>
              <a:rPr lang="en-US"/>
              <a:t>Student IT Number | Student Name</a:t>
            </a:r>
          </a:p>
        </p:txBody>
      </p:sp>
      <p:sp>
        <p:nvSpPr>
          <p:cNvPr id="3" name="Text Placeholder 2"/>
          <p:cNvSpPr>
            <a:spLocks noGrp="1"/>
          </p:cNvSpPr>
          <p:nvPr>
            <p:ph type="body" idx="1" hasCustomPrompt="1"/>
          </p:nvPr>
        </p:nvSpPr>
        <p:spPr>
          <a:xfrm>
            <a:off x="1155701" y="5084714"/>
            <a:ext cx="12435840" cy="1800224"/>
          </a:xfrm>
        </p:spPr>
        <p:txBody>
          <a:bodyPr anchor="b"/>
          <a:lstStyle>
            <a:lvl1pPr marL="0" indent="0">
              <a:buNone/>
              <a:defRPr sz="2400">
                <a:solidFill>
                  <a:schemeClr val="tx1">
                    <a:tint val="7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Student’s Specialization</a:t>
            </a:r>
          </a:p>
        </p:txBody>
      </p:sp>
      <p:sp>
        <p:nvSpPr>
          <p:cNvPr id="13" name="二等辺三角形 10"/>
          <p:cNvSpPr/>
          <p:nvPr userDrawn="1"/>
        </p:nvSpPr>
        <p:spPr>
          <a:xfrm>
            <a:off x="0" y="8012288"/>
            <a:ext cx="14630400" cy="217314"/>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160"/>
          </a:p>
        </p:txBody>
      </p:sp>
      <p:sp>
        <p:nvSpPr>
          <p:cNvPr id="4" name="Rectangle 3">
            <a:extLst>
              <a:ext uri="{FF2B5EF4-FFF2-40B4-BE49-F238E27FC236}">
                <a16:creationId xmlns:a16="http://schemas.microsoft.com/office/drawing/2014/main" id="{0A8789F7-2DE1-4BD0-98A0-4D627E8C7924}"/>
              </a:ext>
            </a:extLst>
          </p:cNvPr>
          <p:cNvSpPr/>
          <p:nvPr userDrawn="1"/>
        </p:nvSpPr>
        <p:spPr>
          <a:xfrm>
            <a:off x="12161520" y="182880"/>
            <a:ext cx="2377440" cy="27432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60"/>
              <a:t>Student Must add a professional photo to this cage</a:t>
            </a:r>
          </a:p>
        </p:txBody>
      </p:sp>
    </p:spTree>
    <p:extLst>
      <p:ext uri="{BB962C8B-B14F-4D97-AF65-F5344CB8AC3E}">
        <p14:creationId xmlns:p14="http://schemas.microsoft.com/office/powerpoint/2010/main" val="23035116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31520" y="1920242"/>
            <a:ext cx="6461760" cy="5431156"/>
          </a:xfrm>
        </p:spPr>
        <p:txBody>
          <a:bodyPr/>
          <a:lstStyle>
            <a:lvl1pPr>
              <a:defRPr sz="3360"/>
            </a:lvl1pPr>
            <a:lvl2pPr>
              <a:defRPr sz="2880"/>
            </a:lvl2pPr>
            <a:lvl3pPr>
              <a:defRPr sz="2400"/>
            </a:lvl3pPr>
            <a:lvl4pPr>
              <a:defRPr sz="2160"/>
            </a:lvl4pPr>
            <a:lvl5pPr>
              <a:defRPr sz="2160"/>
            </a:lvl5pPr>
            <a:lvl6pPr>
              <a:defRPr sz="2160"/>
            </a:lvl6pPr>
            <a:lvl7pPr>
              <a:defRPr sz="2160"/>
            </a:lvl7pPr>
            <a:lvl8pPr>
              <a:defRPr sz="2160"/>
            </a:lvl8pPr>
            <a:lvl9pPr>
              <a:defRPr sz="21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437120" y="1920242"/>
            <a:ext cx="6461760" cy="5431156"/>
          </a:xfrm>
        </p:spPr>
        <p:txBody>
          <a:bodyPr/>
          <a:lstStyle>
            <a:lvl1pPr>
              <a:defRPr sz="3360"/>
            </a:lvl1pPr>
            <a:lvl2pPr>
              <a:defRPr sz="2880"/>
            </a:lvl2pPr>
            <a:lvl3pPr>
              <a:defRPr sz="2400"/>
            </a:lvl3pPr>
            <a:lvl4pPr>
              <a:defRPr sz="2160"/>
            </a:lvl4pPr>
            <a:lvl5pPr>
              <a:defRPr sz="2160"/>
            </a:lvl5pPr>
            <a:lvl6pPr>
              <a:defRPr sz="2160"/>
            </a:lvl6pPr>
            <a:lvl7pPr>
              <a:defRPr sz="2160"/>
            </a:lvl7pPr>
            <a:lvl8pPr>
              <a:defRPr sz="2160"/>
            </a:lvl8pPr>
            <a:lvl9pPr>
              <a:defRPr sz="21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875780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731521" y="1842136"/>
            <a:ext cx="6464300" cy="76771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731521" y="2609850"/>
            <a:ext cx="6464300" cy="4741546"/>
          </a:xfrm>
        </p:spPr>
        <p:txBody>
          <a:bodyPr/>
          <a:lstStyle>
            <a:lvl1pPr>
              <a:defRPr sz="2880"/>
            </a:lvl1pPr>
            <a:lvl2pPr>
              <a:defRPr sz="2400"/>
            </a:lvl2pPr>
            <a:lvl3pPr>
              <a:defRPr sz="2160"/>
            </a:lvl3pPr>
            <a:lvl4pPr>
              <a:defRPr sz="1920"/>
            </a:lvl4pPr>
            <a:lvl5pPr>
              <a:defRPr sz="1920"/>
            </a:lvl5pPr>
            <a:lvl6pPr>
              <a:defRPr sz="1920"/>
            </a:lvl6pPr>
            <a:lvl7pPr>
              <a:defRPr sz="1920"/>
            </a:lvl7pPr>
            <a:lvl8pPr>
              <a:defRPr sz="1920"/>
            </a:lvl8pPr>
            <a:lvl9pPr>
              <a:defRPr sz="19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432042" y="1842136"/>
            <a:ext cx="6466840" cy="76771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32042" y="2609850"/>
            <a:ext cx="6466840" cy="4741546"/>
          </a:xfrm>
        </p:spPr>
        <p:txBody>
          <a:bodyPr/>
          <a:lstStyle>
            <a:lvl1pPr>
              <a:defRPr sz="2880"/>
            </a:lvl1pPr>
            <a:lvl2pPr>
              <a:defRPr sz="2400"/>
            </a:lvl2pPr>
            <a:lvl3pPr>
              <a:defRPr sz="2160"/>
            </a:lvl3pPr>
            <a:lvl4pPr>
              <a:defRPr sz="1920"/>
            </a:lvl4pPr>
            <a:lvl5pPr>
              <a:defRPr sz="1920"/>
            </a:lvl5pPr>
            <a:lvl6pPr>
              <a:defRPr sz="1920"/>
            </a:lvl6pPr>
            <a:lvl7pPr>
              <a:defRPr sz="1920"/>
            </a:lvl7pPr>
            <a:lvl8pPr>
              <a:defRPr sz="1920"/>
            </a:lvl8pPr>
            <a:lvl9pPr>
              <a:defRPr sz="19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015837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216025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 name="二等辺三角形 9"/>
          <p:cNvSpPr/>
          <p:nvPr userDrawn="1"/>
        </p:nvSpPr>
        <p:spPr>
          <a:xfrm>
            <a:off x="0" y="7778650"/>
            <a:ext cx="14630400" cy="452023"/>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160"/>
          </a:p>
        </p:txBody>
      </p:sp>
      <p:sp>
        <p:nvSpPr>
          <p:cNvPr id="11" name="二等辺三角形 10"/>
          <p:cNvSpPr/>
          <p:nvPr userDrawn="1"/>
        </p:nvSpPr>
        <p:spPr>
          <a:xfrm>
            <a:off x="0" y="8012288"/>
            <a:ext cx="14630400" cy="217314"/>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160"/>
          </a:p>
        </p:txBody>
      </p:sp>
      <p:sp>
        <p:nvSpPr>
          <p:cNvPr id="12" name="Slide Number Placeholder 5">
            <a:extLst>
              <a:ext uri="{FF2B5EF4-FFF2-40B4-BE49-F238E27FC236}">
                <a16:creationId xmlns:a16="http://schemas.microsoft.com/office/drawing/2014/main" id="{A75490AD-C6C9-4021-8C34-1F6444AB48BF}"/>
              </a:ext>
            </a:extLst>
          </p:cNvPr>
          <p:cNvSpPr txBox="1">
            <a:spLocks/>
          </p:cNvSpPr>
          <p:nvPr userDrawn="1"/>
        </p:nvSpPr>
        <p:spPr>
          <a:xfrm>
            <a:off x="13722170" y="7791451"/>
            <a:ext cx="816790" cy="438150"/>
          </a:xfrm>
          <a:prstGeom prst="rect">
            <a:avLst/>
          </a:prstGeom>
        </p:spPr>
        <p:txBody>
          <a:bodyPr vert="horz" lIns="109728" tIns="54864" rIns="109728" bIns="54864" rtlCol="0" anchor="ctr"/>
          <a:lstStyle>
            <a:defPPr>
              <a:defRPr lang="en-US"/>
            </a:defPPr>
            <a:lvl1pPr marL="0" algn="l" defTabSz="914400" rtl="0" eaLnBrk="1" latinLnBrk="0" hangingPunct="1">
              <a:defRPr sz="14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7D6051F-EF20-4D26-A49B-A9D5F0B34CE8}" type="slidenum">
              <a:rPr lang="en-US" sz="1680" smtClean="0"/>
              <a:pPr/>
              <a:t>‹#›</a:t>
            </a:fld>
            <a:endParaRPr lang="en-US" sz="1680"/>
          </a:p>
        </p:txBody>
      </p:sp>
    </p:spTree>
    <p:extLst>
      <p:ext uri="{BB962C8B-B14F-4D97-AF65-F5344CB8AC3E}">
        <p14:creationId xmlns:p14="http://schemas.microsoft.com/office/powerpoint/2010/main" val="39486586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1521" y="327660"/>
            <a:ext cx="4813301" cy="1394460"/>
          </a:xfrm>
        </p:spPr>
        <p:txBody>
          <a:bodyPr anchor="b"/>
          <a:lstStyle>
            <a:lvl1pPr algn="l">
              <a:defRPr sz="2400" b="1"/>
            </a:lvl1pPr>
          </a:lstStyle>
          <a:p>
            <a:r>
              <a:rPr lang="en-US"/>
              <a:t>Click to edit Master title style</a:t>
            </a:r>
          </a:p>
        </p:txBody>
      </p:sp>
      <p:sp>
        <p:nvSpPr>
          <p:cNvPr id="3" name="Content Placeholder 2"/>
          <p:cNvSpPr>
            <a:spLocks noGrp="1"/>
          </p:cNvSpPr>
          <p:nvPr>
            <p:ph idx="1"/>
          </p:nvPr>
        </p:nvSpPr>
        <p:spPr>
          <a:xfrm>
            <a:off x="5720080" y="327662"/>
            <a:ext cx="8178800" cy="7023736"/>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31521" y="1722122"/>
            <a:ext cx="4813301" cy="5629276"/>
          </a:xfrm>
        </p:spPr>
        <p:txBody>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12" name="二等辺三角形 11"/>
          <p:cNvSpPr/>
          <p:nvPr userDrawn="1"/>
        </p:nvSpPr>
        <p:spPr>
          <a:xfrm>
            <a:off x="0" y="7687213"/>
            <a:ext cx="14630400" cy="543462"/>
          </a:xfrm>
          <a:prstGeom prst="triangle">
            <a:avLst>
              <a:gd name="adj" fmla="val 8544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160"/>
          </a:p>
        </p:txBody>
      </p:sp>
      <p:sp>
        <p:nvSpPr>
          <p:cNvPr id="13" name="二等辺三角形 9"/>
          <p:cNvSpPr/>
          <p:nvPr userDrawn="1"/>
        </p:nvSpPr>
        <p:spPr>
          <a:xfrm>
            <a:off x="0" y="7778650"/>
            <a:ext cx="14630400" cy="452023"/>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160"/>
          </a:p>
        </p:txBody>
      </p:sp>
      <p:sp>
        <p:nvSpPr>
          <p:cNvPr id="14" name="二等辺三角形 10"/>
          <p:cNvSpPr/>
          <p:nvPr userDrawn="1"/>
        </p:nvSpPr>
        <p:spPr>
          <a:xfrm>
            <a:off x="0" y="8012288"/>
            <a:ext cx="14630400" cy="217314"/>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160"/>
          </a:p>
        </p:txBody>
      </p:sp>
    </p:spTree>
    <p:extLst>
      <p:ext uri="{BB962C8B-B14F-4D97-AF65-F5344CB8AC3E}">
        <p14:creationId xmlns:p14="http://schemas.microsoft.com/office/powerpoint/2010/main" val="18878120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67660" y="5760720"/>
            <a:ext cx="8778240" cy="680086"/>
          </a:xfrm>
        </p:spPr>
        <p:txBody>
          <a:bodyPr anchor="b"/>
          <a:lstStyle>
            <a:lvl1pPr algn="l">
              <a:defRPr sz="2400" b="1"/>
            </a:lvl1pPr>
          </a:lstStyle>
          <a:p>
            <a:r>
              <a:rPr lang="en-US"/>
              <a:t>Click to edit Master title style</a:t>
            </a:r>
          </a:p>
        </p:txBody>
      </p:sp>
      <p:sp>
        <p:nvSpPr>
          <p:cNvPr id="3" name="Picture Placeholder 2"/>
          <p:cNvSpPr>
            <a:spLocks noGrp="1"/>
          </p:cNvSpPr>
          <p:nvPr>
            <p:ph type="pic" idx="1"/>
          </p:nvPr>
        </p:nvSpPr>
        <p:spPr>
          <a:xfrm>
            <a:off x="2867660" y="735330"/>
            <a:ext cx="8778240" cy="493776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p>
        </p:txBody>
      </p:sp>
      <p:sp>
        <p:nvSpPr>
          <p:cNvPr id="4" name="Text Placeholder 3"/>
          <p:cNvSpPr>
            <a:spLocks noGrp="1"/>
          </p:cNvSpPr>
          <p:nvPr>
            <p:ph type="body" sz="half" idx="2"/>
          </p:nvPr>
        </p:nvSpPr>
        <p:spPr>
          <a:xfrm>
            <a:off x="2867660" y="6440806"/>
            <a:ext cx="8778240" cy="965834"/>
          </a:xfrm>
        </p:spPr>
        <p:txBody>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14" name="二等辺三角形 10"/>
          <p:cNvSpPr/>
          <p:nvPr userDrawn="1"/>
        </p:nvSpPr>
        <p:spPr>
          <a:xfrm>
            <a:off x="0" y="8012288"/>
            <a:ext cx="14630400" cy="217314"/>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160"/>
          </a:p>
        </p:txBody>
      </p:sp>
    </p:spTree>
    <p:extLst>
      <p:ext uri="{BB962C8B-B14F-4D97-AF65-F5344CB8AC3E}">
        <p14:creationId xmlns:p14="http://schemas.microsoft.com/office/powerpoint/2010/main" val="19934355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二等辺三角形 10"/>
          <p:cNvSpPr/>
          <p:nvPr userDrawn="1"/>
        </p:nvSpPr>
        <p:spPr>
          <a:xfrm>
            <a:off x="0" y="8012288"/>
            <a:ext cx="14630400" cy="217314"/>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160"/>
          </a:p>
        </p:txBody>
      </p:sp>
    </p:spTree>
    <p:extLst>
      <p:ext uri="{BB962C8B-B14F-4D97-AF65-F5344CB8AC3E}">
        <p14:creationId xmlns:p14="http://schemas.microsoft.com/office/powerpoint/2010/main" val="41927373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607040" y="329567"/>
            <a:ext cx="3291840" cy="702183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31520" y="329567"/>
            <a:ext cx="9631680" cy="702183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二等辺三角形 9"/>
          <p:cNvSpPr/>
          <p:nvPr userDrawn="1"/>
        </p:nvSpPr>
        <p:spPr>
          <a:xfrm>
            <a:off x="0" y="7778650"/>
            <a:ext cx="14630400" cy="452023"/>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160"/>
          </a:p>
        </p:txBody>
      </p:sp>
      <p:sp>
        <p:nvSpPr>
          <p:cNvPr id="13" name="二等辺三角形 10"/>
          <p:cNvSpPr/>
          <p:nvPr userDrawn="1"/>
        </p:nvSpPr>
        <p:spPr>
          <a:xfrm>
            <a:off x="0" y="8012288"/>
            <a:ext cx="14630400" cy="217314"/>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160"/>
          </a:p>
        </p:txBody>
      </p:sp>
    </p:spTree>
    <p:extLst>
      <p:ext uri="{BB962C8B-B14F-4D97-AF65-F5344CB8AC3E}">
        <p14:creationId xmlns:p14="http://schemas.microsoft.com/office/powerpoint/2010/main" val="11415542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D1F2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15377360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26497594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F2F2F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2954801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82810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E2E6E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10319063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34614242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E2E6E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24156982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D1F2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27222518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theme" Target="../theme/theme2.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image" Target="../media/image2.png"/><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theme" Target="../theme/theme3.xml"/><Relationship Id="rId5" Type="http://schemas.openxmlformats.org/officeDocument/2006/relationships/slideLayout" Target="../slideLayouts/slideLayout29.xml"/><Relationship Id="rId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5760" y="365760"/>
            <a:ext cx="14020800" cy="95059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65760" y="1371600"/>
            <a:ext cx="14020800" cy="6217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a:extLst>
              <a:ext uri="{FF2B5EF4-FFF2-40B4-BE49-F238E27FC236}">
                <a16:creationId xmlns:a16="http://schemas.microsoft.com/office/drawing/2014/main" id="{C064364F-1F37-4C7B-B31F-2D4F671B2CB9}"/>
              </a:ext>
            </a:extLst>
          </p:cNvPr>
          <p:cNvSpPr txBox="1">
            <a:spLocks/>
          </p:cNvSpPr>
          <p:nvPr userDrawn="1"/>
        </p:nvSpPr>
        <p:spPr>
          <a:xfrm>
            <a:off x="13722170" y="7791451"/>
            <a:ext cx="816790" cy="438150"/>
          </a:xfrm>
          <a:prstGeom prst="rect">
            <a:avLst/>
          </a:prstGeom>
        </p:spPr>
        <p:txBody>
          <a:bodyPr vert="horz" lIns="109728" tIns="54864" rIns="109728" bIns="54864" rtlCol="0" anchor="ctr"/>
          <a:lstStyle>
            <a:defPPr>
              <a:defRPr lang="en-US"/>
            </a:defPPr>
            <a:lvl1pPr marL="0" algn="l" defTabSz="914400" rtl="0" eaLnBrk="1" latinLnBrk="0" hangingPunct="1">
              <a:defRPr sz="14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7D6051F-EF20-4D26-A49B-A9D5F0B34CE8}" type="slidenum">
              <a:rPr lang="en-US" sz="1680" smtClean="0"/>
              <a:pPr/>
              <a:t>‹#›</a:t>
            </a:fld>
            <a:endParaRPr lang="en-US" sz="1680"/>
          </a:p>
        </p:txBody>
      </p:sp>
      <p:pic>
        <p:nvPicPr>
          <p:cNvPr id="7" name="Picture 6" descr="A picture containing photo, table, person, monitor&#10;&#10;Description automatically generated">
            <a:extLst>
              <a:ext uri="{FF2B5EF4-FFF2-40B4-BE49-F238E27FC236}">
                <a16:creationId xmlns:a16="http://schemas.microsoft.com/office/drawing/2014/main" id="{0503738D-67F6-4FC8-88E8-C0D768AD3312}"/>
              </a:ext>
            </a:extLst>
          </p:cNvPr>
          <p:cNvPicPr>
            <a:picLocks noChangeAspect="1"/>
          </p:cNvPicPr>
          <p:nvPr userDrawn="1"/>
        </p:nvPicPr>
        <p:blipFill rotWithShape="1">
          <a:blip r:embed="rId19"/>
          <a:srcRect t="90286" r="71976"/>
          <a:stretch/>
        </p:blipFill>
        <p:spPr>
          <a:xfrm>
            <a:off x="0" y="7647962"/>
            <a:ext cx="3017520" cy="588370"/>
          </a:xfrm>
          <a:prstGeom prst="rect">
            <a:avLst/>
          </a:prstGeom>
        </p:spPr>
      </p:pic>
      <p:sp>
        <p:nvSpPr>
          <p:cNvPr id="4" name="TextBox 3">
            <a:extLst>
              <a:ext uri="{FF2B5EF4-FFF2-40B4-BE49-F238E27FC236}">
                <a16:creationId xmlns:a16="http://schemas.microsoft.com/office/drawing/2014/main" id="{A16EC11E-4ADA-413C-92B1-C0871F068AF1}"/>
              </a:ext>
            </a:extLst>
          </p:cNvPr>
          <p:cNvSpPr txBox="1"/>
          <p:nvPr userDrawn="1"/>
        </p:nvSpPr>
        <p:spPr>
          <a:xfrm>
            <a:off x="12344400" y="7844325"/>
            <a:ext cx="1280160" cy="313932"/>
          </a:xfrm>
          <a:prstGeom prst="rect">
            <a:avLst/>
          </a:prstGeom>
          <a:noFill/>
        </p:spPr>
        <p:txBody>
          <a:bodyPr wrap="square" rtlCol="0">
            <a:spAutoFit/>
          </a:bodyPr>
          <a:lstStyle/>
          <a:p>
            <a:fld id="{98C4007C-554A-4B16-A31C-089CB53EF86F}" type="datetime1">
              <a:rPr lang="en-US" sz="1440" b="1" smtClean="0"/>
              <a:t>4/26/2026</a:t>
            </a:fld>
            <a:endParaRPr lang="en-US" sz="1440" b="1"/>
          </a:p>
        </p:txBody>
      </p:sp>
    </p:spTree>
    <p:extLst>
      <p:ext uri="{BB962C8B-B14F-4D97-AF65-F5344CB8AC3E}">
        <p14:creationId xmlns:p14="http://schemas.microsoft.com/office/powerpoint/2010/main" val="3349534002"/>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7" r:id="rId15"/>
    <p:sldLayoutId id="2147483678" r:id="rId16"/>
    <p:sldLayoutId id="2147483679" r:id="rId17"/>
  </p:sldLayoutIdLst>
  <p:hf hdr="0" ftr="0"/>
  <p:txStyles>
    <p:titleStyle>
      <a:lvl1pPr algn="ctr" defTabSz="1097280" rtl="0" eaLnBrk="1" latinLnBrk="0" hangingPunct="1">
        <a:spcBef>
          <a:spcPct val="0"/>
        </a:spcBef>
        <a:buNone/>
        <a:defRPr sz="5280" kern="1200">
          <a:solidFill>
            <a:schemeClr val="tx1"/>
          </a:solidFill>
          <a:latin typeface="Adobe Devanagari" pitchFamily="18" charset="0"/>
          <a:ea typeface="+mj-ea"/>
          <a:cs typeface="Adobe Devanagari" pitchFamily="18" charset="0"/>
        </a:defRPr>
      </a:lvl1pPr>
    </p:titleStyle>
    <p:bodyStyle>
      <a:lvl1pPr marL="411480" indent="-411480" algn="l" defTabSz="1097280" rtl="0" eaLnBrk="1" latinLnBrk="0" hangingPunct="1">
        <a:spcBef>
          <a:spcPct val="20000"/>
        </a:spcBef>
        <a:buFont typeface="Arial" pitchFamily="34" charset="0"/>
        <a:buChar char="•"/>
        <a:defRPr sz="3840" kern="1200">
          <a:solidFill>
            <a:schemeClr val="tx1"/>
          </a:solidFill>
          <a:latin typeface="+mn-lt"/>
          <a:ea typeface="+mn-ea"/>
          <a:cs typeface="+mn-cs"/>
        </a:defRPr>
      </a:lvl1pPr>
      <a:lvl2pPr marL="891540" indent="-342900" algn="l" defTabSz="1097280" rtl="0" eaLnBrk="1" latinLnBrk="0" hangingPunct="1">
        <a:spcBef>
          <a:spcPct val="20000"/>
        </a:spcBef>
        <a:buFont typeface="Wingdings" pitchFamily="2" charset="2"/>
        <a:buChar char="Ø"/>
        <a:defRPr sz="3360" kern="1200">
          <a:solidFill>
            <a:schemeClr val="tx1"/>
          </a:solidFill>
          <a:latin typeface="+mn-lt"/>
          <a:ea typeface="+mn-ea"/>
          <a:cs typeface="+mn-cs"/>
        </a:defRPr>
      </a:lvl2pPr>
      <a:lvl3pPr marL="1371600" indent="-274320" algn="l" defTabSz="1097280" rtl="0" eaLnBrk="1" latinLnBrk="0" hangingPunct="1">
        <a:spcBef>
          <a:spcPct val="20000"/>
        </a:spcBef>
        <a:buFont typeface="Arial" pitchFamily="34" charset="0"/>
        <a:buChar char="•"/>
        <a:defRPr sz="2880" kern="1200">
          <a:solidFill>
            <a:schemeClr val="tx1"/>
          </a:solidFill>
          <a:latin typeface="+mn-lt"/>
          <a:ea typeface="+mn-ea"/>
          <a:cs typeface="+mn-cs"/>
        </a:defRPr>
      </a:lvl3pPr>
      <a:lvl4pPr marL="1920240" indent="-274320" algn="l" defTabSz="1097280" rtl="0" eaLnBrk="1" latinLnBrk="0" hangingPunct="1">
        <a:spcBef>
          <a:spcPct val="20000"/>
        </a:spcBef>
        <a:buFont typeface="Wingdings" pitchFamily="2" charset="2"/>
        <a:buChar char="§"/>
        <a:defRPr sz="2400" kern="1200">
          <a:solidFill>
            <a:schemeClr val="tx1"/>
          </a:solidFill>
          <a:latin typeface="+mn-lt"/>
          <a:ea typeface="+mn-ea"/>
          <a:cs typeface="+mn-cs"/>
        </a:defRPr>
      </a:lvl4pPr>
      <a:lvl5pPr marL="246888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5pPr>
      <a:lvl6pPr marL="301752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616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480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344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5409581"/>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6.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7.xml"/><Relationship Id="rId5" Type="http://schemas.openxmlformats.org/officeDocument/2006/relationships/image" Target="../media/image8.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9.xml"/><Relationship Id="rId6" Type="http://schemas.openxmlformats.org/officeDocument/2006/relationships/image" Target="../media/image15.png"/><Relationship Id="rId11" Type="http://schemas.openxmlformats.org/officeDocument/2006/relationships/image" Target="../media/image8.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38.jpeg"/><Relationship Id="rId5" Type="http://schemas.openxmlformats.org/officeDocument/2006/relationships/image" Target="../media/image37.png"/><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5.xml"/><Relationship Id="rId1" Type="http://schemas.openxmlformats.org/officeDocument/2006/relationships/slideLayout" Target="../slideLayouts/slideLayout23.xml"/><Relationship Id="rId5" Type="http://schemas.openxmlformats.org/officeDocument/2006/relationships/image" Target="../media/image49.png"/><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53.png"/><Relationship Id="rId5" Type="http://schemas.openxmlformats.org/officeDocument/2006/relationships/image" Target="../media/image5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880003" y="427315"/>
            <a:ext cx="8870275" cy="375285"/>
          </a:xfrm>
          <a:prstGeom prst="rect">
            <a:avLst/>
          </a:prstGeom>
          <a:noFill/>
          <a:ln/>
        </p:spPr>
        <p:txBody>
          <a:bodyPr wrap="none" lIns="0" tIns="0" rIns="0" bIns="0" rtlCol="0" anchor="t"/>
          <a:lstStyle/>
          <a:p>
            <a:pPr marL="0" indent="0" algn="ctr">
              <a:lnSpc>
                <a:spcPts val="2950"/>
              </a:lnSpc>
              <a:buNone/>
            </a:pPr>
            <a:r>
              <a:rPr lang="en-US" sz="2350" b="1">
                <a:solidFill>
                  <a:srgbClr val="FFFFFF"/>
                </a:solidFill>
                <a:latin typeface="Microsoft YaHei UI" panose="020B0503020204020204" pitchFamily="34" charset="-122"/>
                <a:ea typeface="Microsoft YaHei UI" panose="020B0503020204020204" pitchFamily="34" charset="-122"/>
                <a:cs typeface="Montserrat Bold" pitchFamily="34" charset="-120"/>
              </a:rPr>
              <a:t>Adaptive Cognitive-Load Study Timer for Personalized Break Scheduling </a:t>
            </a:r>
            <a:endParaRPr lang="en-US" sz="2350">
              <a:latin typeface="Microsoft YaHei UI" panose="020B0503020204020204" pitchFamily="34" charset="-122"/>
              <a:ea typeface="Microsoft YaHei UI" panose="020B0503020204020204" pitchFamily="34" charset="-122"/>
            </a:endParaRPr>
          </a:p>
        </p:txBody>
      </p:sp>
      <p:sp>
        <p:nvSpPr>
          <p:cNvPr id="3" name="Text 1"/>
          <p:cNvSpPr/>
          <p:nvPr/>
        </p:nvSpPr>
        <p:spPr>
          <a:xfrm>
            <a:off x="543878" y="1066800"/>
            <a:ext cx="13542645" cy="198239"/>
          </a:xfrm>
          <a:prstGeom prst="rect">
            <a:avLst/>
          </a:prstGeom>
          <a:noFill/>
          <a:ln/>
        </p:spPr>
        <p:txBody>
          <a:bodyPr wrap="none" lIns="0" tIns="0" rIns="0" bIns="0" rtlCol="0" anchor="t"/>
          <a:lstStyle/>
          <a:p>
            <a:pPr marL="0" indent="0" algn="ctr">
              <a:lnSpc>
                <a:spcPts val="1550"/>
              </a:lnSpc>
              <a:buNone/>
            </a:pPr>
            <a:r>
              <a:rPr lang="en-US" sz="1000">
                <a:solidFill>
                  <a:srgbClr val="E2E6E9"/>
                </a:solidFill>
                <a:latin typeface="Microsoft YaHei UI" panose="020B0503020204020204" pitchFamily="34" charset="-122"/>
                <a:ea typeface="Microsoft YaHei UI" panose="020B0503020204020204" pitchFamily="34" charset="-122"/>
                <a:cs typeface="Source Sans 3" pitchFamily="34" charset="-120"/>
              </a:rPr>
              <a:t>Revolutionizing student productivity with a privacy-first, adaptive learning tool.</a:t>
            </a:r>
            <a:endParaRPr lang="en-US" sz="1000">
              <a:latin typeface="Microsoft YaHei UI" panose="020B0503020204020204" pitchFamily="34" charset="-122"/>
              <a:ea typeface="Microsoft YaHei UI" panose="020B0503020204020204" pitchFamily="34" charset="-122"/>
            </a:endParaRPr>
          </a:p>
        </p:txBody>
      </p:sp>
      <p:sp>
        <p:nvSpPr>
          <p:cNvPr id="4" name="Shape 2"/>
          <p:cNvSpPr/>
          <p:nvPr/>
        </p:nvSpPr>
        <p:spPr>
          <a:xfrm>
            <a:off x="543878" y="1413629"/>
            <a:ext cx="6705243" cy="957858"/>
          </a:xfrm>
          <a:prstGeom prst="roundRect">
            <a:avLst>
              <a:gd name="adj" fmla="val 2069"/>
            </a:avLst>
          </a:prstGeom>
          <a:solidFill>
            <a:srgbClr val="1D1F22"/>
          </a:solidFill>
          <a:ln w="15240">
            <a:solidFill>
              <a:srgbClr val="494A4B"/>
            </a:solidFill>
            <a:prstDash val="solid"/>
          </a:ln>
        </p:spPr>
        <p:txBody>
          <a:bodyPr/>
          <a:lstStyle/>
          <a:p>
            <a:endParaRPr lang="en-US">
              <a:latin typeface="Microsoft YaHei UI" panose="020B0503020204020204" pitchFamily="34" charset="-122"/>
              <a:ea typeface="Microsoft YaHei UI" panose="020B0503020204020204" pitchFamily="34" charset="-122"/>
            </a:endParaRPr>
          </a:p>
        </p:txBody>
      </p:sp>
      <p:sp>
        <p:nvSpPr>
          <p:cNvPr id="5" name="Shape 3"/>
          <p:cNvSpPr/>
          <p:nvPr/>
        </p:nvSpPr>
        <p:spPr>
          <a:xfrm>
            <a:off x="543878" y="1413629"/>
            <a:ext cx="60960" cy="957858"/>
          </a:xfrm>
          <a:prstGeom prst="roundRect">
            <a:avLst>
              <a:gd name="adj" fmla="val 32505"/>
            </a:avLst>
          </a:prstGeom>
          <a:solidFill>
            <a:srgbClr val="FFFFFF"/>
          </a:solidFill>
          <a:ln/>
        </p:spPr>
        <p:txBody>
          <a:bodyPr/>
          <a:lstStyle/>
          <a:p>
            <a:endParaRPr lang="en-US">
              <a:latin typeface="Microsoft YaHei UI" panose="020B0503020204020204" pitchFamily="34" charset="-122"/>
              <a:ea typeface="Microsoft YaHei UI" panose="020B0503020204020204" pitchFamily="34" charset="-122"/>
            </a:endParaRPr>
          </a:p>
        </p:txBody>
      </p:sp>
      <p:sp>
        <p:nvSpPr>
          <p:cNvPr id="6" name="Text 4"/>
          <p:cNvSpPr/>
          <p:nvPr/>
        </p:nvSpPr>
        <p:spPr>
          <a:xfrm>
            <a:off x="752118" y="1560909"/>
            <a:ext cx="1501140" cy="187643"/>
          </a:xfrm>
          <a:prstGeom prst="rect">
            <a:avLst/>
          </a:prstGeom>
          <a:noFill/>
          <a:ln/>
        </p:spPr>
        <p:txBody>
          <a:bodyPr wrap="none" lIns="0" tIns="0" rIns="0" bIns="0" rtlCol="0" anchor="t"/>
          <a:lstStyle/>
          <a:p>
            <a:pPr marL="0" indent="0" algn="l">
              <a:lnSpc>
                <a:spcPts val="1450"/>
              </a:lnSpc>
              <a:buNone/>
            </a:pPr>
            <a:r>
              <a:rPr lang="en-US" sz="1150" b="1">
                <a:solidFill>
                  <a:srgbClr val="E2E6E9"/>
                </a:solidFill>
                <a:latin typeface="Microsoft YaHei UI" panose="020B0503020204020204" pitchFamily="34" charset="-122"/>
                <a:ea typeface="Microsoft YaHei UI" panose="020B0503020204020204" pitchFamily="34" charset="-122"/>
                <a:cs typeface="Montserrat Bold" pitchFamily="34" charset="-120"/>
              </a:rPr>
              <a:t>The Problem</a:t>
            </a:r>
            <a:endParaRPr lang="en-US" sz="1150">
              <a:latin typeface="Microsoft YaHei UI" panose="020B0503020204020204" pitchFamily="34" charset="-122"/>
              <a:ea typeface="Microsoft YaHei UI" panose="020B0503020204020204" pitchFamily="34" charset="-122"/>
            </a:endParaRPr>
          </a:p>
        </p:txBody>
      </p:sp>
      <p:sp>
        <p:nvSpPr>
          <p:cNvPr id="7" name="Text 5"/>
          <p:cNvSpPr/>
          <p:nvPr/>
        </p:nvSpPr>
        <p:spPr>
          <a:xfrm>
            <a:off x="752118" y="1827728"/>
            <a:ext cx="6349722" cy="396478"/>
          </a:xfrm>
          <a:prstGeom prst="rect">
            <a:avLst/>
          </a:prstGeom>
          <a:noFill/>
          <a:ln/>
        </p:spPr>
        <p:txBody>
          <a:bodyPr wrap="square" lIns="0" tIns="0" rIns="0" bIns="0" rtlCol="0" anchor="t"/>
          <a:lstStyle/>
          <a:p>
            <a:pPr marL="0" indent="0" algn="l">
              <a:lnSpc>
                <a:spcPts val="1550"/>
              </a:lnSpc>
              <a:buNone/>
            </a:pPr>
            <a:r>
              <a:rPr lang="en-US" sz="1200">
                <a:solidFill>
                  <a:srgbClr val="E2E6E9"/>
                </a:solidFill>
                <a:latin typeface="Microsoft YaHei UI" panose="020B0503020204020204" pitchFamily="34" charset="-122"/>
                <a:ea typeface="Microsoft YaHei UI" panose="020B0503020204020204" pitchFamily="34" charset="-122"/>
                <a:cs typeface="Source Sans 3" pitchFamily="34" charset="-120"/>
              </a:rPr>
              <a:t>Students rely on fixed timers, ignoring natural cognitive load fluctuations. This leads to premature interruptions or prolonged exhaustion, reducing study efficiency.</a:t>
            </a:r>
            <a:endParaRPr lang="en-US" sz="1200">
              <a:latin typeface="Microsoft YaHei UI" panose="020B0503020204020204" pitchFamily="34" charset="-122"/>
              <a:ea typeface="Microsoft YaHei UI" panose="020B0503020204020204" pitchFamily="34" charset="-122"/>
            </a:endParaRPr>
          </a:p>
        </p:txBody>
      </p:sp>
      <p:sp>
        <p:nvSpPr>
          <p:cNvPr id="8" name="Shape 6"/>
          <p:cNvSpPr/>
          <p:nvPr/>
        </p:nvSpPr>
        <p:spPr>
          <a:xfrm>
            <a:off x="7381161" y="1413629"/>
            <a:ext cx="6705362" cy="957858"/>
          </a:xfrm>
          <a:prstGeom prst="roundRect">
            <a:avLst>
              <a:gd name="adj" fmla="val 2069"/>
            </a:avLst>
          </a:prstGeom>
          <a:solidFill>
            <a:srgbClr val="1D1F22"/>
          </a:solidFill>
          <a:ln w="15240">
            <a:solidFill>
              <a:srgbClr val="494A4B"/>
            </a:solidFill>
            <a:prstDash val="solid"/>
          </a:ln>
        </p:spPr>
        <p:txBody>
          <a:bodyPr/>
          <a:lstStyle/>
          <a:p>
            <a:endParaRPr lang="en-US">
              <a:latin typeface="Microsoft YaHei UI" panose="020B0503020204020204" pitchFamily="34" charset="-122"/>
              <a:ea typeface="Microsoft YaHei UI" panose="020B0503020204020204" pitchFamily="34" charset="-122"/>
            </a:endParaRPr>
          </a:p>
        </p:txBody>
      </p:sp>
      <p:sp>
        <p:nvSpPr>
          <p:cNvPr id="9" name="Shape 7"/>
          <p:cNvSpPr/>
          <p:nvPr/>
        </p:nvSpPr>
        <p:spPr>
          <a:xfrm>
            <a:off x="7381161" y="1413629"/>
            <a:ext cx="60960" cy="957858"/>
          </a:xfrm>
          <a:prstGeom prst="roundRect">
            <a:avLst>
              <a:gd name="adj" fmla="val 32505"/>
            </a:avLst>
          </a:prstGeom>
          <a:solidFill>
            <a:srgbClr val="FFFFFF"/>
          </a:solidFill>
          <a:ln/>
        </p:spPr>
        <p:txBody>
          <a:bodyPr/>
          <a:lstStyle/>
          <a:p>
            <a:endParaRPr lang="en-US">
              <a:latin typeface="Microsoft YaHei UI" panose="020B0503020204020204" pitchFamily="34" charset="-122"/>
              <a:ea typeface="Microsoft YaHei UI" panose="020B0503020204020204" pitchFamily="34" charset="-122"/>
            </a:endParaRPr>
          </a:p>
        </p:txBody>
      </p:sp>
      <p:sp>
        <p:nvSpPr>
          <p:cNvPr id="10" name="Text 8"/>
          <p:cNvSpPr/>
          <p:nvPr/>
        </p:nvSpPr>
        <p:spPr>
          <a:xfrm>
            <a:off x="7589401" y="1560909"/>
            <a:ext cx="1501140" cy="187643"/>
          </a:xfrm>
          <a:prstGeom prst="rect">
            <a:avLst/>
          </a:prstGeom>
          <a:noFill/>
          <a:ln/>
        </p:spPr>
        <p:txBody>
          <a:bodyPr wrap="none" lIns="0" tIns="0" rIns="0" bIns="0" rtlCol="0" anchor="t"/>
          <a:lstStyle/>
          <a:p>
            <a:pPr marL="0" indent="0" algn="l">
              <a:lnSpc>
                <a:spcPts val="1450"/>
              </a:lnSpc>
              <a:buNone/>
            </a:pPr>
            <a:r>
              <a:rPr lang="en-US" sz="1150" b="1">
                <a:solidFill>
                  <a:srgbClr val="E2E6E9"/>
                </a:solidFill>
                <a:latin typeface="Microsoft YaHei UI" panose="020B0503020204020204" pitchFamily="34" charset="-122"/>
                <a:ea typeface="Microsoft YaHei UI" panose="020B0503020204020204" pitchFamily="34" charset="-122"/>
                <a:cs typeface="Montserrat Bold" pitchFamily="34" charset="-120"/>
              </a:rPr>
              <a:t>Our Approach</a:t>
            </a:r>
            <a:endParaRPr lang="en-US" sz="1150">
              <a:latin typeface="Microsoft YaHei UI" panose="020B0503020204020204" pitchFamily="34" charset="-122"/>
              <a:ea typeface="Microsoft YaHei UI" panose="020B0503020204020204" pitchFamily="34" charset="-122"/>
            </a:endParaRPr>
          </a:p>
        </p:txBody>
      </p:sp>
      <p:sp>
        <p:nvSpPr>
          <p:cNvPr id="11" name="Text 9"/>
          <p:cNvSpPr/>
          <p:nvPr/>
        </p:nvSpPr>
        <p:spPr>
          <a:xfrm>
            <a:off x="7589401" y="1827727"/>
            <a:ext cx="6349841" cy="504753"/>
          </a:xfrm>
          <a:prstGeom prst="rect">
            <a:avLst/>
          </a:prstGeom>
          <a:noFill/>
          <a:ln/>
        </p:spPr>
        <p:txBody>
          <a:bodyPr wrap="square" lIns="0" tIns="0" rIns="0" bIns="0" rtlCol="0" anchor="t"/>
          <a:lstStyle/>
          <a:p>
            <a:pPr marL="0" indent="0" algn="l">
              <a:lnSpc>
                <a:spcPts val="1550"/>
              </a:lnSpc>
              <a:buNone/>
            </a:pPr>
            <a:r>
              <a:rPr lang="en-US" sz="1200">
                <a:solidFill>
                  <a:srgbClr val="E2E6E9"/>
                </a:solidFill>
                <a:latin typeface="Microsoft YaHei UI" panose="020B0503020204020204" pitchFamily="34" charset="-122"/>
                <a:ea typeface="Microsoft YaHei UI" panose="020B0503020204020204" pitchFamily="34" charset="-122"/>
                <a:cs typeface="Source Sans 3" pitchFamily="34" charset="-120"/>
              </a:rPr>
              <a:t>A privacy-first app fusing typing/touch dynamics + micro-EMA. Features an Adaptive Scheduler, Chronotype Heatmap, and Intent-Lock for personalized focus.</a:t>
            </a:r>
            <a:endParaRPr lang="en-US" sz="1200">
              <a:latin typeface="Microsoft YaHei UI" panose="020B0503020204020204" pitchFamily="34" charset="-122"/>
              <a:ea typeface="Microsoft YaHei UI" panose="020B0503020204020204" pitchFamily="34" charset="-122"/>
            </a:endParaRPr>
          </a:p>
        </p:txBody>
      </p:sp>
      <p:pic>
        <p:nvPicPr>
          <p:cNvPr id="12" name="Image 0" descr="preencoded.png"/>
          <p:cNvPicPr>
            <a:picLocks noChangeAspect="1"/>
          </p:cNvPicPr>
          <p:nvPr/>
        </p:nvPicPr>
        <p:blipFill>
          <a:blip r:embed="rId3"/>
          <a:stretch>
            <a:fillRect/>
          </a:stretch>
        </p:blipFill>
        <p:spPr>
          <a:xfrm>
            <a:off x="1402118" y="2345078"/>
            <a:ext cx="11511201" cy="5571516"/>
          </a:xfrm>
          <a:prstGeom prst="rect">
            <a:avLst/>
          </a:prstGeom>
        </p:spPr>
      </p:pic>
      <p:sp>
        <p:nvSpPr>
          <p:cNvPr id="13" name="Text 10"/>
          <p:cNvSpPr/>
          <p:nvPr/>
        </p:nvSpPr>
        <p:spPr>
          <a:xfrm>
            <a:off x="6024669" y="4577927"/>
            <a:ext cx="2266098" cy="283219"/>
          </a:xfrm>
          <a:prstGeom prst="rect">
            <a:avLst/>
          </a:prstGeom>
          <a:noFill/>
          <a:ln/>
        </p:spPr>
        <p:txBody>
          <a:bodyPr wrap="none" lIns="0" tIns="0" rIns="0" bIns="0" rtlCol="0" anchor="t"/>
          <a:lstStyle/>
          <a:p>
            <a:pPr marL="0" indent="0" algn="ctr">
              <a:lnSpc>
                <a:spcPts val="1500"/>
              </a:lnSpc>
              <a:buNone/>
            </a:pPr>
            <a:r>
              <a:rPr lang="en-US" sz="1200" b="1">
                <a:solidFill>
                  <a:srgbClr val="000000"/>
                </a:solidFill>
                <a:latin typeface="Microsoft YaHei UI" panose="020B0503020204020204" pitchFamily="34" charset="-122"/>
                <a:ea typeface="Microsoft YaHei UI" panose="020B0503020204020204" pitchFamily="34" charset="-122"/>
                <a:cs typeface="Montserrat Bold" pitchFamily="34" charset="-120"/>
              </a:rPr>
              <a:t>Student</a:t>
            </a:r>
            <a:endParaRPr lang="en-US" sz="1200">
              <a:latin typeface="Microsoft YaHei UI" panose="020B0503020204020204" pitchFamily="34" charset="-122"/>
              <a:ea typeface="Microsoft YaHei UI" panose="020B0503020204020204" pitchFamily="34" charset="-122"/>
            </a:endParaRPr>
          </a:p>
        </p:txBody>
      </p:sp>
      <p:sp>
        <p:nvSpPr>
          <p:cNvPr id="14" name="Text 11"/>
          <p:cNvSpPr/>
          <p:nvPr/>
        </p:nvSpPr>
        <p:spPr>
          <a:xfrm>
            <a:off x="5966674" y="4999157"/>
            <a:ext cx="2382087" cy="498577"/>
          </a:xfrm>
          <a:prstGeom prst="rect">
            <a:avLst/>
          </a:prstGeom>
          <a:noFill/>
          <a:ln/>
        </p:spPr>
        <p:txBody>
          <a:bodyPr wrap="square" lIns="0" tIns="0" rIns="0" bIns="0" rtlCol="0" anchor="t"/>
          <a:lstStyle/>
          <a:p>
            <a:pPr marL="0" indent="0" algn="ctr">
              <a:lnSpc>
                <a:spcPts val="1350"/>
              </a:lnSpc>
              <a:buNone/>
            </a:pPr>
            <a:r>
              <a:rPr lang="en-US" sz="1050">
                <a:solidFill>
                  <a:srgbClr val="000000"/>
                </a:solidFill>
                <a:latin typeface="Microsoft YaHei UI" panose="020B0503020204020204" pitchFamily="34" charset="-122"/>
                <a:ea typeface="Microsoft YaHei UI" panose="020B0503020204020204" pitchFamily="34" charset="-122"/>
                <a:cs typeface="Source Sans 3" pitchFamily="34" charset="-120"/>
              </a:rPr>
              <a:t>Central adaptive agent receiving and sending data</a:t>
            </a:r>
            <a:endParaRPr lang="en-US" sz="1050">
              <a:latin typeface="Microsoft YaHei UI" panose="020B0503020204020204" pitchFamily="34" charset="-122"/>
              <a:ea typeface="Microsoft YaHei UI" panose="020B0503020204020204" pitchFamily="34" charset="-122"/>
            </a:endParaRPr>
          </a:p>
        </p:txBody>
      </p:sp>
      <p:sp>
        <p:nvSpPr>
          <p:cNvPr id="15" name="Text 12"/>
          <p:cNvSpPr/>
          <p:nvPr/>
        </p:nvSpPr>
        <p:spPr>
          <a:xfrm>
            <a:off x="9947958" y="3536580"/>
            <a:ext cx="2266099" cy="283219"/>
          </a:xfrm>
          <a:prstGeom prst="rect">
            <a:avLst/>
          </a:prstGeom>
          <a:noFill/>
          <a:ln/>
        </p:spPr>
        <p:txBody>
          <a:bodyPr wrap="none" lIns="0" tIns="0" rIns="0" bIns="0" rtlCol="0" anchor="t"/>
          <a:lstStyle/>
          <a:p>
            <a:pPr marL="0" indent="0" algn="ctr">
              <a:lnSpc>
                <a:spcPts val="1500"/>
              </a:lnSpc>
              <a:buNone/>
            </a:pPr>
            <a:r>
              <a:rPr lang="en-US" sz="1200" b="1">
                <a:solidFill>
                  <a:srgbClr val="000000"/>
                </a:solidFill>
                <a:latin typeface="Microsoft YaHei UI" panose="020B0503020204020204" pitchFamily="34" charset="-122"/>
                <a:ea typeface="Microsoft YaHei UI" panose="020B0503020204020204" pitchFamily="34" charset="-122"/>
                <a:cs typeface="Montserrat Bold" pitchFamily="34" charset="-120"/>
              </a:rPr>
              <a:t>Scheduler</a:t>
            </a:r>
            <a:endParaRPr lang="en-US" sz="1200">
              <a:latin typeface="Microsoft YaHei UI" panose="020B0503020204020204" pitchFamily="34" charset="-122"/>
              <a:ea typeface="Microsoft YaHei UI" panose="020B0503020204020204" pitchFamily="34" charset="-122"/>
            </a:endParaRPr>
          </a:p>
        </p:txBody>
      </p:sp>
      <p:sp>
        <p:nvSpPr>
          <p:cNvPr id="16" name="Text 13"/>
          <p:cNvSpPr/>
          <p:nvPr/>
        </p:nvSpPr>
        <p:spPr>
          <a:xfrm>
            <a:off x="9728718" y="3865511"/>
            <a:ext cx="2747709" cy="498577"/>
          </a:xfrm>
          <a:prstGeom prst="rect">
            <a:avLst/>
          </a:prstGeom>
          <a:noFill/>
          <a:ln/>
        </p:spPr>
        <p:txBody>
          <a:bodyPr wrap="square" lIns="0" tIns="0" rIns="0" bIns="0" rtlCol="0" anchor="t"/>
          <a:lstStyle/>
          <a:p>
            <a:pPr marL="0" indent="0" algn="ctr">
              <a:lnSpc>
                <a:spcPts val="1350"/>
              </a:lnSpc>
              <a:buNone/>
            </a:pPr>
            <a:r>
              <a:rPr lang="en-US" sz="1400">
                <a:solidFill>
                  <a:srgbClr val="000000"/>
                </a:solidFill>
                <a:latin typeface="Microsoft YaHei UI" panose="020B0503020204020204" pitchFamily="34" charset="-122"/>
                <a:ea typeface="Microsoft YaHei UI" panose="020B0503020204020204" pitchFamily="34" charset="-122"/>
                <a:cs typeface="Source Sans 3" pitchFamily="34" charset="-120"/>
              </a:rPr>
              <a:t>Outputs adaptive work and break intervals</a:t>
            </a:r>
            <a:endParaRPr lang="en-US" sz="1400">
              <a:latin typeface="Microsoft YaHei UI" panose="020B0503020204020204" pitchFamily="34" charset="-122"/>
              <a:ea typeface="Microsoft YaHei UI" panose="020B0503020204020204" pitchFamily="34" charset="-122"/>
            </a:endParaRPr>
          </a:p>
        </p:txBody>
      </p:sp>
      <p:sp>
        <p:nvSpPr>
          <p:cNvPr id="17" name="Text 14"/>
          <p:cNvSpPr/>
          <p:nvPr/>
        </p:nvSpPr>
        <p:spPr>
          <a:xfrm>
            <a:off x="2188100" y="6328971"/>
            <a:ext cx="2266098" cy="283219"/>
          </a:xfrm>
          <a:prstGeom prst="rect">
            <a:avLst/>
          </a:prstGeom>
          <a:noFill/>
          <a:ln/>
        </p:spPr>
        <p:txBody>
          <a:bodyPr wrap="none" lIns="0" tIns="0" rIns="0" bIns="0" rtlCol="0" anchor="t"/>
          <a:lstStyle/>
          <a:p>
            <a:pPr marL="0" indent="0" algn="ctr">
              <a:lnSpc>
                <a:spcPts val="1500"/>
              </a:lnSpc>
              <a:buNone/>
            </a:pPr>
            <a:r>
              <a:rPr lang="en-US" sz="1200" b="1">
                <a:solidFill>
                  <a:srgbClr val="000000"/>
                </a:solidFill>
                <a:latin typeface="Microsoft YaHei UI" panose="020B0503020204020204" pitchFamily="34" charset="-122"/>
                <a:ea typeface="Microsoft YaHei UI" panose="020B0503020204020204" pitchFamily="34" charset="-122"/>
                <a:cs typeface="Montserrat Bold" pitchFamily="34" charset="-120"/>
              </a:rPr>
              <a:t>Heatmap</a:t>
            </a:r>
            <a:endParaRPr lang="en-US" sz="1200">
              <a:latin typeface="Microsoft YaHei UI" panose="020B0503020204020204" pitchFamily="34" charset="-122"/>
              <a:ea typeface="Microsoft YaHei UI" panose="020B0503020204020204" pitchFamily="34" charset="-122"/>
            </a:endParaRPr>
          </a:p>
        </p:txBody>
      </p:sp>
      <p:sp>
        <p:nvSpPr>
          <p:cNvPr id="18" name="Text 15"/>
          <p:cNvSpPr/>
          <p:nvPr/>
        </p:nvSpPr>
        <p:spPr>
          <a:xfrm>
            <a:off x="1947294" y="6647194"/>
            <a:ext cx="2747709" cy="498577"/>
          </a:xfrm>
          <a:prstGeom prst="rect">
            <a:avLst/>
          </a:prstGeom>
          <a:noFill/>
          <a:ln/>
        </p:spPr>
        <p:txBody>
          <a:bodyPr wrap="square" lIns="0" tIns="0" rIns="0" bIns="0" rtlCol="0" anchor="t"/>
          <a:lstStyle/>
          <a:p>
            <a:pPr marL="0" indent="0" algn="ctr">
              <a:lnSpc>
                <a:spcPts val="1350"/>
              </a:lnSpc>
              <a:buNone/>
            </a:pPr>
            <a:r>
              <a:rPr lang="en-US" sz="1600">
                <a:solidFill>
                  <a:srgbClr val="000000"/>
                </a:solidFill>
                <a:latin typeface="Microsoft YaHei UI" panose="020B0503020204020204" pitchFamily="34" charset="-122"/>
                <a:ea typeface="Microsoft YaHei UI" panose="020B0503020204020204" pitchFamily="34" charset="-122"/>
                <a:cs typeface="Source Sans 3" pitchFamily="34" charset="-120"/>
              </a:rPr>
              <a:t>Visualizes daily rhythm and peaks</a:t>
            </a:r>
            <a:endParaRPr lang="en-US" sz="1600">
              <a:latin typeface="Microsoft YaHei UI" panose="020B0503020204020204" pitchFamily="34" charset="-122"/>
              <a:ea typeface="Microsoft YaHei UI" panose="020B0503020204020204" pitchFamily="34" charset="-122"/>
            </a:endParaRPr>
          </a:p>
        </p:txBody>
      </p:sp>
      <p:sp>
        <p:nvSpPr>
          <p:cNvPr id="19" name="Text 16"/>
          <p:cNvSpPr/>
          <p:nvPr/>
        </p:nvSpPr>
        <p:spPr>
          <a:xfrm>
            <a:off x="2428904" y="3026355"/>
            <a:ext cx="2266099" cy="283219"/>
          </a:xfrm>
          <a:prstGeom prst="rect">
            <a:avLst/>
          </a:prstGeom>
          <a:noFill/>
          <a:ln/>
        </p:spPr>
        <p:txBody>
          <a:bodyPr wrap="none" lIns="0" tIns="0" rIns="0" bIns="0" rtlCol="0" anchor="t"/>
          <a:lstStyle/>
          <a:p>
            <a:pPr marL="0" indent="0" algn="ctr">
              <a:lnSpc>
                <a:spcPts val="1500"/>
              </a:lnSpc>
              <a:buNone/>
            </a:pPr>
            <a:r>
              <a:rPr lang="en-US" sz="1200" b="1">
                <a:latin typeface="Microsoft YaHei UI"/>
                <a:ea typeface="Microsoft YaHei UI"/>
                <a:cs typeface="Montserrat Bold" pitchFamily="34" charset="-120"/>
              </a:rPr>
              <a:t>Estimator</a:t>
            </a:r>
            <a:endParaRPr lang="en-US" sz="1200">
              <a:latin typeface="Microsoft YaHei UI"/>
              <a:ea typeface="Microsoft YaHei UI"/>
            </a:endParaRPr>
          </a:p>
        </p:txBody>
      </p:sp>
      <p:sp>
        <p:nvSpPr>
          <p:cNvPr id="20" name="Text 17"/>
          <p:cNvSpPr/>
          <p:nvPr/>
        </p:nvSpPr>
        <p:spPr>
          <a:xfrm>
            <a:off x="2188100" y="3316820"/>
            <a:ext cx="2747709" cy="498576"/>
          </a:xfrm>
          <a:prstGeom prst="rect">
            <a:avLst/>
          </a:prstGeom>
          <a:noFill/>
          <a:ln/>
        </p:spPr>
        <p:txBody>
          <a:bodyPr wrap="square" lIns="0" tIns="0" rIns="0" bIns="0" rtlCol="0" anchor="t"/>
          <a:lstStyle/>
          <a:p>
            <a:pPr marL="0" indent="0" algn="ctr">
              <a:lnSpc>
                <a:spcPts val="1350"/>
              </a:lnSpc>
              <a:buNone/>
            </a:pPr>
            <a:r>
              <a:rPr lang="en-US" sz="1600">
                <a:latin typeface="Microsoft YaHei UI"/>
                <a:ea typeface="Microsoft YaHei UI"/>
                <a:cs typeface="Source Sans 3" pitchFamily="34" charset="-120"/>
              </a:rPr>
              <a:t>Inputs typing and touch dynamics</a:t>
            </a:r>
            <a:endParaRPr lang="en-US" sz="1600">
              <a:latin typeface="Microsoft YaHei UI"/>
              <a:ea typeface="Microsoft YaHei UI"/>
            </a:endParaRPr>
          </a:p>
        </p:txBody>
      </p:sp>
      <p:sp>
        <p:nvSpPr>
          <p:cNvPr id="21" name="Text 18"/>
          <p:cNvSpPr/>
          <p:nvPr/>
        </p:nvSpPr>
        <p:spPr>
          <a:xfrm>
            <a:off x="9600792" y="6751994"/>
            <a:ext cx="2266099" cy="283219"/>
          </a:xfrm>
          <a:prstGeom prst="rect">
            <a:avLst/>
          </a:prstGeom>
          <a:noFill/>
          <a:ln/>
        </p:spPr>
        <p:txBody>
          <a:bodyPr wrap="none" lIns="0" tIns="0" rIns="0" bIns="0" rtlCol="0" anchor="t"/>
          <a:lstStyle/>
          <a:p>
            <a:pPr marL="0" indent="0" algn="ctr">
              <a:lnSpc>
                <a:spcPts val="1500"/>
              </a:lnSpc>
              <a:buNone/>
            </a:pPr>
            <a:r>
              <a:rPr lang="en-US" sz="1200" b="1">
                <a:latin typeface="Microsoft YaHei UI"/>
                <a:ea typeface="Microsoft YaHei UI"/>
                <a:cs typeface="Montserrat Bold" pitchFamily="34" charset="-120"/>
              </a:rPr>
              <a:t>Intent-Lock</a:t>
            </a:r>
            <a:endParaRPr lang="en-US" sz="1200">
              <a:latin typeface="Microsoft YaHei UI"/>
              <a:ea typeface="Microsoft YaHei UI"/>
            </a:endParaRPr>
          </a:p>
        </p:txBody>
      </p:sp>
      <p:sp>
        <p:nvSpPr>
          <p:cNvPr id="22" name="Text 19"/>
          <p:cNvSpPr/>
          <p:nvPr/>
        </p:nvSpPr>
        <p:spPr>
          <a:xfrm>
            <a:off x="9299617" y="7067586"/>
            <a:ext cx="2747709" cy="498576"/>
          </a:xfrm>
          <a:prstGeom prst="rect">
            <a:avLst/>
          </a:prstGeom>
          <a:noFill/>
          <a:ln/>
        </p:spPr>
        <p:txBody>
          <a:bodyPr wrap="square" lIns="0" tIns="0" rIns="0" bIns="0" rtlCol="0" anchor="t"/>
          <a:lstStyle/>
          <a:p>
            <a:pPr marL="0" indent="0" algn="ctr">
              <a:lnSpc>
                <a:spcPts val="1350"/>
              </a:lnSpc>
              <a:buNone/>
            </a:pPr>
            <a:r>
              <a:rPr lang="en-US" sz="1600">
                <a:latin typeface="Microsoft YaHei UI"/>
                <a:ea typeface="Microsoft YaHei UI"/>
                <a:cs typeface="Source Sans 3" pitchFamily="34" charset="-120"/>
              </a:rPr>
              <a:t>Controls distractions to protect focus</a:t>
            </a:r>
            <a:endParaRPr lang="en-US" sz="1600">
              <a:latin typeface="Microsoft YaHei UI"/>
              <a:ea typeface="Microsoft YaHei UI"/>
            </a:endParaRPr>
          </a:p>
        </p:txBody>
      </p:sp>
      <p:sp>
        <p:nvSpPr>
          <p:cNvPr id="23" name="Text 20"/>
          <p:cNvSpPr/>
          <p:nvPr/>
        </p:nvSpPr>
        <p:spPr>
          <a:xfrm>
            <a:off x="386397" y="7915277"/>
            <a:ext cx="13542645" cy="198239"/>
          </a:xfrm>
          <a:prstGeom prst="rect">
            <a:avLst/>
          </a:prstGeom>
          <a:noFill/>
          <a:ln/>
        </p:spPr>
        <p:txBody>
          <a:bodyPr wrap="none" lIns="0" tIns="0" rIns="0" bIns="0" rtlCol="0" anchor="t"/>
          <a:lstStyle/>
          <a:p>
            <a:pPr marL="0" indent="0" algn="ctr">
              <a:lnSpc>
                <a:spcPts val="1550"/>
              </a:lnSpc>
              <a:buNone/>
            </a:pPr>
            <a:r>
              <a:rPr lang="en-US" sz="1000">
                <a:solidFill>
                  <a:srgbClr val="E2E6E9"/>
                </a:solidFill>
                <a:latin typeface="Microsoft YaHei UI" panose="020B0503020204020204" pitchFamily="34" charset="-122"/>
                <a:ea typeface="Microsoft YaHei UI" panose="020B0503020204020204" pitchFamily="34" charset="-122"/>
                <a:cs typeface="Source Sans 3" pitchFamily="34" charset="-120"/>
              </a:rPr>
              <a:t>Our system addresses critical gaps in existing static study tools, supporting millions of students.</a:t>
            </a:r>
            <a:endParaRPr lang="en-US" sz="1000">
              <a:latin typeface="Microsoft YaHei UI" panose="020B0503020204020204" pitchFamily="34" charset="-122"/>
              <a:ea typeface="Microsoft YaHei UI" panose="020B0503020204020204" pitchFamily="34" charset="-122"/>
            </a:endParaRPr>
          </a:p>
        </p:txBody>
      </p:sp>
      <p:sp>
        <p:nvSpPr>
          <p:cNvPr id="24" name="Rectangle 23">
            <a:extLst>
              <a:ext uri="{FF2B5EF4-FFF2-40B4-BE49-F238E27FC236}">
                <a16:creationId xmlns:a16="http://schemas.microsoft.com/office/drawing/2014/main" id="{4F14C20C-5C04-0238-DBC6-E3C567FE288C}"/>
              </a:ext>
            </a:extLst>
          </p:cNvPr>
          <p:cNvSpPr/>
          <p:nvPr/>
        </p:nvSpPr>
        <p:spPr>
          <a:xfrm>
            <a:off x="12812751" y="7738946"/>
            <a:ext cx="1739590" cy="370165"/>
          </a:xfrm>
          <a:prstGeom prst="rect">
            <a:avLst/>
          </a:prstGeom>
          <a:solidFill>
            <a:srgbClr val="111213"/>
          </a:solidFill>
          <a:ln>
            <a:solidFill>
              <a:srgbClr val="11121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icrosoft YaHei UI" panose="020B0503020204020204" pitchFamily="34" charset="-122"/>
              <a:ea typeface="Microsoft YaHei UI"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61194-9BB2-13DE-A7A7-67225947654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FAC9738-8DA8-7427-686D-8EB26CAF67B1}"/>
              </a:ext>
            </a:extLst>
          </p:cNvPr>
          <p:cNvSpPr/>
          <p:nvPr/>
        </p:nvSpPr>
        <p:spPr>
          <a:xfrm>
            <a:off x="2880003" y="427315"/>
            <a:ext cx="8870275" cy="375285"/>
          </a:xfrm>
          <a:prstGeom prst="rect">
            <a:avLst/>
          </a:prstGeom>
          <a:noFill/>
          <a:ln/>
        </p:spPr>
        <p:txBody>
          <a:bodyPr wrap="none" lIns="0" tIns="0" rIns="0" bIns="0" rtlCol="0" anchor="t"/>
          <a:lstStyle/>
          <a:p>
            <a:pPr algn="ctr">
              <a:lnSpc>
                <a:spcPts val="2950"/>
              </a:lnSpc>
            </a:pPr>
            <a:r>
              <a:rPr lang="en-US" sz="2350" b="1">
                <a:solidFill>
                  <a:srgbClr val="FFFFFF"/>
                </a:solidFill>
                <a:latin typeface="Microsoft YaHei UI"/>
                <a:ea typeface="Microsoft YaHei UI"/>
              </a:rPr>
              <a:t>High level Architecture diagram </a:t>
            </a:r>
            <a:endParaRPr lang="en-US"/>
          </a:p>
        </p:txBody>
      </p:sp>
      <p:sp>
        <p:nvSpPr>
          <p:cNvPr id="23" name="Text 20">
            <a:extLst>
              <a:ext uri="{FF2B5EF4-FFF2-40B4-BE49-F238E27FC236}">
                <a16:creationId xmlns:a16="http://schemas.microsoft.com/office/drawing/2014/main" id="{91D30BC6-375F-A787-9998-D8FD1C3A256E}"/>
              </a:ext>
            </a:extLst>
          </p:cNvPr>
          <p:cNvSpPr/>
          <p:nvPr/>
        </p:nvSpPr>
        <p:spPr>
          <a:xfrm>
            <a:off x="386397" y="7915277"/>
            <a:ext cx="13542645" cy="198239"/>
          </a:xfrm>
          <a:prstGeom prst="rect">
            <a:avLst/>
          </a:prstGeom>
          <a:noFill/>
          <a:ln/>
        </p:spPr>
        <p:txBody>
          <a:bodyPr wrap="none" lIns="0" tIns="0" rIns="0" bIns="0" rtlCol="0" anchor="t"/>
          <a:lstStyle/>
          <a:p>
            <a:pPr marL="0" indent="0" algn="ctr">
              <a:lnSpc>
                <a:spcPts val="1550"/>
              </a:lnSpc>
              <a:buNone/>
            </a:pPr>
            <a:r>
              <a:rPr lang="en-US" sz="1000">
                <a:solidFill>
                  <a:srgbClr val="E2E6E9"/>
                </a:solidFill>
                <a:latin typeface="Microsoft YaHei UI" panose="020B0503020204020204" pitchFamily="34" charset="-122"/>
                <a:ea typeface="Microsoft YaHei UI" panose="020B0503020204020204" pitchFamily="34" charset="-122"/>
                <a:cs typeface="Source Sans 3" pitchFamily="34" charset="-120"/>
              </a:rPr>
              <a:t>Our system addresses critical gaps in existing static study tools, supporting millions of students.</a:t>
            </a:r>
            <a:endParaRPr lang="en-US" sz="1000">
              <a:latin typeface="Microsoft YaHei UI" panose="020B0503020204020204" pitchFamily="34" charset="-122"/>
              <a:ea typeface="Microsoft YaHei UI" panose="020B0503020204020204" pitchFamily="34" charset="-122"/>
            </a:endParaRPr>
          </a:p>
        </p:txBody>
      </p:sp>
      <p:sp>
        <p:nvSpPr>
          <p:cNvPr id="24" name="Rectangle 23">
            <a:extLst>
              <a:ext uri="{FF2B5EF4-FFF2-40B4-BE49-F238E27FC236}">
                <a16:creationId xmlns:a16="http://schemas.microsoft.com/office/drawing/2014/main" id="{4CE59E40-DA9F-2E32-F973-636AB7A3FDAB}"/>
              </a:ext>
            </a:extLst>
          </p:cNvPr>
          <p:cNvSpPr/>
          <p:nvPr/>
        </p:nvSpPr>
        <p:spPr>
          <a:xfrm>
            <a:off x="12812751" y="7738946"/>
            <a:ext cx="1739590" cy="370165"/>
          </a:xfrm>
          <a:prstGeom prst="rect">
            <a:avLst/>
          </a:prstGeom>
          <a:solidFill>
            <a:srgbClr val="111213"/>
          </a:solidFill>
          <a:ln>
            <a:solidFill>
              <a:srgbClr val="11121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icrosoft YaHei UI" panose="020B0503020204020204" pitchFamily="34" charset="-122"/>
              <a:ea typeface="Microsoft YaHei UI" panose="020B0503020204020204" pitchFamily="34" charset="-122"/>
            </a:endParaRPr>
          </a:p>
        </p:txBody>
      </p:sp>
      <p:pic>
        <p:nvPicPr>
          <p:cNvPr id="25" name="Picture 24" descr="A diagram of a process&#10;&#10;AI-generated content may be incorrect.">
            <a:extLst>
              <a:ext uri="{FF2B5EF4-FFF2-40B4-BE49-F238E27FC236}">
                <a16:creationId xmlns:a16="http://schemas.microsoft.com/office/drawing/2014/main" id="{BF723AEA-5D98-3018-E8F8-C7D7E16DA508}"/>
              </a:ext>
            </a:extLst>
          </p:cNvPr>
          <p:cNvPicPr>
            <a:picLocks noChangeAspect="1"/>
          </p:cNvPicPr>
          <p:nvPr/>
        </p:nvPicPr>
        <p:blipFill>
          <a:blip r:embed="rId3"/>
          <a:stretch>
            <a:fillRect/>
          </a:stretch>
        </p:blipFill>
        <p:spPr>
          <a:xfrm>
            <a:off x="528638" y="947737"/>
            <a:ext cx="13573125" cy="6562725"/>
          </a:xfrm>
          <a:prstGeom prst="rect">
            <a:avLst/>
          </a:prstGeom>
        </p:spPr>
      </p:pic>
    </p:spTree>
    <p:extLst>
      <p:ext uri="{BB962C8B-B14F-4D97-AF65-F5344CB8AC3E}">
        <p14:creationId xmlns:p14="http://schemas.microsoft.com/office/powerpoint/2010/main" val="541265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A755AF9-6AEA-4BCA-A1A2-C57A58214B9E}"/>
              </a:ext>
            </a:extLst>
          </p:cNvPr>
          <p:cNvSpPr>
            <a:spLocks noGrp="1"/>
          </p:cNvSpPr>
          <p:nvPr>
            <p:ph type="title"/>
          </p:nvPr>
        </p:nvSpPr>
        <p:spPr/>
        <p:txBody>
          <a:bodyPr/>
          <a:lstStyle/>
          <a:p>
            <a:pPr algn="ctr"/>
            <a:r>
              <a:rPr lang="en-US" err="1"/>
              <a:t>Bogahawatta</a:t>
            </a:r>
            <a:r>
              <a:rPr lang="en-US"/>
              <a:t> B.P.S.    --   IT22148254</a:t>
            </a:r>
          </a:p>
        </p:txBody>
      </p:sp>
      <p:sp>
        <p:nvSpPr>
          <p:cNvPr id="6" name="Text Placeholder 5">
            <a:extLst>
              <a:ext uri="{FF2B5EF4-FFF2-40B4-BE49-F238E27FC236}">
                <a16:creationId xmlns:a16="http://schemas.microsoft.com/office/drawing/2014/main" id="{07A91C59-28F0-4A9C-ACA2-19A536A0C380}"/>
              </a:ext>
            </a:extLst>
          </p:cNvPr>
          <p:cNvSpPr>
            <a:spLocks noGrp="1"/>
          </p:cNvSpPr>
          <p:nvPr>
            <p:ph type="body" idx="1"/>
          </p:nvPr>
        </p:nvSpPr>
        <p:spPr/>
        <p:txBody>
          <a:bodyPr/>
          <a:lstStyle/>
          <a:p>
            <a:pPr algn="ctr"/>
            <a:r>
              <a:rPr lang="en-US"/>
              <a:t>B.Sc. (Hons) Degree in Information Technology Specializing in software engineering </a:t>
            </a:r>
          </a:p>
        </p:txBody>
      </p:sp>
      <p:sp>
        <p:nvSpPr>
          <p:cNvPr id="4" name="Rectangle 3">
            <a:extLst>
              <a:ext uri="{FF2B5EF4-FFF2-40B4-BE49-F238E27FC236}">
                <a16:creationId xmlns:a16="http://schemas.microsoft.com/office/drawing/2014/main" id="{5FB98E66-DBD5-4B29-AC68-A58A70C64231}"/>
              </a:ext>
            </a:extLst>
          </p:cNvPr>
          <p:cNvSpPr/>
          <p:nvPr/>
        </p:nvSpPr>
        <p:spPr>
          <a:xfrm>
            <a:off x="3158922" y="7791449"/>
            <a:ext cx="11471477" cy="4381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r>
              <a:rPr kumimoji="0" lang="en-US" sz="2160" b="1" i="0" u="none" strike="noStrike" kern="1200" cap="none" spc="0" normalizeH="0" baseline="0" noProof="0">
                <a:ln>
                  <a:noFill/>
                </a:ln>
                <a:solidFill>
                  <a:prstClr val="black"/>
                </a:solidFill>
                <a:effectLst/>
                <a:uLnTx/>
                <a:uFillTx/>
                <a:latin typeface="Cambria"/>
                <a:ea typeface="+mn-ea"/>
                <a:cs typeface="+mn-cs"/>
              </a:rPr>
              <a:t>IT22148254</a:t>
            </a:r>
            <a:r>
              <a:rPr kumimoji="0" lang="en-US" sz="2160" b="0" i="0" u="none" strike="noStrike" kern="1200" cap="none" spc="0" normalizeH="0" baseline="0" noProof="0">
                <a:ln>
                  <a:noFill/>
                </a:ln>
                <a:solidFill>
                  <a:prstClr val="black"/>
                </a:solidFill>
                <a:effectLst/>
                <a:uLnTx/>
                <a:uFillTx/>
                <a:latin typeface="Cambria"/>
                <a:ea typeface="+mn-ea"/>
                <a:cs typeface="+mn-cs"/>
              </a:rPr>
              <a:t>   |   BOGAGAWATTA B P S</a:t>
            </a:r>
            <a:r>
              <a:rPr kumimoji="0" lang="en-US" sz="2160" b="1" i="0" u="none" strike="noStrike" kern="1200" cap="none" spc="0" normalizeH="0" baseline="0" noProof="0">
                <a:ln>
                  <a:noFill/>
                </a:ln>
                <a:solidFill>
                  <a:prstClr val="black"/>
                </a:solidFill>
                <a:effectLst/>
                <a:uLnTx/>
                <a:uFillTx/>
                <a:latin typeface="Cambria"/>
                <a:ea typeface="+mn-ea"/>
                <a:cs typeface="+mn-cs"/>
              </a:rPr>
              <a:t>   </a:t>
            </a:r>
            <a:r>
              <a:rPr kumimoji="0" lang="en-US" sz="2160" b="0" i="0" u="none" strike="noStrike" kern="1200" cap="none" spc="0" normalizeH="0" baseline="0" noProof="0">
                <a:ln>
                  <a:noFill/>
                </a:ln>
                <a:solidFill>
                  <a:prstClr val="black"/>
                </a:solidFill>
                <a:effectLst/>
                <a:uLnTx/>
                <a:uFillTx/>
                <a:latin typeface="Cambria"/>
                <a:ea typeface="+mn-ea"/>
                <a:cs typeface="+mn-cs"/>
              </a:rPr>
              <a:t>|   25-26J-458</a:t>
            </a:r>
          </a:p>
        </p:txBody>
      </p:sp>
      <p:pic>
        <p:nvPicPr>
          <p:cNvPr id="3" name="Picture 2" descr="A person wearing glasses and a white shirt&#10;&#10;AI-generated content may be incorrect.">
            <a:extLst>
              <a:ext uri="{FF2B5EF4-FFF2-40B4-BE49-F238E27FC236}">
                <a16:creationId xmlns:a16="http://schemas.microsoft.com/office/drawing/2014/main" id="{88BA3B42-30A3-4DFE-832D-702949FE2DA6}"/>
              </a:ext>
            </a:extLst>
          </p:cNvPr>
          <p:cNvPicPr>
            <a:picLocks noChangeAspect="1"/>
          </p:cNvPicPr>
          <p:nvPr/>
        </p:nvPicPr>
        <p:blipFill>
          <a:blip r:embed="rId2"/>
          <a:stretch>
            <a:fillRect/>
          </a:stretch>
        </p:blipFill>
        <p:spPr>
          <a:xfrm>
            <a:off x="11825555" y="156067"/>
            <a:ext cx="2732925" cy="2874810"/>
          </a:xfrm>
          <a:prstGeom prst="rect">
            <a:avLst/>
          </a:prstGeom>
        </p:spPr>
      </p:pic>
    </p:spTree>
    <p:extLst>
      <p:ext uri="{BB962C8B-B14F-4D97-AF65-F5344CB8AC3E}">
        <p14:creationId xmlns:p14="http://schemas.microsoft.com/office/powerpoint/2010/main" val="105417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04267" y="552926"/>
            <a:ext cx="13021866" cy="742474"/>
          </a:xfrm>
          <a:prstGeom prst="rect">
            <a:avLst/>
          </a:prstGeom>
          <a:noFill/>
          <a:ln/>
        </p:spPr>
        <p:txBody>
          <a:bodyPr wrap="square" lIns="0" tIns="0" rIns="0" bIns="0" rtlCol="0" anchor="t"/>
          <a:lstStyle/>
          <a:p>
            <a:pPr marL="0" marR="0" lvl="0" indent="0" algn="ctr" defTabSz="914400" rtl="0" eaLnBrk="1" fontAlgn="auto" latinLnBrk="0" hangingPunct="1">
              <a:lnSpc>
                <a:spcPts val="2900"/>
              </a:lnSpc>
              <a:spcBef>
                <a:spcPts val="0"/>
              </a:spcBef>
              <a:spcAft>
                <a:spcPts val="0"/>
              </a:spcAft>
              <a:buClrTx/>
              <a:buSzTx/>
              <a:buFontTx/>
              <a:buNone/>
              <a:tabLst/>
              <a:defRPr/>
            </a:pPr>
            <a:r>
              <a:rPr kumimoji="0" lang="en-US" sz="2300" b="1" i="0" u="none" strike="noStrike" kern="1200" cap="none" spc="0" normalizeH="0" baseline="0" noProof="0">
                <a:ln>
                  <a:noFill/>
                </a:ln>
                <a:solidFill>
                  <a:srgbClr val="000000"/>
                </a:solidFill>
                <a:effectLst/>
                <a:uLnTx/>
                <a:uFillTx/>
                <a:latin typeface="Montserrat Bold" pitchFamily="34" charset="0"/>
                <a:ea typeface="Montserrat Bold" pitchFamily="34" charset="-122"/>
                <a:cs typeface="Montserrat Bold" pitchFamily="34" charset="-120"/>
              </a:rPr>
              <a:t>Cognitive load estimator : Proven Gap &amp; Creative Solution: Enhancing Cognitive Load Measurement</a:t>
            </a:r>
            <a:endParaRPr kumimoji="0" lang="en-US" sz="2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804267" y="1556742"/>
            <a:ext cx="13021866" cy="196096"/>
          </a:xfrm>
          <a:prstGeom prst="rect">
            <a:avLst/>
          </a:prstGeom>
          <a:noFill/>
          <a:ln/>
        </p:spPr>
        <p:txBody>
          <a:bodyPr wrap="non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ource Sans 3" pitchFamily="34" charset="0"/>
                <a:ea typeface="Source Sans 3" pitchFamily="34" charset="-122"/>
                <a:cs typeface="Source Sans 3" pitchFamily="34" charset="-120"/>
              </a:rPr>
              <a:t>Our research addresses critical limitations in existing methods for assessing cognitive load, proposing a novel approach that balances accuracy with user privacy and practicality.</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804267" y="2030373"/>
            <a:ext cx="2908340" cy="185499"/>
          </a:xfrm>
          <a:prstGeom prst="rect">
            <a:avLst/>
          </a:prstGeom>
          <a:noFill/>
          <a:ln/>
        </p:spPr>
        <p:txBody>
          <a:bodyPr wrap="non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1150" b="1" i="0" u="none" strike="noStrike" kern="1200" cap="none" spc="0" normalizeH="0" baseline="0" noProof="0">
                <a:ln>
                  <a:noFill/>
                </a:ln>
                <a:solidFill>
                  <a:srgbClr val="000000"/>
                </a:solidFill>
                <a:effectLst/>
                <a:uLnTx/>
                <a:uFillTx/>
                <a:latin typeface="Montserrat Bold" pitchFamily="34" charset="0"/>
                <a:ea typeface="Montserrat Bold" pitchFamily="34" charset="-122"/>
                <a:cs typeface="Montserrat Bold" pitchFamily="34" charset="-120"/>
              </a:rPr>
              <a:t>Knowledge Gap &amp; Problem Definition</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804267" y="2362795"/>
            <a:ext cx="6351508" cy="1688306"/>
          </a:xfrm>
          <a:prstGeom prst="roundRect">
            <a:avLst>
              <a:gd name="adj" fmla="val 1161"/>
            </a:avLst>
          </a:prstGeom>
          <a:solidFill>
            <a:srgbClr val="30313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934879" y="2493407"/>
            <a:ext cx="392073" cy="392073"/>
          </a:xfrm>
          <a:prstGeom prst="roundRect">
            <a:avLst>
              <a:gd name="adj" fmla="val 23319855"/>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 name="Image 0" descr="preencoded.png"/>
          <p:cNvPicPr>
            <a:picLocks noChangeAspect="1"/>
          </p:cNvPicPr>
          <p:nvPr/>
        </p:nvPicPr>
        <p:blipFill>
          <a:blip r:embed="rId3"/>
          <a:stretch>
            <a:fillRect/>
          </a:stretch>
        </p:blipFill>
        <p:spPr>
          <a:xfrm>
            <a:off x="1042749" y="2579132"/>
            <a:ext cx="176332" cy="220504"/>
          </a:xfrm>
          <a:prstGeom prst="rect">
            <a:avLst/>
          </a:prstGeom>
        </p:spPr>
      </p:pic>
      <p:sp>
        <p:nvSpPr>
          <p:cNvPr id="8" name="Text 5"/>
          <p:cNvSpPr/>
          <p:nvPr/>
        </p:nvSpPr>
        <p:spPr>
          <a:xfrm>
            <a:off x="934879" y="3016091"/>
            <a:ext cx="2740223" cy="185499"/>
          </a:xfrm>
          <a:prstGeom prst="rect">
            <a:avLst/>
          </a:prstGeom>
          <a:noFill/>
          <a:ln/>
        </p:spPr>
        <p:txBody>
          <a:bodyPr wrap="non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1150" b="1" i="0" u="none" strike="noStrike" kern="1200" cap="none" spc="0" normalizeH="0" baseline="0" noProof="0">
                <a:ln>
                  <a:noFill/>
                </a:ln>
                <a:solidFill>
                  <a:srgbClr val="FFFFFF"/>
                </a:solidFill>
                <a:effectLst/>
                <a:uLnTx/>
                <a:uFillTx/>
                <a:latin typeface="Montserrat Bold" pitchFamily="34" charset="0"/>
                <a:ea typeface="Montserrat Bold" pitchFamily="34" charset="-122"/>
                <a:cs typeface="Montserrat Bold" pitchFamily="34" charset="-120"/>
              </a:rPr>
              <a:t>Intrusive Measurement Techniques</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p:nvPr/>
        </p:nvSpPr>
        <p:spPr>
          <a:xfrm>
            <a:off x="934879" y="3332202"/>
            <a:ext cx="6090285" cy="588288"/>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Source Sans 3" pitchFamily="34" charset="0"/>
                <a:ea typeface="Source Sans 3" pitchFamily="34" charset="-122"/>
                <a:cs typeface="Source Sans 3" pitchFamily="34" charset="-120"/>
              </a:rPr>
              <a:t>Academic research often relies on intrusive sensors like EEGs or cameras for cognitive load detection. These methods are impractical for daily use and raise significant privacy concerns. Traditional survey methods, such as NASA-TLX, are too burdensome for real-time assessment in dynamic environments.</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804267" y="4181713"/>
            <a:ext cx="6351508" cy="1688306"/>
          </a:xfrm>
          <a:prstGeom prst="roundRect">
            <a:avLst>
              <a:gd name="adj" fmla="val 1161"/>
            </a:avLst>
          </a:prstGeom>
          <a:solidFill>
            <a:srgbClr val="30313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8"/>
          <p:cNvSpPr/>
          <p:nvPr/>
        </p:nvSpPr>
        <p:spPr>
          <a:xfrm>
            <a:off x="934879" y="4312325"/>
            <a:ext cx="392073" cy="392073"/>
          </a:xfrm>
          <a:prstGeom prst="roundRect">
            <a:avLst>
              <a:gd name="adj" fmla="val 23319855"/>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2" name="Image 1" descr="preencoded.png"/>
          <p:cNvPicPr>
            <a:picLocks noChangeAspect="1"/>
          </p:cNvPicPr>
          <p:nvPr/>
        </p:nvPicPr>
        <p:blipFill>
          <a:blip r:embed="rId4"/>
          <a:stretch>
            <a:fillRect/>
          </a:stretch>
        </p:blipFill>
        <p:spPr>
          <a:xfrm>
            <a:off x="1042749" y="4398050"/>
            <a:ext cx="176332" cy="220504"/>
          </a:xfrm>
          <a:prstGeom prst="rect">
            <a:avLst/>
          </a:prstGeom>
        </p:spPr>
      </p:pic>
      <p:sp>
        <p:nvSpPr>
          <p:cNvPr id="13" name="Text 9"/>
          <p:cNvSpPr/>
          <p:nvPr/>
        </p:nvSpPr>
        <p:spPr>
          <a:xfrm>
            <a:off x="934879" y="4835009"/>
            <a:ext cx="3540800" cy="185499"/>
          </a:xfrm>
          <a:prstGeom prst="rect">
            <a:avLst/>
          </a:prstGeom>
          <a:noFill/>
          <a:ln/>
        </p:spPr>
        <p:txBody>
          <a:bodyPr wrap="non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1150" b="1" i="0" u="none" strike="noStrike" kern="1200" cap="none" spc="0" normalizeH="0" baseline="0" noProof="0">
                <a:ln>
                  <a:noFill/>
                </a:ln>
                <a:solidFill>
                  <a:srgbClr val="FFFFFF"/>
                </a:solidFill>
                <a:effectLst/>
                <a:uLnTx/>
                <a:uFillTx/>
                <a:latin typeface="Montserrat Bold" pitchFamily="34" charset="0"/>
                <a:ea typeface="Montserrat Bold" pitchFamily="34" charset="-122"/>
                <a:cs typeface="Montserrat Bold" pitchFamily="34" charset="-120"/>
              </a:rPr>
              <a:t>Untapped Potential of Fused Interaction Data</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0"/>
          <p:cNvSpPr/>
          <p:nvPr/>
        </p:nvSpPr>
        <p:spPr>
          <a:xfrm>
            <a:off x="934879" y="5151120"/>
            <a:ext cx="6090285" cy="588288"/>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Source Sans 3" pitchFamily="34" charset="0"/>
                <a:ea typeface="Source Sans 3" pitchFamily="34" charset="-122"/>
                <a:cs typeface="Source Sans 3" pitchFamily="34" charset="-120"/>
              </a:rPr>
              <a:t>While studies have explored single data streams like mouse activity or keystroke dynamics, there's a clear gap in fusing these modalities. Combining them could create a more robust and accurate estimation for consumer-facing productivity tools, moving beyond isolated, limited insights.</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1"/>
          <p:cNvSpPr/>
          <p:nvPr/>
        </p:nvSpPr>
        <p:spPr>
          <a:xfrm>
            <a:off x="7482245" y="2030373"/>
            <a:ext cx="1665923" cy="185499"/>
          </a:xfrm>
          <a:prstGeom prst="rect">
            <a:avLst/>
          </a:prstGeom>
          <a:noFill/>
          <a:ln/>
        </p:spPr>
        <p:txBody>
          <a:bodyPr wrap="non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1150" b="1" i="0" u="none" strike="noStrike" kern="1200" cap="none" spc="0" normalizeH="0" baseline="0" noProof="0">
                <a:ln>
                  <a:noFill/>
                </a:ln>
                <a:solidFill>
                  <a:srgbClr val="000000"/>
                </a:solidFill>
                <a:effectLst/>
                <a:uLnTx/>
                <a:uFillTx/>
                <a:latin typeface="Montserrat Bold" pitchFamily="34" charset="0"/>
                <a:ea typeface="Montserrat Bold" pitchFamily="34" charset="-122"/>
                <a:cs typeface="Montserrat Bold" pitchFamily="34" charset="-120"/>
              </a:rPr>
              <a:t>Our Creative Solution</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2"/>
          <p:cNvSpPr/>
          <p:nvPr/>
        </p:nvSpPr>
        <p:spPr>
          <a:xfrm>
            <a:off x="7482245" y="2362795"/>
            <a:ext cx="6351508" cy="1196102"/>
          </a:xfrm>
          <a:prstGeom prst="roundRect">
            <a:avLst>
              <a:gd name="adj" fmla="val 1639"/>
            </a:avLst>
          </a:prstGeom>
          <a:solidFill>
            <a:srgbClr val="E2E6E9"/>
          </a:solidFill>
          <a:ln w="15240">
            <a:solidFill>
              <a:srgbClr val="494A4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7482245" y="2362795"/>
            <a:ext cx="60960" cy="1196102"/>
          </a:xfrm>
          <a:prstGeom prst="roundRect">
            <a:avLst>
              <a:gd name="adj" fmla="val 32161"/>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4"/>
          <p:cNvSpPr/>
          <p:nvPr/>
        </p:nvSpPr>
        <p:spPr>
          <a:xfrm>
            <a:off x="7689056" y="2508647"/>
            <a:ext cx="2689027" cy="185499"/>
          </a:xfrm>
          <a:prstGeom prst="rect">
            <a:avLst/>
          </a:prstGeom>
          <a:noFill/>
          <a:ln/>
        </p:spPr>
        <p:txBody>
          <a:bodyPr wrap="non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1150" b="1" i="0" u="none" strike="noStrike" kern="1200" cap="none" spc="0" normalizeH="0" baseline="0" noProof="0">
                <a:ln>
                  <a:noFill/>
                </a:ln>
                <a:solidFill>
                  <a:srgbClr val="000000"/>
                </a:solidFill>
                <a:effectLst/>
                <a:uLnTx/>
                <a:uFillTx/>
                <a:latin typeface="Montserrat Bold" pitchFamily="34" charset="0"/>
                <a:ea typeface="Montserrat Bold" pitchFamily="34" charset="-122"/>
                <a:cs typeface="Montserrat Bold" pitchFamily="34" charset="-120"/>
              </a:rPr>
              <a:t>Addressing Existing Shortcomings</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5"/>
          <p:cNvSpPr/>
          <p:nvPr/>
        </p:nvSpPr>
        <p:spPr>
          <a:xfrm>
            <a:off x="7689056" y="2824758"/>
            <a:ext cx="5998845" cy="588288"/>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ource Sans 3" pitchFamily="34" charset="0"/>
                <a:ea typeface="Source Sans 3" pitchFamily="34" charset="-122"/>
                <a:cs typeface="Source Sans 3" pitchFamily="34" charset="-120"/>
              </a:rPr>
              <a:t>Existing tools either lack adaptability (commercial timers) or demand intrusive monitoring (lab-based methods). Our solution resolves this dilemma by developing a novel, non-intrusive sensing subsystem that fuses two distinct data streams.</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6"/>
          <p:cNvSpPr/>
          <p:nvPr/>
        </p:nvSpPr>
        <p:spPr>
          <a:xfrm>
            <a:off x="7482245" y="3689509"/>
            <a:ext cx="6351508" cy="1196102"/>
          </a:xfrm>
          <a:prstGeom prst="roundRect">
            <a:avLst>
              <a:gd name="adj" fmla="val 1639"/>
            </a:avLst>
          </a:prstGeom>
          <a:solidFill>
            <a:srgbClr val="E2E6E9"/>
          </a:solidFill>
          <a:ln w="15240">
            <a:solidFill>
              <a:srgbClr val="494A4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7"/>
          <p:cNvSpPr/>
          <p:nvPr/>
        </p:nvSpPr>
        <p:spPr>
          <a:xfrm>
            <a:off x="7482245" y="3689509"/>
            <a:ext cx="60960" cy="1196102"/>
          </a:xfrm>
          <a:prstGeom prst="roundRect">
            <a:avLst>
              <a:gd name="adj" fmla="val 32161"/>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8"/>
          <p:cNvSpPr/>
          <p:nvPr/>
        </p:nvSpPr>
        <p:spPr>
          <a:xfrm>
            <a:off x="7689056" y="3835360"/>
            <a:ext cx="1485186" cy="185499"/>
          </a:xfrm>
          <a:prstGeom prst="rect">
            <a:avLst/>
          </a:prstGeom>
          <a:noFill/>
          <a:ln/>
        </p:spPr>
        <p:txBody>
          <a:bodyPr wrap="non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1150" b="1" i="0" u="none" strike="noStrike" kern="1200" cap="none" spc="0" normalizeH="0" baseline="0" noProof="0">
                <a:ln>
                  <a:noFill/>
                </a:ln>
                <a:solidFill>
                  <a:srgbClr val="000000"/>
                </a:solidFill>
                <a:effectLst/>
                <a:uLnTx/>
                <a:uFillTx/>
                <a:latin typeface="Montserrat Bold" pitchFamily="34" charset="0"/>
                <a:ea typeface="Montserrat Bold" pitchFamily="34" charset="-122"/>
                <a:cs typeface="Montserrat Bold" pitchFamily="34" charset="-120"/>
              </a:rPr>
              <a:t>Passive Sensing</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19"/>
          <p:cNvSpPr/>
          <p:nvPr/>
        </p:nvSpPr>
        <p:spPr>
          <a:xfrm>
            <a:off x="7689056" y="4151471"/>
            <a:ext cx="5998845" cy="588288"/>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ource Sans 3" pitchFamily="34" charset="0"/>
                <a:ea typeface="Source Sans 3" pitchFamily="34" charset="-122"/>
                <a:cs typeface="Source Sans 3" pitchFamily="34" charset="-120"/>
              </a:rPr>
              <a:t>We continuously and unobtrusively analyze privacy-preserving computer interaction data. This includes keystroke timing, pause bursts, and error rates. Crucially, only timing metadata is used, ensuring the content typed remains private.</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0"/>
          <p:cNvSpPr/>
          <p:nvPr/>
        </p:nvSpPr>
        <p:spPr>
          <a:xfrm>
            <a:off x="7482245" y="5016222"/>
            <a:ext cx="6351508" cy="1196102"/>
          </a:xfrm>
          <a:prstGeom prst="roundRect">
            <a:avLst>
              <a:gd name="adj" fmla="val 1639"/>
            </a:avLst>
          </a:prstGeom>
          <a:solidFill>
            <a:srgbClr val="E2E6E9"/>
          </a:solidFill>
          <a:ln w="15240">
            <a:solidFill>
              <a:srgbClr val="494A4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1"/>
          <p:cNvSpPr/>
          <p:nvPr/>
        </p:nvSpPr>
        <p:spPr>
          <a:xfrm>
            <a:off x="7482245" y="5016222"/>
            <a:ext cx="60960" cy="1196102"/>
          </a:xfrm>
          <a:prstGeom prst="roundRect">
            <a:avLst>
              <a:gd name="adj" fmla="val 32161"/>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2"/>
          <p:cNvSpPr/>
          <p:nvPr/>
        </p:nvSpPr>
        <p:spPr>
          <a:xfrm>
            <a:off x="7689056" y="5162074"/>
            <a:ext cx="2290405" cy="185499"/>
          </a:xfrm>
          <a:prstGeom prst="rect">
            <a:avLst/>
          </a:prstGeom>
          <a:noFill/>
          <a:ln/>
        </p:spPr>
        <p:txBody>
          <a:bodyPr wrap="non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1150" b="1" i="0" u="none" strike="noStrike" kern="1200" cap="none" spc="0" normalizeH="0" baseline="0" noProof="0">
                <a:ln>
                  <a:noFill/>
                </a:ln>
                <a:solidFill>
                  <a:srgbClr val="000000"/>
                </a:solidFill>
                <a:effectLst/>
                <a:uLnTx/>
                <a:uFillTx/>
                <a:latin typeface="Montserrat Bold" pitchFamily="34" charset="0"/>
                <a:ea typeface="Montserrat Bold" pitchFamily="34" charset="-122"/>
                <a:cs typeface="Montserrat Bold" pitchFamily="34" charset="-120"/>
              </a:rPr>
              <a:t>Active Feedback (Micro-EMA)</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3"/>
          <p:cNvSpPr/>
          <p:nvPr/>
        </p:nvSpPr>
        <p:spPr>
          <a:xfrm>
            <a:off x="7689056" y="5478185"/>
            <a:ext cx="5998845" cy="588288"/>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ource Sans 3" pitchFamily="34" charset="0"/>
                <a:ea typeface="Source Sans 3" pitchFamily="34" charset="-122"/>
                <a:cs typeface="Source Sans 3" pitchFamily="34" charset="-120"/>
              </a:rPr>
              <a:t>Intermittently, users receive low-burden, single-question Micro-Ecological Momentary Assessment (Micro-EMA) prompts. This collects reliable, in-the-moment subjective feedback, ensuring data validity without being overly disruptive.</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4"/>
          <p:cNvSpPr/>
          <p:nvPr/>
        </p:nvSpPr>
        <p:spPr>
          <a:xfrm>
            <a:off x="7482245" y="6342936"/>
            <a:ext cx="6351508" cy="1196102"/>
          </a:xfrm>
          <a:prstGeom prst="roundRect">
            <a:avLst>
              <a:gd name="adj" fmla="val 1639"/>
            </a:avLst>
          </a:prstGeom>
          <a:solidFill>
            <a:srgbClr val="E2E6E9"/>
          </a:solidFill>
          <a:ln w="15240">
            <a:solidFill>
              <a:srgbClr val="494A4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5"/>
          <p:cNvSpPr/>
          <p:nvPr/>
        </p:nvSpPr>
        <p:spPr>
          <a:xfrm>
            <a:off x="7482245" y="6342936"/>
            <a:ext cx="60960" cy="1196102"/>
          </a:xfrm>
          <a:prstGeom prst="roundRect">
            <a:avLst>
              <a:gd name="adj" fmla="val 32161"/>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6"/>
          <p:cNvSpPr/>
          <p:nvPr/>
        </p:nvSpPr>
        <p:spPr>
          <a:xfrm>
            <a:off x="7689056" y="6488787"/>
            <a:ext cx="1485186" cy="185499"/>
          </a:xfrm>
          <a:prstGeom prst="rect">
            <a:avLst/>
          </a:prstGeom>
          <a:noFill/>
          <a:ln/>
        </p:spPr>
        <p:txBody>
          <a:bodyPr wrap="non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1150" b="1" i="0" u="none" strike="noStrike" kern="1200" cap="none" spc="0" normalizeH="0" baseline="0" noProof="0">
                <a:ln>
                  <a:noFill/>
                </a:ln>
                <a:solidFill>
                  <a:srgbClr val="000000"/>
                </a:solidFill>
                <a:effectLst/>
                <a:uLnTx/>
                <a:uFillTx/>
                <a:latin typeface="Montserrat Bold" pitchFamily="34" charset="0"/>
                <a:ea typeface="Montserrat Bold" pitchFamily="34" charset="-122"/>
                <a:cs typeface="Montserrat Bold" pitchFamily="34" charset="-120"/>
              </a:rPr>
              <a:t>Dual-Signal Fusion</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7"/>
          <p:cNvSpPr/>
          <p:nvPr/>
        </p:nvSpPr>
        <p:spPr>
          <a:xfrm>
            <a:off x="7689056" y="6804898"/>
            <a:ext cx="5998845" cy="588288"/>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ource Sans 3" pitchFamily="34" charset="0"/>
                <a:ea typeface="Source Sans 3" pitchFamily="34" charset="-122"/>
                <a:cs typeface="Source Sans 3" pitchFamily="34" charset="-120"/>
              </a:rPr>
              <a:t>This combined approach aims to produce a real-time, personalized cognitive load score. It is designed to be more accurate than any single-modality system, completely eliminating the need for cameras or wearable sensors, enhancing user acceptance and practical utility.</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B20E4FDA-FCBA-DC12-CF8F-663278301EDC}"/>
              </a:ext>
            </a:extLst>
          </p:cNvPr>
          <p:cNvSpPr/>
          <p:nvPr/>
        </p:nvSpPr>
        <p:spPr>
          <a:xfrm>
            <a:off x="3158922" y="7791449"/>
            <a:ext cx="11471477" cy="438150"/>
          </a:xfrm>
          <a:prstGeom prst="rect">
            <a:avLst/>
          </a:prstGeom>
          <a:solidFill>
            <a:srgbClr val="E2E6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r>
              <a:rPr kumimoji="0" lang="en-US" sz="2160" b="1" i="0" u="none" strike="noStrike" kern="1200" cap="none" spc="0" normalizeH="0" baseline="0" noProof="0">
                <a:ln>
                  <a:noFill/>
                </a:ln>
                <a:solidFill>
                  <a:prstClr val="black"/>
                </a:solidFill>
                <a:effectLst/>
                <a:uLnTx/>
                <a:uFillTx/>
                <a:latin typeface="Cambria"/>
                <a:ea typeface="+mn-ea"/>
                <a:cs typeface="+mn-cs"/>
              </a:rPr>
              <a:t>IT22148254</a:t>
            </a:r>
            <a:r>
              <a:rPr kumimoji="0" lang="en-US" sz="2160" b="0" i="0" u="none" strike="noStrike" kern="1200" cap="none" spc="0" normalizeH="0" baseline="0" noProof="0">
                <a:ln>
                  <a:noFill/>
                </a:ln>
                <a:solidFill>
                  <a:prstClr val="black"/>
                </a:solidFill>
                <a:effectLst/>
                <a:uLnTx/>
                <a:uFillTx/>
                <a:latin typeface="Cambria"/>
                <a:ea typeface="+mn-ea"/>
                <a:cs typeface="+mn-cs"/>
              </a:rPr>
              <a:t>   |   BOGAGAWATTA B P S</a:t>
            </a:r>
            <a:r>
              <a:rPr kumimoji="0" lang="en-US" sz="2160" b="1" i="0" u="none" strike="noStrike" kern="1200" cap="none" spc="0" normalizeH="0" baseline="0" noProof="0">
                <a:ln>
                  <a:noFill/>
                </a:ln>
                <a:solidFill>
                  <a:prstClr val="black"/>
                </a:solidFill>
                <a:effectLst/>
                <a:uLnTx/>
                <a:uFillTx/>
                <a:latin typeface="Cambria"/>
                <a:ea typeface="+mn-ea"/>
                <a:cs typeface="+mn-cs"/>
              </a:rPr>
              <a:t>   </a:t>
            </a:r>
            <a:r>
              <a:rPr kumimoji="0" lang="en-US" sz="2160" b="0" i="0" u="none" strike="noStrike" kern="1200" cap="none" spc="0" normalizeH="0" baseline="0" noProof="0">
                <a:ln>
                  <a:noFill/>
                </a:ln>
                <a:solidFill>
                  <a:prstClr val="black"/>
                </a:solidFill>
                <a:effectLst/>
                <a:uLnTx/>
                <a:uFillTx/>
                <a:latin typeface="Cambria"/>
                <a:ea typeface="+mn-ea"/>
                <a:cs typeface="+mn-cs"/>
              </a:rPr>
              <a:t>|   25-26J-458</a:t>
            </a:r>
          </a:p>
        </p:txBody>
      </p:sp>
      <p:pic>
        <p:nvPicPr>
          <p:cNvPr id="35" name="Picture 34">
            <a:extLst>
              <a:ext uri="{FF2B5EF4-FFF2-40B4-BE49-F238E27FC236}">
                <a16:creationId xmlns:a16="http://schemas.microsoft.com/office/drawing/2014/main" id="{DF54464B-6C27-D955-FAB7-7B5D19D40A0F}"/>
              </a:ext>
            </a:extLst>
          </p:cNvPr>
          <p:cNvPicPr>
            <a:picLocks noChangeAspect="1"/>
          </p:cNvPicPr>
          <p:nvPr/>
        </p:nvPicPr>
        <p:blipFill>
          <a:blip r:embed="rId5"/>
          <a:stretch>
            <a:fillRect/>
          </a:stretch>
        </p:blipFill>
        <p:spPr>
          <a:xfrm>
            <a:off x="82192" y="7692983"/>
            <a:ext cx="3076730" cy="4667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255276" y="692110"/>
            <a:ext cx="12119848" cy="394097"/>
          </a:xfrm>
          <a:prstGeom prst="rect">
            <a:avLst/>
          </a:prstGeom>
          <a:noFill/>
          <a:ln/>
        </p:spPr>
        <p:txBody>
          <a:bodyPr wrap="none" lIns="0" tIns="0" rIns="0" bIns="0" rtlCol="0" anchor="t"/>
          <a:lstStyle/>
          <a:p>
            <a:pPr marL="0" marR="0" lvl="0" indent="0" algn="ctr" defTabSz="914400" rtl="0" eaLnBrk="1" fontAlgn="auto" latinLnBrk="0" hangingPunct="1">
              <a:lnSpc>
                <a:spcPts val="3100"/>
              </a:lnSpc>
              <a:spcBef>
                <a:spcPts val="0"/>
              </a:spcBef>
              <a:spcAft>
                <a:spcPts val="0"/>
              </a:spcAft>
              <a:buClrTx/>
              <a:buSzTx/>
              <a:buFontTx/>
              <a:buNone/>
              <a:tabLst/>
              <a:defRPr/>
            </a:pPr>
            <a:r>
              <a:rPr kumimoji="0" lang="en-US" sz="2450" b="1" i="0" u="none" strike="noStrike" kern="1200" cap="none" spc="0" normalizeH="0" baseline="0" noProof="0">
                <a:ln>
                  <a:noFill/>
                </a:ln>
                <a:solidFill>
                  <a:srgbClr val="FFFFFF"/>
                </a:solidFill>
                <a:effectLst/>
                <a:uLnTx/>
                <a:uFillTx/>
                <a:latin typeface="Montserrat Bold" pitchFamily="34" charset="0"/>
                <a:ea typeface="Montserrat Bold" pitchFamily="34" charset="-122"/>
                <a:cs typeface="Montserrat Bold" pitchFamily="34" charset="-120"/>
              </a:rPr>
              <a:t>Cognitive load estimator : Application of Specialization-based Knowledge</a:t>
            </a:r>
            <a:endParaRPr kumimoji="0" lang="en-US" sz="24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853559" y="1363623"/>
            <a:ext cx="12923282" cy="208002"/>
          </a:xfrm>
          <a:prstGeom prst="rect">
            <a:avLst/>
          </a:prstGeom>
          <a:noFill/>
          <a:ln/>
        </p:spPr>
        <p:txBody>
          <a:bodyPr wrap="none" lIns="0" tIns="0" rIns="0" bIns="0" rtlCol="0" anchor="t"/>
          <a:lstStyle/>
          <a:p>
            <a:pPr marL="0" marR="0" lvl="0" indent="0" algn="l" defTabSz="914400" rtl="0" eaLnBrk="1" fontAlgn="auto" latinLnBrk="0" hangingPunct="1">
              <a:lnSpc>
                <a:spcPts val="1600"/>
              </a:lnSpc>
              <a:spcBef>
                <a:spcPts val="0"/>
              </a:spcBef>
              <a:spcAft>
                <a:spcPts val="0"/>
              </a:spcAft>
              <a:buClrTx/>
              <a:buSzTx/>
              <a:buFontTx/>
              <a:buNone/>
              <a:tabLst/>
              <a:defRPr/>
            </a:pPr>
            <a:r>
              <a:rPr kumimoji="0" lang="en-US" sz="1050" b="0"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Our project integrates core principles from Human-Computer Interaction, Machine Learning, and Software Engineering, leveraging cutting-edge technologies to build a robust and ethical cognitive load estimation system.</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53559" y="1727597"/>
            <a:ext cx="12923282" cy="1389698"/>
          </a:xfrm>
          <a:prstGeom prst="roundRect">
            <a:avLst>
              <a:gd name="adj" fmla="val 1497"/>
            </a:avLst>
          </a:prstGeom>
          <a:solidFill>
            <a:srgbClr val="30313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853559" y="1727597"/>
            <a:ext cx="4307681" cy="1389698"/>
          </a:xfrm>
          <a:prstGeom prst="roundRect">
            <a:avLst>
              <a:gd name="adj" fmla="val 1497"/>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992267" y="1866305"/>
            <a:ext cx="2900124" cy="197048"/>
          </a:xfrm>
          <a:prstGeom prst="rect">
            <a:avLst/>
          </a:prstGeom>
          <a:noFill/>
          <a:ln/>
        </p:spPr>
        <p:txBody>
          <a:bodyPr wrap="none" lIns="0" tIns="0" rIns="0" bIns="0" rtlCol="0" anchor="t"/>
          <a:lstStyle/>
          <a:p>
            <a:pPr marL="0" marR="0" lvl="0" indent="0" algn="l" defTabSz="914400" rtl="0" eaLnBrk="1" fontAlgn="auto" latinLnBrk="0" hangingPunct="1">
              <a:lnSpc>
                <a:spcPts val="155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Montserrat Bold" pitchFamily="34" charset="0"/>
                <a:ea typeface="Montserrat Bold" pitchFamily="34" charset="-122"/>
                <a:cs typeface="Montserrat Bold" pitchFamily="34" charset="-120"/>
              </a:rPr>
              <a:t>Human-Computer Interaction (HCI)</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992267" y="2146578"/>
            <a:ext cx="3822263" cy="832009"/>
          </a:xfrm>
          <a:prstGeom prst="rect">
            <a:avLst/>
          </a:prstGeom>
          <a:noFill/>
          <a:ln/>
        </p:spPr>
        <p:txBody>
          <a:bodyPr wrap="square" lIns="0" tIns="0" rIns="0" bIns="0" rtlCol="0" anchor="t"/>
          <a:lstStyle/>
          <a:p>
            <a:pPr marL="0" marR="0" lvl="0" indent="0" algn="l" defTabSz="914400" rtl="0" eaLnBrk="1" fontAlgn="auto" latinLnBrk="0" hangingPunct="1">
              <a:lnSpc>
                <a:spcPts val="16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ource Sans 3" pitchFamily="34" charset="0"/>
                <a:ea typeface="Source Sans 3" pitchFamily="34" charset="-122"/>
                <a:cs typeface="Source Sans 3" pitchFamily="34" charset="-120"/>
              </a:rPr>
              <a:t>Designing a non-intrusive and privacy-preserving sensing system is a fundamental HCI challenge. This includes developing a low-burden micro-EMA mechanism and ensuring seamless background operation of the passive logger.</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5161240" y="1727597"/>
            <a:ext cx="4307800" cy="1389698"/>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5161240" y="1727597"/>
            <a:ext cx="15240" cy="1389698"/>
          </a:xfrm>
          <a:prstGeom prst="roundRect">
            <a:avLst>
              <a:gd name="adj" fmla="val 136531"/>
            </a:avLst>
          </a:prstGeom>
          <a:solidFill>
            <a:srgbClr val="D8D8D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5507950" y="1866305"/>
            <a:ext cx="1576268" cy="197048"/>
          </a:xfrm>
          <a:prstGeom prst="rect">
            <a:avLst/>
          </a:prstGeom>
          <a:noFill/>
          <a:ln/>
        </p:spPr>
        <p:txBody>
          <a:bodyPr wrap="none" lIns="0" tIns="0" rIns="0" bIns="0" rtlCol="0" anchor="t"/>
          <a:lstStyle/>
          <a:p>
            <a:pPr marL="0" marR="0" lvl="0" indent="0" algn="l" defTabSz="914400" rtl="0" eaLnBrk="1" fontAlgn="auto" latinLnBrk="0" hangingPunct="1">
              <a:lnSpc>
                <a:spcPts val="155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Montserrat Bold" pitchFamily="34" charset="0"/>
                <a:ea typeface="Montserrat Bold" pitchFamily="34" charset="-122"/>
                <a:cs typeface="Montserrat Bold" pitchFamily="34" charset="-120"/>
              </a:rPr>
              <a:t>Machine Learning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5507950" y="2146578"/>
            <a:ext cx="3614380" cy="832009"/>
          </a:xfrm>
          <a:prstGeom prst="rect">
            <a:avLst/>
          </a:prstGeom>
          <a:noFill/>
          <a:ln/>
        </p:spPr>
        <p:txBody>
          <a:bodyPr wrap="square" lIns="0" tIns="0" rIns="0" bIns="0" rtlCol="0" anchor="t"/>
          <a:lstStyle/>
          <a:p>
            <a:pPr marL="0" marR="0" lvl="0" indent="0" algn="l" defTabSz="914400" rtl="0" eaLnBrk="1" fontAlgn="auto" latinLnBrk="0" hangingPunct="1">
              <a:lnSpc>
                <a:spcPts val="16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ource Sans 3" pitchFamily="34" charset="0"/>
                <a:ea typeface="Source Sans 3" pitchFamily="34" charset="-122"/>
                <a:cs typeface="Source Sans 3" pitchFamily="34" charset="-120"/>
              </a:rPr>
              <a:t>ML is central to the cognitive load estimator. It involves feature engineering from raw sensor data, training personalized models, and implementing fusion algorithms (e.g., Bayesian filters) to combine passive and active data streams effectively.</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4987885" y="2249091"/>
            <a:ext cx="346710" cy="346710"/>
          </a:xfrm>
          <a:prstGeom prst="roundRect">
            <a:avLst>
              <a:gd name="adj" fmla="val 6001"/>
            </a:avLst>
          </a:prstGeom>
          <a:solidFill>
            <a:srgbClr val="111213"/>
          </a:solidFill>
          <a:ln w="15240">
            <a:solidFill>
              <a:srgbClr val="D8D8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3" name="Image 0" descr="preencoded.png"/>
          <p:cNvPicPr>
            <a:picLocks noChangeAspect="1"/>
          </p:cNvPicPr>
          <p:nvPr/>
        </p:nvPicPr>
        <p:blipFill>
          <a:blip r:embed="rId3"/>
          <a:stretch>
            <a:fillRect/>
          </a:stretch>
        </p:blipFill>
        <p:spPr>
          <a:xfrm>
            <a:off x="5074563" y="2314099"/>
            <a:ext cx="173355" cy="216694"/>
          </a:xfrm>
          <a:prstGeom prst="rect">
            <a:avLst/>
          </a:prstGeom>
        </p:spPr>
      </p:pic>
      <p:sp>
        <p:nvSpPr>
          <p:cNvPr id="14" name="Shape 11"/>
          <p:cNvSpPr/>
          <p:nvPr/>
        </p:nvSpPr>
        <p:spPr>
          <a:xfrm>
            <a:off x="9469041" y="1727597"/>
            <a:ext cx="4307800" cy="1389698"/>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a:off x="9469041" y="1727597"/>
            <a:ext cx="15240" cy="1389698"/>
          </a:xfrm>
          <a:prstGeom prst="roundRect">
            <a:avLst>
              <a:gd name="adj" fmla="val 136531"/>
            </a:avLst>
          </a:prstGeom>
          <a:solidFill>
            <a:srgbClr val="D8D8D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9815751" y="1866305"/>
            <a:ext cx="1798915" cy="197048"/>
          </a:xfrm>
          <a:prstGeom prst="rect">
            <a:avLst/>
          </a:prstGeom>
          <a:noFill/>
          <a:ln/>
        </p:spPr>
        <p:txBody>
          <a:bodyPr wrap="none" lIns="0" tIns="0" rIns="0" bIns="0" rtlCol="0" anchor="t"/>
          <a:lstStyle/>
          <a:p>
            <a:pPr marL="0" marR="0" lvl="0" indent="0" algn="l" defTabSz="914400" rtl="0" eaLnBrk="1" fontAlgn="auto" latinLnBrk="0" hangingPunct="1">
              <a:lnSpc>
                <a:spcPts val="155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Montserrat Bold" pitchFamily="34" charset="0"/>
                <a:ea typeface="Montserrat Bold" pitchFamily="34" charset="-122"/>
                <a:cs typeface="Montserrat Bold" pitchFamily="34" charset="-120"/>
              </a:rPr>
              <a:t>Software Engineering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4"/>
          <p:cNvSpPr/>
          <p:nvPr/>
        </p:nvSpPr>
        <p:spPr>
          <a:xfrm>
            <a:off x="9815751" y="2146578"/>
            <a:ext cx="3822382" cy="832009"/>
          </a:xfrm>
          <a:prstGeom prst="rect">
            <a:avLst/>
          </a:prstGeom>
          <a:noFill/>
          <a:ln/>
        </p:spPr>
        <p:txBody>
          <a:bodyPr wrap="square" lIns="0" tIns="0" rIns="0" bIns="0" rtlCol="0" anchor="t"/>
          <a:lstStyle/>
          <a:p>
            <a:pPr marL="0" marR="0" lvl="0" indent="0" algn="l" defTabSz="914400" rtl="0" eaLnBrk="1" fontAlgn="auto" latinLnBrk="0" hangingPunct="1">
              <a:lnSpc>
                <a:spcPts val="16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ource Sans 3" pitchFamily="34" charset="0"/>
                <a:ea typeface="Source Sans 3" pitchFamily="34" charset="-122"/>
                <a:cs typeface="Source Sans 3" pitchFamily="34" charset="-120"/>
              </a:rPr>
              <a:t>We apply principles of modular design to create the estimator as a self-contained subsystem with a clean API. This ensures reliable integration with other components, such as the adaptive scheduler, for robust and scalable deployment.</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5"/>
          <p:cNvSpPr/>
          <p:nvPr/>
        </p:nvSpPr>
        <p:spPr>
          <a:xfrm>
            <a:off x="9295686" y="2249091"/>
            <a:ext cx="346710" cy="346710"/>
          </a:xfrm>
          <a:prstGeom prst="roundRect">
            <a:avLst>
              <a:gd name="adj" fmla="val 6001"/>
            </a:avLst>
          </a:prstGeom>
          <a:solidFill>
            <a:srgbClr val="111213"/>
          </a:solidFill>
          <a:ln w="15240">
            <a:solidFill>
              <a:srgbClr val="D8D8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9" name="Image 1" descr="preencoded.png"/>
          <p:cNvPicPr>
            <a:picLocks noChangeAspect="1"/>
          </p:cNvPicPr>
          <p:nvPr/>
        </p:nvPicPr>
        <p:blipFill>
          <a:blip r:embed="rId4"/>
          <a:stretch>
            <a:fillRect/>
          </a:stretch>
        </p:blipFill>
        <p:spPr>
          <a:xfrm>
            <a:off x="9382363" y="2314099"/>
            <a:ext cx="173355" cy="216694"/>
          </a:xfrm>
          <a:prstGeom prst="rect">
            <a:avLst/>
          </a:prstGeom>
        </p:spPr>
      </p:pic>
      <p:sp>
        <p:nvSpPr>
          <p:cNvPr id="20" name="Text 16"/>
          <p:cNvSpPr/>
          <p:nvPr/>
        </p:nvSpPr>
        <p:spPr>
          <a:xfrm>
            <a:off x="853559" y="3325297"/>
            <a:ext cx="3619857" cy="236458"/>
          </a:xfrm>
          <a:prstGeom prst="rect">
            <a:avLst/>
          </a:prstGeom>
          <a:noFill/>
          <a:ln/>
        </p:spPr>
        <p:txBody>
          <a:bodyPr wrap="none" lIns="0" tIns="0" rIns="0" bIns="0" rtlCol="0" anchor="t"/>
          <a:lstStyle/>
          <a:p>
            <a:pPr marL="0" marR="0" lvl="0" indent="0" algn="l" defTabSz="914400" rtl="0" eaLnBrk="1" fontAlgn="auto" latinLnBrk="0" hangingPunct="1">
              <a:lnSpc>
                <a:spcPts val="1850"/>
              </a:lnSpc>
              <a:spcBef>
                <a:spcPts val="0"/>
              </a:spcBef>
              <a:spcAft>
                <a:spcPts val="0"/>
              </a:spcAft>
              <a:buClrTx/>
              <a:buSzTx/>
              <a:buFontTx/>
              <a:buNone/>
              <a:tabLst/>
              <a:defRPr/>
            </a:pPr>
            <a:r>
              <a:rPr kumimoji="0" lang="en-US" sz="1450" b="1" i="0" u="none" strike="noStrike" kern="1200" cap="none" spc="0" normalizeH="0" baseline="0" noProof="0">
                <a:ln>
                  <a:noFill/>
                </a:ln>
                <a:solidFill>
                  <a:srgbClr val="FFFFFF"/>
                </a:solidFill>
                <a:effectLst/>
                <a:uLnTx/>
                <a:uFillTx/>
                <a:latin typeface="Montserrat Bold" pitchFamily="34" charset="0"/>
                <a:ea typeface="Montserrat Bold" pitchFamily="34" charset="-122"/>
                <a:cs typeface="Montserrat Bold" pitchFamily="34" charset="-120"/>
              </a:rPr>
              <a:t>Specific Latest Technologies Utilized</a:t>
            </a:r>
            <a:endParaRPr kumimoji="0" lang="en-US" sz="14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7"/>
          <p:cNvSpPr/>
          <p:nvPr/>
        </p:nvSpPr>
        <p:spPr>
          <a:xfrm>
            <a:off x="853559" y="3769757"/>
            <a:ext cx="4215289" cy="416123"/>
          </a:xfrm>
          <a:prstGeom prst="roundRect">
            <a:avLst>
              <a:gd name="adj" fmla="val 480028"/>
            </a:avLst>
          </a:prstGeom>
          <a:solidFill>
            <a:srgbClr val="30313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8"/>
          <p:cNvSpPr/>
          <p:nvPr/>
        </p:nvSpPr>
        <p:spPr>
          <a:xfrm>
            <a:off x="2857143" y="3847743"/>
            <a:ext cx="208002" cy="260033"/>
          </a:xfrm>
          <a:prstGeom prst="rect">
            <a:avLst/>
          </a:prstGeom>
          <a:noFill/>
          <a:ln/>
        </p:spPr>
        <p:txBody>
          <a:bodyPr wrap="none" lIns="0" tIns="0" rIns="0" bIns="0" rtlCol="0" anchor="t"/>
          <a:lstStyle/>
          <a:p>
            <a:pPr marL="0" marR="0" lvl="0" indent="0" algn="l" defTabSz="914400" rtl="0" eaLnBrk="1" fontAlgn="auto" latinLnBrk="0" hangingPunct="1">
              <a:lnSpc>
                <a:spcPts val="1600"/>
              </a:lnSpc>
              <a:spcBef>
                <a:spcPts val="0"/>
              </a:spcBef>
              <a:spcAft>
                <a:spcPts val="0"/>
              </a:spcAft>
              <a:buClrTx/>
              <a:buSzTx/>
              <a:buFontTx/>
              <a:buNone/>
              <a:tabLst/>
              <a:defRPr/>
            </a:pPr>
            <a:r>
              <a:rPr kumimoji="0" lang="en-US" sz="1600" b="1" i="0" u="none" strike="noStrike" kern="1200" cap="none" spc="0" normalizeH="0" baseline="0" noProof="0">
                <a:ln>
                  <a:noFill/>
                </a:ln>
                <a:solidFill>
                  <a:srgbClr val="E2E6E9"/>
                </a:solidFill>
                <a:effectLst/>
                <a:uLnTx/>
                <a:uFillTx/>
                <a:latin typeface="Montserrat Bold" pitchFamily="34" charset="0"/>
                <a:ea typeface="Montserrat Bold" pitchFamily="34" charset="-122"/>
                <a:cs typeface="Montserrat Bold" pitchFamily="34" charset="-120"/>
              </a:rPr>
              <a:t>1</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19"/>
          <p:cNvSpPr/>
          <p:nvPr/>
        </p:nvSpPr>
        <p:spPr>
          <a:xfrm>
            <a:off x="992267" y="4324588"/>
            <a:ext cx="3114794" cy="197048"/>
          </a:xfrm>
          <a:prstGeom prst="rect">
            <a:avLst/>
          </a:prstGeom>
          <a:noFill/>
          <a:ln/>
        </p:spPr>
        <p:txBody>
          <a:bodyPr wrap="none" lIns="0" tIns="0" rIns="0" bIns="0" rtlCol="0" anchor="t"/>
          <a:lstStyle/>
          <a:p>
            <a:pPr marL="0" marR="0" lvl="0" indent="0" algn="l" defTabSz="914400" rtl="0" eaLnBrk="1" fontAlgn="auto" latinLnBrk="0" hangingPunct="1">
              <a:lnSpc>
                <a:spcPts val="1550"/>
              </a:lnSpc>
              <a:spcBef>
                <a:spcPts val="0"/>
              </a:spcBef>
              <a:spcAft>
                <a:spcPts val="0"/>
              </a:spcAft>
              <a:buClrTx/>
              <a:buSzTx/>
              <a:buFontTx/>
              <a:buNone/>
              <a:tabLst/>
              <a:defRPr/>
            </a:pPr>
            <a:r>
              <a:rPr kumimoji="0" lang="en-US" sz="1200" b="1" i="0" u="none" strike="noStrike" kern="1200" cap="none" spc="0" normalizeH="0" baseline="0" noProof="0">
                <a:ln>
                  <a:noFill/>
                </a:ln>
                <a:solidFill>
                  <a:srgbClr val="E2E6E9"/>
                </a:solidFill>
                <a:effectLst/>
                <a:uLnTx/>
                <a:uFillTx/>
                <a:latin typeface="Montserrat Bold" pitchFamily="34" charset="0"/>
                <a:ea typeface="Montserrat Bold" pitchFamily="34" charset="-122"/>
                <a:cs typeface="Montserrat Bold" pitchFamily="34" charset="-120"/>
              </a:rPr>
              <a:t>Passive Sensing of Digital Biomarkers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0"/>
          <p:cNvSpPr/>
          <p:nvPr/>
        </p:nvSpPr>
        <p:spPr>
          <a:xfrm>
            <a:off x="992267" y="4604861"/>
            <a:ext cx="3937873" cy="832009"/>
          </a:xfrm>
          <a:prstGeom prst="rect">
            <a:avLst/>
          </a:prstGeom>
          <a:noFill/>
          <a:ln/>
        </p:spPr>
        <p:txBody>
          <a:bodyPr wrap="square" lIns="0" tIns="0" rIns="0" bIns="0" rtlCol="0" anchor="t"/>
          <a:lstStyle/>
          <a:p>
            <a:pPr marL="0" marR="0" lvl="0" indent="0" algn="l" defTabSz="914400" rtl="0" eaLnBrk="1" fontAlgn="auto" latinLnBrk="0" hangingPunct="1">
              <a:lnSpc>
                <a:spcPts val="1600"/>
              </a:lnSpc>
              <a:spcBef>
                <a:spcPts val="0"/>
              </a:spcBef>
              <a:spcAft>
                <a:spcPts val="0"/>
              </a:spcAft>
              <a:buClrTx/>
              <a:buSzTx/>
              <a:buFontTx/>
              <a:buNone/>
              <a:tabLst/>
              <a:defRPr/>
            </a:pPr>
            <a:r>
              <a:rPr kumimoji="0" lang="en-US" sz="1050" b="0"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Utilizing keystroke and touch dynamics as real-time, continuous indicators of a user's cognitive state. This reflects mental fatigue through subtle changes in typing speed, pause frequency, and error rates, without analyzing content.</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1"/>
          <p:cNvSpPr/>
          <p:nvPr/>
        </p:nvSpPr>
        <p:spPr>
          <a:xfrm>
            <a:off x="5207556" y="3769757"/>
            <a:ext cx="4215289" cy="416123"/>
          </a:xfrm>
          <a:prstGeom prst="roundRect">
            <a:avLst>
              <a:gd name="adj" fmla="val 480028"/>
            </a:avLst>
          </a:prstGeom>
          <a:solidFill>
            <a:srgbClr val="30313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2"/>
          <p:cNvSpPr/>
          <p:nvPr/>
        </p:nvSpPr>
        <p:spPr>
          <a:xfrm>
            <a:off x="7211139" y="3847743"/>
            <a:ext cx="208002" cy="260033"/>
          </a:xfrm>
          <a:prstGeom prst="rect">
            <a:avLst/>
          </a:prstGeom>
          <a:noFill/>
          <a:ln/>
        </p:spPr>
        <p:txBody>
          <a:bodyPr wrap="none" lIns="0" tIns="0" rIns="0" bIns="0" rtlCol="0" anchor="t"/>
          <a:lstStyle/>
          <a:p>
            <a:pPr marL="0" marR="0" lvl="0" indent="0" algn="l" defTabSz="914400" rtl="0" eaLnBrk="1" fontAlgn="auto" latinLnBrk="0" hangingPunct="1">
              <a:lnSpc>
                <a:spcPts val="1600"/>
              </a:lnSpc>
              <a:spcBef>
                <a:spcPts val="0"/>
              </a:spcBef>
              <a:spcAft>
                <a:spcPts val="0"/>
              </a:spcAft>
              <a:buClrTx/>
              <a:buSzTx/>
              <a:buFontTx/>
              <a:buNone/>
              <a:tabLst/>
              <a:defRPr/>
            </a:pPr>
            <a:r>
              <a:rPr kumimoji="0" lang="en-US" sz="1600" b="1" i="0" u="none" strike="noStrike" kern="1200" cap="none" spc="0" normalizeH="0" baseline="0" noProof="0">
                <a:ln>
                  <a:noFill/>
                </a:ln>
                <a:solidFill>
                  <a:srgbClr val="E2E6E9"/>
                </a:solidFill>
                <a:effectLst/>
                <a:uLnTx/>
                <a:uFillTx/>
                <a:latin typeface="Montserrat Bold" pitchFamily="34" charset="0"/>
                <a:ea typeface="Montserrat Bold" pitchFamily="34" charset="-122"/>
                <a:cs typeface="Montserrat Bold" pitchFamily="34" charset="-120"/>
              </a:rPr>
              <a:t>2</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3"/>
          <p:cNvSpPr/>
          <p:nvPr/>
        </p:nvSpPr>
        <p:spPr>
          <a:xfrm>
            <a:off x="5346263" y="4324588"/>
            <a:ext cx="3937873" cy="394097"/>
          </a:xfrm>
          <a:prstGeom prst="rect">
            <a:avLst/>
          </a:prstGeom>
          <a:noFill/>
          <a:ln/>
        </p:spPr>
        <p:txBody>
          <a:bodyPr wrap="square" lIns="0" tIns="0" rIns="0" bIns="0" rtlCol="0" anchor="t"/>
          <a:lstStyle/>
          <a:p>
            <a:pPr marL="0" marR="0" lvl="0" indent="0" algn="l" defTabSz="914400" rtl="0" eaLnBrk="1" fontAlgn="auto" latinLnBrk="0" hangingPunct="1">
              <a:lnSpc>
                <a:spcPts val="1550"/>
              </a:lnSpc>
              <a:spcBef>
                <a:spcPts val="0"/>
              </a:spcBef>
              <a:spcAft>
                <a:spcPts val="0"/>
              </a:spcAft>
              <a:buClrTx/>
              <a:buSzTx/>
              <a:buFontTx/>
              <a:buNone/>
              <a:tabLst/>
              <a:defRPr/>
            </a:pPr>
            <a:r>
              <a:rPr kumimoji="0" lang="en-US" sz="1200" b="1" i="0" u="none" strike="noStrike" kern="1200" cap="none" spc="0" normalizeH="0" baseline="0" noProof="0">
                <a:ln>
                  <a:noFill/>
                </a:ln>
                <a:solidFill>
                  <a:srgbClr val="E2E6E9"/>
                </a:solidFill>
                <a:effectLst/>
                <a:uLnTx/>
                <a:uFillTx/>
                <a:latin typeface="Montserrat Bold" pitchFamily="34" charset="0"/>
                <a:ea typeface="Montserrat Bold" pitchFamily="34" charset="-122"/>
                <a:cs typeface="Montserrat Bold" pitchFamily="34" charset="-120"/>
              </a:rPr>
              <a:t>Micro-Ecological Momentary Assessment (Micro-EMA)</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4"/>
          <p:cNvSpPr/>
          <p:nvPr/>
        </p:nvSpPr>
        <p:spPr>
          <a:xfrm>
            <a:off x="5346263" y="4801910"/>
            <a:ext cx="3937873" cy="832009"/>
          </a:xfrm>
          <a:prstGeom prst="rect">
            <a:avLst/>
          </a:prstGeom>
          <a:noFill/>
          <a:ln/>
        </p:spPr>
        <p:txBody>
          <a:bodyPr wrap="square" lIns="0" tIns="0" rIns="0" bIns="0" rtlCol="0" anchor="t"/>
          <a:lstStyle/>
          <a:p>
            <a:pPr marL="0" marR="0" lvl="0" indent="0" algn="l" defTabSz="914400" rtl="0" eaLnBrk="1" fontAlgn="auto" latinLnBrk="0" hangingPunct="1">
              <a:lnSpc>
                <a:spcPts val="1600"/>
              </a:lnSpc>
              <a:spcBef>
                <a:spcPts val="0"/>
              </a:spcBef>
              <a:spcAft>
                <a:spcPts val="0"/>
              </a:spcAft>
              <a:buClrTx/>
              <a:buSzTx/>
              <a:buFontTx/>
              <a:buNone/>
              <a:tabLst/>
              <a:defRPr/>
            </a:pPr>
            <a:r>
              <a:rPr kumimoji="0" lang="en-US" sz="1050" b="0"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A modern, lightweight evolution of traditional EMA that drastically reduces participant burden. By using single-question prompts, it allows for more frequent yet less intrusive data collection, enhancing ecological validity.</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5"/>
          <p:cNvSpPr/>
          <p:nvPr/>
        </p:nvSpPr>
        <p:spPr>
          <a:xfrm>
            <a:off x="9561552" y="3769757"/>
            <a:ext cx="4215289" cy="416123"/>
          </a:xfrm>
          <a:prstGeom prst="roundRect">
            <a:avLst>
              <a:gd name="adj" fmla="val 480028"/>
            </a:avLst>
          </a:prstGeom>
          <a:solidFill>
            <a:srgbClr val="30313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6"/>
          <p:cNvSpPr/>
          <p:nvPr/>
        </p:nvSpPr>
        <p:spPr>
          <a:xfrm>
            <a:off x="11565136" y="3847743"/>
            <a:ext cx="208002" cy="260033"/>
          </a:xfrm>
          <a:prstGeom prst="rect">
            <a:avLst/>
          </a:prstGeom>
          <a:noFill/>
          <a:ln/>
        </p:spPr>
        <p:txBody>
          <a:bodyPr wrap="none" lIns="0" tIns="0" rIns="0" bIns="0" rtlCol="0" anchor="t"/>
          <a:lstStyle/>
          <a:p>
            <a:pPr marL="0" marR="0" lvl="0" indent="0" algn="l" defTabSz="914400" rtl="0" eaLnBrk="1" fontAlgn="auto" latinLnBrk="0" hangingPunct="1">
              <a:lnSpc>
                <a:spcPts val="1600"/>
              </a:lnSpc>
              <a:spcBef>
                <a:spcPts val="0"/>
              </a:spcBef>
              <a:spcAft>
                <a:spcPts val="0"/>
              </a:spcAft>
              <a:buClrTx/>
              <a:buSzTx/>
              <a:buFontTx/>
              <a:buNone/>
              <a:tabLst/>
              <a:defRPr/>
            </a:pPr>
            <a:r>
              <a:rPr kumimoji="0" lang="en-US" sz="1600" b="1" i="0" u="none" strike="noStrike" kern="1200" cap="none" spc="0" normalizeH="0" baseline="0" noProof="0">
                <a:ln>
                  <a:noFill/>
                </a:ln>
                <a:solidFill>
                  <a:srgbClr val="E2E6E9"/>
                </a:solidFill>
                <a:effectLst/>
                <a:uLnTx/>
                <a:uFillTx/>
                <a:latin typeface="Montserrat Bold" pitchFamily="34" charset="0"/>
                <a:ea typeface="Montserrat Bold" pitchFamily="34" charset="-122"/>
                <a:cs typeface="Montserrat Bold" pitchFamily="34" charset="-120"/>
              </a:rPr>
              <a:t>3</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7"/>
          <p:cNvSpPr/>
          <p:nvPr/>
        </p:nvSpPr>
        <p:spPr>
          <a:xfrm>
            <a:off x="9700260" y="4324588"/>
            <a:ext cx="2390537" cy="197048"/>
          </a:xfrm>
          <a:prstGeom prst="rect">
            <a:avLst/>
          </a:prstGeom>
          <a:noFill/>
          <a:ln/>
        </p:spPr>
        <p:txBody>
          <a:bodyPr wrap="none" lIns="0" tIns="0" rIns="0" bIns="0" rtlCol="0" anchor="t"/>
          <a:lstStyle/>
          <a:p>
            <a:pPr marL="0" marR="0" lvl="0" indent="0" algn="l" defTabSz="914400" rtl="0" eaLnBrk="1" fontAlgn="auto" latinLnBrk="0" hangingPunct="1">
              <a:lnSpc>
                <a:spcPts val="1550"/>
              </a:lnSpc>
              <a:spcBef>
                <a:spcPts val="0"/>
              </a:spcBef>
              <a:spcAft>
                <a:spcPts val="0"/>
              </a:spcAft>
              <a:buClrTx/>
              <a:buSzTx/>
              <a:buFontTx/>
              <a:buNone/>
              <a:tabLst/>
              <a:defRPr/>
            </a:pPr>
            <a:r>
              <a:rPr kumimoji="0" lang="en-US" sz="1200" b="1" i="0" u="none" strike="noStrike" kern="1200" cap="none" spc="0" normalizeH="0" baseline="0" noProof="0">
                <a:ln>
                  <a:noFill/>
                </a:ln>
                <a:solidFill>
                  <a:srgbClr val="E2E6E9"/>
                </a:solidFill>
                <a:effectLst/>
                <a:uLnTx/>
                <a:uFillTx/>
                <a:latin typeface="Montserrat Bold" pitchFamily="34" charset="0"/>
                <a:ea typeface="Montserrat Bold" pitchFamily="34" charset="-122"/>
                <a:cs typeface="Montserrat Bold" pitchFamily="34" charset="-120"/>
              </a:rPr>
              <a:t>On-Device Machine Learning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28"/>
          <p:cNvSpPr/>
          <p:nvPr/>
        </p:nvSpPr>
        <p:spPr>
          <a:xfrm>
            <a:off x="9700260" y="4604861"/>
            <a:ext cx="3937873" cy="832009"/>
          </a:xfrm>
          <a:prstGeom prst="rect">
            <a:avLst/>
          </a:prstGeom>
          <a:noFill/>
          <a:ln/>
        </p:spPr>
        <p:txBody>
          <a:bodyPr wrap="square" lIns="0" tIns="0" rIns="0" bIns="0" rtlCol="0" anchor="t"/>
          <a:lstStyle/>
          <a:p>
            <a:pPr marL="0" marR="0" lvl="0" indent="0" algn="l" defTabSz="914400" rtl="0" eaLnBrk="1" fontAlgn="auto" latinLnBrk="0" hangingPunct="1">
              <a:lnSpc>
                <a:spcPts val="1600"/>
              </a:lnSpc>
              <a:spcBef>
                <a:spcPts val="0"/>
              </a:spcBef>
              <a:spcAft>
                <a:spcPts val="0"/>
              </a:spcAft>
              <a:buClrTx/>
              <a:buSzTx/>
              <a:buFontTx/>
              <a:buNone/>
              <a:tabLst/>
              <a:defRPr/>
            </a:pPr>
            <a:r>
              <a:rPr kumimoji="0" lang="en-US" sz="1050" b="0"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All data processing, feature extraction, and model inference occur locally on the user's device. This privacy-first approach avoids sending sensitive interaction data to external servers, safeguarding user privacy.</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29"/>
          <p:cNvSpPr/>
          <p:nvPr/>
        </p:nvSpPr>
        <p:spPr>
          <a:xfrm>
            <a:off x="853559" y="5980628"/>
            <a:ext cx="3100030" cy="236458"/>
          </a:xfrm>
          <a:prstGeom prst="rect">
            <a:avLst/>
          </a:prstGeom>
          <a:noFill/>
          <a:ln/>
        </p:spPr>
        <p:txBody>
          <a:bodyPr wrap="none" lIns="0" tIns="0" rIns="0" bIns="0" rtlCol="0" anchor="t"/>
          <a:lstStyle/>
          <a:p>
            <a:pPr marL="0" marR="0" lvl="0" indent="0" algn="l" defTabSz="914400" rtl="0" eaLnBrk="1" fontAlgn="auto" latinLnBrk="0" hangingPunct="1">
              <a:lnSpc>
                <a:spcPts val="1850"/>
              </a:lnSpc>
              <a:spcBef>
                <a:spcPts val="0"/>
              </a:spcBef>
              <a:spcAft>
                <a:spcPts val="0"/>
              </a:spcAft>
              <a:buClrTx/>
              <a:buSzTx/>
              <a:buFontTx/>
              <a:buNone/>
              <a:tabLst/>
              <a:defRPr/>
            </a:pPr>
            <a:r>
              <a:rPr kumimoji="0" lang="en-US" sz="1450" b="1" i="0" u="none" strike="noStrike" kern="1200" cap="none" spc="0" normalizeH="0" baseline="0" noProof="0">
                <a:ln>
                  <a:noFill/>
                </a:ln>
                <a:solidFill>
                  <a:srgbClr val="FFFFFF"/>
                </a:solidFill>
                <a:effectLst/>
                <a:uLnTx/>
                <a:uFillTx/>
                <a:latin typeface="Montserrat Bold" pitchFamily="34" charset="0"/>
                <a:ea typeface="Montserrat Bold" pitchFamily="34" charset="-122"/>
                <a:cs typeface="Montserrat Bold" pitchFamily="34" charset="-120"/>
              </a:rPr>
              <a:t>How to Evaluate/Prove Success</a:t>
            </a:r>
            <a:endParaRPr kumimoji="0" lang="en-US" sz="14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0"/>
          <p:cNvSpPr/>
          <p:nvPr/>
        </p:nvSpPr>
        <p:spPr>
          <a:xfrm>
            <a:off x="853559" y="6498788"/>
            <a:ext cx="69294" cy="69294"/>
          </a:xfrm>
          <a:prstGeom prst="roundRect">
            <a:avLst>
              <a:gd name="adj" fmla="val 659797"/>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1"/>
          <p:cNvSpPr/>
          <p:nvPr/>
        </p:nvSpPr>
        <p:spPr>
          <a:xfrm>
            <a:off x="1061561" y="6425089"/>
            <a:ext cx="1642229" cy="197048"/>
          </a:xfrm>
          <a:prstGeom prst="rect">
            <a:avLst/>
          </a:prstGeom>
          <a:noFill/>
          <a:ln/>
        </p:spPr>
        <p:txBody>
          <a:bodyPr wrap="none" lIns="0" tIns="0" rIns="0" bIns="0" rtlCol="0" anchor="t"/>
          <a:lstStyle/>
          <a:p>
            <a:pPr marL="0" marR="0" lvl="0" indent="0" algn="l" defTabSz="914400" rtl="0" eaLnBrk="1" fontAlgn="auto" latinLnBrk="0" hangingPunct="1">
              <a:lnSpc>
                <a:spcPts val="1550"/>
              </a:lnSpc>
              <a:spcBef>
                <a:spcPts val="0"/>
              </a:spcBef>
              <a:spcAft>
                <a:spcPts val="0"/>
              </a:spcAft>
              <a:buClrTx/>
              <a:buSzTx/>
              <a:buFontTx/>
              <a:buNone/>
              <a:tabLst/>
              <a:defRPr/>
            </a:pPr>
            <a:r>
              <a:rPr kumimoji="0" lang="en-US" sz="1200" b="1" i="0" u="none" strike="noStrike" kern="1200" cap="none" spc="0" normalizeH="0" baseline="0" noProof="0">
                <a:ln>
                  <a:noFill/>
                </a:ln>
                <a:solidFill>
                  <a:srgbClr val="E2E6E9"/>
                </a:solidFill>
                <a:effectLst/>
                <a:uLnTx/>
                <a:uFillTx/>
                <a:latin typeface="Montserrat Bold" pitchFamily="34" charset="0"/>
                <a:ea typeface="Montserrat Bold" pitchFamily="34" charset="-122"/>
                <a:cs typeface="Montserrat Bold" pitchFamily="34" charset="-120"/>
              </a:rPr>
              <a:t>Predictive Accuracy</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2"/>
          <p:cNvSpPr/>
          <p:nvPr/>
        </p:nvSpPr>
        <p:spPr>
          <a:xfrm>
            <a:off x="1061561" y="6705362"/>
            <a:ext cx="3984188" cy="832009"/>
          </a:xfrm>
          <a:prstGeom prst="rect">
            <a:avLst/>
          </a:prstGeom>
          <a:noFill/>
          <a:ln/>
        </p:spPr>
        <p:txBody>
          <a:bodyPr wrap="square" lIns="0" tIns="0" rIns="0" bIns="0" rtlCol="0" anchor="t"/>
          <a:lstStyle/>
          <a:p>
            <a:pPr marL="0" marR="0" lvl="0" indent="0" algn="l" defTabSz="914400" rtl="0" eaLnBrk="1" fontAlgn="auto" latinLnBrk="0" hangingPunct="1">
              <a:lnSpc>
                <a:spcPts val="1600"/>
              </a:lnSpc>
              <a:spcBef>
                <a:spcPts val="0"/>
              </a:spcBef>
              <a:spcAft>
                <a:spcPts val="0"/>
              </a:spcAft>
              <a:buClrTx/>
              <a:buSzTx/>
              <a:buFontTx/>
              <a:buNone/>
              <a:tabLst/>
              <a:defRPr/>
            </a:pPr>
            <a:r>
              <a:rPr kumimoji="0" lang="en-US" sz="1050" b="0"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The model's predicted load scores will be evaluated against user-provided micro-EMA ratings. We are targeting a Pearson correlation (r) of &gt;0.5 and a Mean Absolute Error (MAE) of &lt;0.7 on a 5-point scale to demonstrate high fidelity.</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3"/>
          <p:cNvSpPr/>
          <p:nvPr/>
        </p:nvSpPr>
        <p:spPr>
          <a:xfrm>
            <a:off x="5219105" y="6498788"/>
            <a:ext cx="69294" cy="69294"/>
          </a:xfrm>
          <a:prstGeom prst="roundRect">
            <a:avLst>
              <a:gd name="adj" fmla="val 659797"/>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4"/>
          <p:cNvSpPr/>
          <p:nvPr/>
        </p:nvSpPr>
        <p:spPr>
          <a:xfrm>
            <a:off x="5427107" y="6425089"/>
            <a:ext cx="1576268" cy="197048"/>
          </a:xfrm>
          <a:prstGeom prst="rect">
            <a:avLst/>
          </a:prstGeom>
          <a:noFill/>
          <a:ln/>
        </p:spPr>
        <p:txBody>
          <a:bodyPr wrap="none" lIns="0" tIns="0" rIns="0" bIns="0" rtlCol="0" anchor="t"/>
          <a:lstStyle/>
          <a:p>
            <a:pPr marL="0" marR="0" lvl="0" indent="0" algn="l" defTabSz="914400" rtl="0" eaLnBrk="1" fontAlgn="auto" latinLnBrk="0" hangingPunct="1">
              <a:lnSpc>
                <a:spcPts val="1550"/>
              </a:lnSpc>
              <a:spcBef>
                <a:spcPts val="0"/>
              </a:spcBef>
              <a:spcAft>
                <a:spcPts val="0"/>
              </a:spcAft>
              <a:buClrTx/>
              <a:buSzTx/>
              <a:buFontTx/>
              <a:buNone/>
              <a:tabLst/>
              <a:defRPr/>
            </a:pPr>
            <a:r>
              <a:rPr kumimoji="0" lang="en-US" sz="1200" b="1" i="0" u="none" strike="noStrike" kern="1200" cap="none" spc="0" normalizeH="0" baseline="0" noProof="0">
                <a:ln>
                  <a:noFill/>
                </a:ln>
                <a:solidFill>
                  <a:srgbClr val="E2E6E9"/>
                </a:solidFill>
                <a:effectLst/>
                <a:uLnTx/>
                <a:uFillTx/>
                <a:latin typeface="Montserrat Bold" pitchFamily="34" charset="0"/>
                <a:ea typeface="Montserrat Bold" pitchFamily="34" charset="-122"/>
                <a:cs typeface="Montserrat Bold" pitchFamily="34" charset="-120"/>
              </a:rPr>
              <a:t>Construct Validity</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5"/>
          <p:cNvSpPr/>
          <p:nvPr/>
        </p:nvSpPr>
        <p:spPr>
          <a:xfrm>
            <a:off x="5427107" y="6705362"/>
            <a:ext cx="3984188" cy="832009"/>
          </a:xfrm>
          <a:prstGeom prst="rect">
            <a:avLst/>
          </a:prstGeom>
          <a:noFill/>
          <a:ln/>
        </p:spPr>
        <p:txBody>
          <a:bodyPr wrap="square" lIns="0" tIns="0" rIns="0" bIns="0" rtlCol="0" anchor="t"/>
          <a:lstStyle/>
          <a:p>
            <a:pPr marL="0" marR="0" lvl="0" indent="0" algn="l" defTabSz="914400" rtl="0" eaLnBrk="1" fontAlgn="auto" latinLnBrk="0" hangingPunct="1">
              <a:lnSpc>
                <a:spcPts val="1600"/>
              </a:lnSpc>
              <a:spcBef>
                <a:spcPts val="0"/>
              </a:spcBef>
              <a:spcAft>
                <a:spcPts val="0"/>
              </a:spcAft>
              <a:buClrTx/>
              <a:buSzTx/>
              <a:buFontTx/>
              <a:buNone/>
              <a:tabLst/>
              <a:defRPr/>
            </a:pPr>
            <a:r>
              <a:rPr kumimoji="0" lang="en-US" sz="1050" b="0"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The model's output will be correlated against the widely recognized NASA-TLX subjective workload scale. This ensures that the system is indeed measuring the intended construct of cognitive load, aligning with established psychometric standards.</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6"/>
          <p:cNvSpPr/>
          <p:nvPr/>
        </p:nvSpPr>
        <p:spPr>
          <a:xfrm>
            <a:off x="9584650" y="6498788"/>
            <a:ext cx="69294" cy="69294"/>
          </a:xfrm>
          <a:prstGeom prst="roundRect">
            <a:avLst>
              <a:gd name="adj" fmla="val 659797"/>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7"/>
          <p:cNvSpPr/>
          <p:nvPr/>
        </p:nvSpPr>
        <p:spPr>
          <a:xfrm>
            <a:off x="9792653" y="6425089"/>
            <a:ext cx="2134076" cy="197048"/>
          </a:xfrm>
          <a:prstGeom prst="rect">
            <a:avLst/>
          </a:prstGeom>
          <a:noFill/>
          <a:ln/>
        </p:spPr>
        <p:txBody>
          <a:bodyPr wrap="none" lIns="0" tIns="0" rIns="0" bIns="0" rtlCol="0" anchor="t"/>
          <a:lstStyle/>
          <a:p>
            <a:pPr marL="0" marR="0" lvl="0" indent="0" algn="l" defTabSz="914400" rtl="0" eaLnBrk="1" fontAlgn="auto" latinLnBrk="0" hangingPunct="1">
              <a:lnSpc>
                <a:spcPts val="1550"/>
              </a:lnSpc>
              <a:spcBef>
                <a:spcPts val="0"/>
              </a:spcBef>
              <a:spcAft>
                <a:spcPts val="0"/>
              </a:spcAft>
              <a:buClrTx/>
              <a:buSzTx/>
              <a:buFontTx/>
              <a:buNone/>
              <a:tabLst/>
              <a:defRPr/>
            </a:pPr>
            <a:r>
              <a:rPr kumimoji="0" lang="en-US" sz="1200" b="1" i="0" u="none" strike="noStrike" kern="1200" cap="none" spc="0" normalizeH="0" baseline="0" noProof="0">
                <a:ln>
                  <a:noFill/>
                </a:ln>
                <a:solidFill>
                  <a:srgbClr val="E2E6E9"/>
                </a:solidFill>
                <a:effectLst/>
                <a:uLnTx/>
                <a:uFillTx/>
                <a:latin typeface="Montserrat Bold" pitchFamily="34" charset="0"/>
                <a:ea typeface="Montserrat Bold" pitchFamily="34" charset="-122"/>
                <a:cs typeface="Montserrat Bold" pitchFamily="34" charset="-120"/>
              </a:rPr>
              <a:t>Temporal Responsiveness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38"/>
          <p:cNvSpPr/>
          <p:nvPr/>
        </p:nvSpPr>
        <p:spPr>
          <a:xfrm>
            <a:off x="9792653" y="6705362"/>
            <a:ext cx="3984188" cy="832009"/>
          </a:xfrm>
          <a:prstGeom prst="rect">
            <a:avLst/>
          </a:prstGeom>
          <a:noFill/>
          <a:ln/>
        </p:spPr>
        <p:txBody>
          <a:bodyPr wrap="square" lIns="0" tIns="0" rIns="0" bIns="0" rtlCol="0" anchor="t"/>
          <a:lstStyle/>
          <a:p>
            <a:pPr marL="0" marR="0" lvl="0" indent="0" algn="l" defTabSz="914400" rtl="0" eaLnBrk="1" fontAlgn="auto" latinLnBrk="0" hangingPunct="1">
              <a:lnSpc>
                <a:spcPts val="1600"/>
              </a:lnSpc>
              <a:spcBef>
                <a:spcPts val="0"/>
              </a:spcBef>
              <a:spcAft>
                <a:spcPts val="0"/>
              </a:spcAft>
              <a:buClrTx/>
              <a:buSzTx/>
              <a:buFontTx/>
              <a:buNone/>
              <a:tabLst/>
              <a:defRPr/>
            </a:pPr>
            <a:r>
              <a:rPr kumimoji="0" lang="en-US" sz="1050" b="0"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We will measure the system's ability to detect a change in cognitive state within 2 minutes of a shift in interaction patterns or a new micro-EMA rating. This rapid detection is crucial for timely adaptive interventions.</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Rectangle 42">
            <a:extLst>
              <a:ext uri="{FF2B5EF4-FFF2-40B4-BE49-F238E27FC236}">
                <a16:creationId xmlns:a16="http://schemas.microsoft.com/office/drawing/2014/main" id="{225FA15F-DA37-4052-F3E4-64A483A82208}"/>
              </a:ext>
            </a:extLst>
          </p:cNvPr>
          <p:cNvSpPr/>
          <p:nvPr/>
        </p:nvSpPr>
        <p:spPr>
          <a:xfrm>
            <a:off x="3158922" y="7791449"/>
            <a:ext cx="11471477" cy="438150"/>
          </a:xfrm>
          <a:prstGeom prst="rect">
            <a:avLst/>
          </a:prstGeom>
          <a:solidFill>
            <a:srgbClr val="1D1F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r>
              <a:rPr kumimoji="0" lang="en-US" sz="2160" b="1" i="0" u="none" strike="noStrike" kern="1200" cap="none" spc="0" normalizeH="0" baseline="0" noProof="0">
                <a:ln>
                  <a:noFill/>
                </a:ln>
                <a:solidFill>
                  <a:prstClr val="white"/>
                </a:solidFill>
                <a:effectLst/>
                <a:uLnTx/>
                <a:uFillTx/>
                <a:latin typeface="Cambria"/>
                <a:ea typeface="+mn-ea"/>
                <a:cs typeface="+mn-cs"/>
              </a:rPr>
              <a:t>IT22148254</a:t>
            </a:r>
            <a:r>
              <a:rPr kumimoji="0" lang="en-US" sz="2160" b="0" i="0" u="none" strike="noStrike" kern="1200" cap="none" spc="0" normalizeH="0" baseline="0" noProof="0">
                <a:ln>
                  <a:noFill/>
                </a:ln>
                <a:solidFill>
                  <a:prstClr val="white"/>
                </a:solidFill>
                <a:effectLst/>
                <a:uLnTx/>
                <a:uFillTx/>
                <a:latin typeface="Cambria"/>
                <a:ea typeface="+mn-ea"/>
                <a:cs typeface="+mn-cs"/>
              </a:rPr>
              <a:t>   |   BOGAGAWATTA B P S</a:t>
            </a:r>
            <a:r>
              <a:rPr kumimoji="0" lang="en-US" sz="2160" b="1" i="0" u="none" strike="noStrike" kern="1200" cap="none" spc="0" normalizeH="0" baseline="0" noProof="0">
                <a:ln>
                  <a:noFill/>
                </a:ln>
                <a:solidFill>
                  <a:prstClr val="white"/>
                </a:solidFill>
                <a:effectLst/>
                <a:uLnTx/>
                <a:uFillTx/>
                <a:latin typeface="Cambria"/>
                <a:ea typeface="+mn-ea"/>
                <a:cs typeface="+mn-cs"/>
              </a:rPr>
              <a:t>   </a:t>
            </a:r>
            <a:r>
              <a:rPr kumimoji="0" lang="en-US" sz="2160" b="0" i="0" u="none" strike="noStrike" kern="1200" cap="none" spc="0" normalizeH="0" baseline="0" noProof="0">
                <a:ln>
                  <a:noFill/>
                </a:ln>
                <a:solidFill>
                  <a:prstClr val="white"/>
                </a:solidFill>
                <a:effectLst/>
                <a:uLnTx/>
                <a:uFillTx/>
                <a:latin typeface="Cambria"/>
                <a:ea typeface="+mn-ea"/>
                <a:cs typeface="+mn-cs"/>
              </a:rPr>
              <a:t>|   25-26J-458</a:t>
            </a:r>
          </a:p>
        </p:txBody>
      </p:sp>
      <p:pic>
        <p:nvPicPr>
          <p:cNvPr id="44" name="Picture 43">
            <a:extLst>
              <a:ext uri="{FF2B5EF4-FFF2-40B4-BE49-F238E27FC236}">
                <a16:creationId xmlns:a16="http://schemas.microsoft.com/office/drawing/2014/main" id="{86E77D8C-742A-C38D-8FF4-0DE76477BAAA}"/>
              </a:ext>
            </a:extLst>
          </p:cNvPr>
          <p:cNvPicPr>
            <a:picLocks noChangeAspect="1"/>
          </p:cNvPicPr>
          <p:nvPr/>
        </p:nvPicPr>
        <p:blipFill>
          <a:blip r:embed="rId5"/>
          <a:stretch>
            <a:fillRect/>
          </a:stretch>
        </p:blipFill>
        <p:spPr>
          <a:xfrm>
            <a:off x="82192" y="7692983"/>
            <a:ext cx="3076730" cy="4667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920246" y="591622"/>
            <a:ext cx="8789908" cy="427077"/>
          </a:xfrm>
          <a:prstGeom prst="rect">
            <a:avLst/>
          </a:prstGeom>
          <a:noFill/>
          <a:ln/>
        </p:spPr>
        <p:txBody>
          <a:bodyPr wrap="none" lIns="0" tIns="0" rIns="0" bIns="0" rtlCol="0" anchor="t"/>
          <a:lstStyle/>
          <a:p>
            <a:pPr marL="0" marR="0" lvl="0" indent="0" algn="ctr" defTabSz="914400" rtl="0" eaLnBrk="1" fontAlgn="auto" latinLnBrk="0" hangingPunct="1">
              <a:lnSpc>
                <a:spcPts val="3350"/>
              </a:lnSpc>
              <a:spcBef>
                <a:spcPts val="0"/>
              </a:spcBef>
              <a:spcAft>
                <a:spcPts val="0"/>
              </a:spcAft>
              <a:buClrTx/>
              <a:buSzTx/>
              <a:buFontTx/>
              <a:buNone/>
              <a:tabLst/>
              <a:defRPr/>
            </a:pPr>
            <a:r>
              <a:rPr kumimoji="0" lang="en-US" sz="2650" b="1" i="0" u="none" strike="noStrike" kern="1200" cap="none" spc="0" normalizeH="0" baseline="0" noProof="0">
                <a:ln>
                  <a:noFill/>
                </a:ln>
                <a:solidFill>
                  <a:srgbClr val="000000"/>
                </a:solidFill>
                <a:effectLst/>
                <a:uLnTx/>
                <a:uFillTx/>
                <a:latin typeface="Montserrat Bold" pitchFamily="34" charset="0"/>
                <a:ea typeface="Montserrat Bold" pitchFamily="34" charset="-122"/>
                <a:cs typeface="Montserrat Bold" pitchFamily="34" charset="-120"/>
              </a:rPr>
              <a:t>Cognitive load estimator : Self-Evaluation Criteria</a:t>
            </a:r>
            <a:endParaRPr kumimoji="0" lang="en-US" sz="26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859036" y="1319332"/>
            <a:ext cx="12912328" cy="225504"/>
          </a:xfrm>
          <a:prstGeom prst="rect">
            <a:avLst/>
          </a:prstGeom>
          <a:noFill/>
          <a:ln/>
        </p:spPr>
        <p:txBody>
          <a:bodyPr wrap="none" lIns="0" tIns="0" rIns="0" bIns="0" rtlCol="0" anchor="t"/>
          <a:lstStyle/>
          <a:p>
            <a:pPr marL="0" marR="0" lvl="0" indent="0" algn="l" defTabSz="914400" rtl="0" eaLnBrk="1" fontAlgn="auto" latinLnBrk="0" hangingPunct="1">
              <a:lnSpc>
                <a:spcPts val="1750"/>
              </a:lnSpc>
              <a:spcBef>
                <a:spcPts val="0"/>
              </a:spcBef>
              <a:spcAft>
                <a:spcPts val="0"/>
              </a:spcAft>
              <a:buClrTx/>
              <a:buSzTx/>
              <a:buFontTx/>
              <a:buNone/>
              <a:tabLst/>
              <a:defRPr/>
            </a:pPr>
            <a:r>
              <a:rPr kumimoji="0" lang="en-US" sz="1150" b="0" i="0" u="none" strike="noStrike" kern="1200" cap="none" spc="0" normalizeH="0" baseline="0" noProof="0">
                <a:ln>
                  <a:noFill/>
                </a:ln>
                <a:solidFill>
                  <a:srgbClr val="000000"/>
                </a:solidFill>
                <a:effectLst/>
                <a:uLnTx/>
                <a:uFillTx/>
                <a:latin typeface="Source Sans 3" pitchFamily="34" charset="0"/>
                <a:ea typeface="Source Sans 3" pitchFamily="34" charset="-122"/>
                <a:cs typeface="Source Sans 3" pitchFamily="34" charset="-120"/>
              </a:rPr>
              <a:t>This project is complete when the sensing module meets these rigorous targets:</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59036" y="1713905"/>
            <a:ext cx="12912328" cy="902018"/>
          </a:xfrm>
          <a:prstGeom prst="roundRect">
            <a:avLst>
              <a:gd name="adj" fmla="val 2500"/>
            </a:avLst>
          </a:prstGeom>
          <a:solidFill>
            <a:srgbClr val="E2E6E9"/>
          </a:solidFill>
          <a:ln w="15240">
            <a:solidFill>
              <a:srgbClr val="494A4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874276" y="1729145"/>
            <a:ext cx="601385" cy="871538"/>
          </a:xfrm>
          <a:prstGeom prst="roundRect">
            <a:avLst>
              <a:gd name="adj" fmla="val 709"/>
            </a:avLst>
          </a:prstGeom>
          <a:solidFill>
            <a:srgbClr val="30313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062157" y="2023943"/>
            <a:ext cx="225504" cy="281821"/>
          </a:xfrm>
          <a:prstGeom prst="rect">
            <a:avLst/>
          </a:prstGeom>
          <a:noFill/>
          <a:ln/>
        </p:spPr>
        <p:txBody>
          <a:bodyPr wrap="none" lIns="0" tIns="0" rIns="0" bIns="0" rtlCol="0" anchor="t"/>
          <a:lstStyle/>
          <a:p>
            <a:pPr marL="0" marR="0" lvl="0" indent="0" algn="l" defTabSz="914400" rtl="0" eaLnBrk="1" fontAlgn="auto" latinLnBrk="0" hangingPunct="1">
              <a:lnSpc>
                <a:spcPts val="1750"/>
              </a:lnSpc>
              <a:spcBef>
                <a:spcPts val="0"/>
              </a:spcBef>
              <a:spcAft>
                <a:spcPts val="0"/>
              </a:spcAft>
              <a:buClrTx/>
              <a:buSzTx/>
              <a:buFontTx/>
              <a:buNone/>
              <a:tabLst/>
              <a:defRPr/>
            </a:pPr>
            <a:r>
              <a:rPr kumimoji="0" lang="en-US" sz="1750" b="1" i="0" u="none" strike="noStrike" kern="1200" cap="none" spc="0" normalizeH="0" baseline="0" noProof="0">
                <a:ln>
                  <a:noFill/>
                </a:ln>
                <a:solidFill>
                  <a:srgbClr val="FFFFFF"/>
                </a:solidFill>
                <a:effectLst/>
                <a:uLnTx/>
                <a:uFillTx/>
                <a:latin typeface="Montserrat Bold" pitchFamily="34" charset="0"/>
                <a:ea typeface="Montserrat Bold" pitchFamily="34" charset="-122"/>
                <a:cs typeface="Montserrat Bold" pitchFamily="34" charset="-120"/>
              </a:rPr>
              <a:t>1</a:t>
            </a:r>
            <a:endParaRPr kumimoji="0" lang="en-US" sz="17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1625918" y="1879402"/>
            <a:ext cx="2023110" cy="213479"/>
          </a:xfrm>
          <a:prstGeom prst="rect">
            <a:avLst/>
          </a:prstGeom>
          <a:noFill/>
          <a:ln/>
        </p:spPr>
        <p:txBody>
          <a:bodyPr wrap="none" lIns="0" tIns="0" rIns="0" bIns="0" rtlCol="0" anchor="t"/>
          <a:lstStyle/>
          <a:p>
            <a:pPr marL="0" marR="0" lvl="0" indent="0" algn="l" defTabSz="914400" rtl="0" eaLnBrk="1" fontAlgn="auto" latinLnBrk="0" hangingPunct="1">
              <a:lnSpc>
                <a:spcPts val="1650"/>
              </a:lnSpc>
              <a:spcBef>
                <a:spcPts val="0"/>
              </a:spcBef>
              <a:spcAft>
                <a:spcPts val="0"/>
              </a:spcAft>
              <a:buClrTx/>
              <a:buSzTx/>
              <a:buFontTx/>
              <a:buNone/>
              <a:tabLst/>
              <a:defRPr/>
            </a:pPr>
            <a:r>
              <a:rPr kumimoji="0" lang="en-US" sz="1300" b="1" i="0" u="none" strike="noStrike" kern="1200" cap="none" spc="0" normalizeH="0" baseline="0" noProof="0">
                <a:ln>
                  <a:noFill/>
                </a:ln>
                <a:solidFill>
                  <a:srgbClr val="000000"/>
                </a:solidFill>
                <a:effectLst/>
                <a:uLnTx/>
                <a:uFillTx/>
                <a:latin typeface="Montserrat Bold" pitchFamily="34" charset="0"/>
                <a:ea typeface="Montserrat Bold" pitchFamily="34" charset="-122"/>
                <a:cs typeface="Montserrat Bold" pitchFamily="34" charset="-120"/>
              </a:rPr>
              <a:t>Predictive Accuracy (r)</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1625918" y="2183011"/>
            <a:ext cx="12130207" cy="225504"/>
          </a:xfrm>
          <a:prstGeom prst="rect">
            <a:avLst/>
          </a:prstGeom>
          <a:noFill/>
          <a:ln/>
        </p:spPr>
        <p:txBody>
          <a:bodyPr wrap="none" lIns="0" tIns="0" rIns="0" bIns="0" rtlCol="0" anchor="t"/>
          <a:lstStyle/>
          <a:p>
            <a:pPr marL="0" marR="0" lvl="0" indent="0" algn="l" defTabSz="914400" rtl="0" eaLnBrk="1" fontAlgn="auto" latinLnBrk="0" hangingPunct="1">
              <a:lnSpc>
                <a:spcPts val="1750"/>
              </a:lnSpc>
              <a:spcBef>
                <a:spcPts val="0"/>
              </a:spcBef>
              <a:spcAft>
                <a:spcPts val="0"/>
              </a:spcAft>
              <a:buClrTx/>
              <a:buSzTx/>
              <a:buFontTx/>
              <a:buNone/>
              <a:tabLst/>
              <a:defRPr/>
            </a:pPr>
            <a:r>
              <a:rPr kumimoji="0" lang="en-US" sz="1150" b="0" i="0" u="none" strike="noStrike" kern="1200" cap="none" spc="0" normalizeH="0" baseline="0" noProof="0">
                <a:ln>
                  <a:noFill/>
                </a:ln>
                <a:solidFill>
                  <a:srgbClr val="000000"/>
                </a:solidFill>
                <a:effectLst/>
                <a:uLnTx/>
                <a:uFillTx/>
                <a:latin typeface="Source Sans 3" pitchFamily="34" charset="0"/>
                <a:ea typeface="Source Sans 3" pitchFamily="34" charset="-122"/>
                <a:cs typeface="Source Sans 3" pitchFamily="34" charset="-120"/>
              </a:rPr>
              <a:t>Correlation between predicted load and user-reported EMA: </a:t>
            </a:r>
            <a:r>
              <a:rPr kumimoji="0" lang="en-US" sz="1150" b="1" i="0" u="none" strike="noStrike" kern="1200" cap="none" spc="0" normalizeH="0" baseline="0" noProof="0">
                <a:ln>
                  <a:noFill/>
                </a:ln>
                <a:solidFill>
                  <a:srgbClr val="000000"/>
                </a:solidFill>
                <a:effectLst/>
                <a:uLnTx/>
                <a:uFillTx/>
                <a:latin typeface="Source Sans 3" pitchFamily="34" charset="0"/>
                <a:ea typeface="Source Sans 3" pitchFamily="34" charset="-122"/>
                <a:cs typeface="Source Sans 3" pitchFamily="34" charset="-120"/>
              </a:rPr>
              <a:t>r &gt; 0.5</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859036" y="2766179"/>
            <a:ext cx="12912328" cy="902018"/>
          </a:xfrm>
          <a:prstGeom prst="roundRect">
            <a:avLst>
              <a:gd name="adj" fmla="val 2500"/>
            </a:avLst>
          </a:prstGeom>
          <a:solidFill>
            <a:srgbClr val="E2E6E9"/>
          </a:solidFill>
          <a:ln w="15240">
            <a:solidFill>
              <a:srgbClr val="494A4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874276" y="2781419"/>
            <a:ext cx="601385" cy="871538"/>
          </a:xfrm>
          <a:prstGeom prst="roundRect">
            <a:avLst>
              <a:gd name="adj" fmla="val 709"/>
            </a:avLst>
          </a:prstGeom>
          <a:solidFill>
            <a:srgbClr val="30313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1062157" y="3076218"/>
            <a:ext cx="225504" cy="281821"/>
          </a:xfrm>
          <a:prstGeom prst="rect">
            <a:avLst/>
          </a:prstGeom>
          <a:noFill/>
          <a:ln/>
        </p:spPr>
        <p:txBody>
          <a:bodyPr wrap="none" lIns="0" tIns="0" rIns="0" bIns="0" rtlCol="0" anchor="t"/>
          <a:lstStyle/>
          <a:p>
            <a:pPr marL="0" marR="0" lvl="0" indent="0" algn="l" defTabSz="914400" rtl="0" eaLnBrk="1" fontAlgn="auto" latinLnBrk="0" hangingPunct="1">
              <a:lnSpc>
                <a:spcPts val="1750"/>
              </a:lnSpc>
              <a:spcBef>
                <a:spcPts val="0"/>
              </a:spcBef>
              <a:spcAft>
                <a:spcPts val="0"/>
              </a:spcAft>
              <a:buClrTx/>
              <a:buSzTx/>
              <a:buFontTx/>
              <a:buNone/>
              <a:tabLst/>
              <a:defRPr/>
            </a:pPr>
            <a:r>
              <a:rPr kumimoji="0" lang="en-US" sz="1750" b="1" i="0" u="none" strike="noStrike" kern="1200" cap="none" spc="0" normalizeH="0" baseline="0" noProof="0">
                <a:ln>
                  <a:noFill/>
                </a:ln>
                <a:solidFill>
                  <a:srgbClr val="FFFFFF"/>
                </a:solidFill>
                <a:effectLst/>
                <a:uLnTx/>
                <a:uFillTx/>
                <a:latin typeface="Montserrat Bold" pitchFamily="34" charset="0"/>
                <a:ea typeface="Montserrat Bold" pitchFamily="34" charset="-122"/>
                <a:cs typeface="Montserrat Bold" pitchFamily="34" charset="-120"/>
              </a:rPr>
              <a:t>2</a:t>
            </a:r>
            <a:endParaRPr kumimoji="0" lang="en-US" sz="17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1625918" y="2931676"/>
            <a:ext cx="1832015" cy="213479"/>
          </a:xfrm>
          <a:prstGeom prst="rect">
            <a:avLst/>
          </a:prstGeom>
          <a:noFill/>
          <a:ln/>
        </p:spPr>
        <p:txBody>
          <a:bodyPr wrap="none" lIns="0" tIns="0" rIns="0" bIns="0" rtlCol="0" anchor="t"/>
          <a:lstStyle/>
          <a:p>
            <a:pPr marL="0" marR="0" lvl="0" indent="0" algn="l" defTabSz="914400" rtl="0" eaLnBrk="1" fontAlgn="auto" latinLnBrk="0" hangingPunct="1">
              <a:lnSpc>
                <a:spcPts val="1650"/>
              </a:lnSpc>
              <a:spcBef>
                <a:spcPts val="0"/>
              </a:spcBef>
              <a:spcAft>
                <a:spcPts val="0"/>
              </a:spcAft>
              <a:buClrTx/>
              <a:buSzTx/>
              <a:buFontTx/>
              <a:buNone/>
              <a:tabLst/>
              <a:defRPr/>
            </a:pPr>
            <a:r>
              <a:rPr kumimoji="0" lang="en-US" sz="1300" b="1" i="0" u="none" strike="noStrike" kern="1200" cap="none" spc="0" normalizeH="0" baseline="0" noProof="0">
                <a:ln>
                  <a:noFill/>
                </a:ln>
                <a:solidFill>
                  <a:srgbClr val="000000"/>
                </a:solidFill>
                <a:effectLst/>
                <a:uLnTx/>
                <a:uFillTx/>
                <a:latin typeface="Montserrat Bold" pitchFamily="34" charset="0"/>
                <a:ea typeface="Montserrat Bold" pitchFamily="34" charset="-122"/>
                <a:cs typeface="Montserrat Bold" pitchFamily="34" charset="-120"/>
              </a:rPr>
              <a:t>Mean Absolute Error</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1625918" y="3235285"/>
            <a:ext cx="12130207" cy="225504"/>
          </a:xfrm>
          <a:prstGeom prst="rect">
            <a:avLst/>
          </a:prstGeom>
          <a:noFill/>
          <a:ln/>
        </p:spPr>
        <p:txBody>
          <a:bodyPr wrap="none" lIns="0" tIns="0" rIns="0" bIns="0" rtlCol="0" anchor="t"/>
          <a:lstStyle/>
          <a:p>
            <a:pPr marL="0" marR="0" lvl="0" indent="0" algn="l" defTabSz="914400" rtl="0" eaLnBrk="1" fontAlgn="auto" latinLnBrk="0" hangingPunct="1">
              <a:lnSpc>
                <a:spcPts val="1750"/>
              </a:lnSpc>
              <a:spcBef>
                <a:spcPts val="0"/>
              </a:spcBef>
              <a:spcAft>
                <a:spcPts val="0"/>
              </a:spcAft>
              <a:buClrTx/>
              <a:buSzTx/>
              <a:buFontTx/>
              <a:buNone/>
              <a:tabLst/>
              <a:defRPr/>
            </a:pPr>
            <a:r>
              <a:rPr kumimoji="0" lang="en-US" sz="1150" b="0" i="0" u="none" strike="noStrike" kern="1200" cap="none" spc="0" normalizeH="0" baseline="0" noProof="0">
                <a:ln>
                  <a:noFill/>
                </a:ln>
                <a:solidFill>
                  <a:srgbClr val="000000"/>
                </a:solidFill>
                <a:effectLst/>
                <a:uLnTx/>
                <a:uFillTx/>
                <a:latin typeface="Source Sans 3" pitchFamily="34" charset="0"/>
                <a:ea typeface="Source Sans 3" pitchFamily="34" charset="-122"/>
                <a:cs typeface="Source Sans 3" pitchFamily="34" charset="-120"/>
              </a:rPr>
              <a:t>Average error on the 1-5 cognitive load scale: </a:t>
            </a:r>
            <a:r>
              <a:rPr kumimoji="0" lang="en-US" sz="1150" b="1" i="0" u="none" strike="noStrike" kern="1200" cap="none" spc="0" normalizeH="0" baseline="0" noProof="0">
                <a:ln>
                  <a:noFill/>
                </a:ln>
                <a:solidFill>
                  <a:srgbClr val="000000"/>
                </a:solidFill>
                <a:effectLst/>
                <a:uLnTx/>
                <a:uFillTx/>
                <a:latin typeface="Source Sans 3" pitchFamily="34" charset="0"/>
                <a:ea typeface="Source Sans 3" pitchFamily="34" charset="-122"/>
                <a:cs typeface="Source Sans 3" pitchFamily="34" charset="-120"/>
              </a:rPr>
              <a:t>&lt; 0.7</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859036" y="3818453"/>
            <a:ext cx="12912328" cy="902018"/>
          </a:xfrm>
          <a:prstGeom prst="roundRect">
            <a:avLst>
              <a:gd name="adj" fmla="val 2500"/>
            </a:avLst>
          </a:prstGeom>
          <a:solidFill>
            <a:srgbClr val="E2E6E9"/>
          </a:solidFill>
          <a:ln w="15240">
            <a:solidFill>
              <a:srgbClr val="494A4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874276" y="3833693"/>
            <a:ext cx="601385" cy="871538"/>
          </a:xfrm>
          <a:prstGeom prst="roundRect">
            <a:avLst>
              <a:gd name="adj" fmla="val 709"/>
            </a:avLst>
          </a:prstGeom>
          <a:solidFill>
            <a:srgbClr val="30313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1062157" y="4128492"/>
            <a:ext cx="225504" cy="281821"/>
          </a:xfrm>
          <a:prstGeom prst="rect">
            <a:avLst/>
          </a:prstGeom>
          <a:noFill/>
          <a:ln/>
        </p:spPr>
        <p:txBody>
          <a:bodyPr wrap="none" lIns="0" tIns="0" rIns="0" bIns="0" rtlCol="0" anchor="t"/>
          <a:lstStyle/>
          <a:p>
            <a:pPr marL="0" marR="0" lvl="0" indent="0" algn="l" defTabSz="914400" rtl="0" eaLnBrk="1" fontAlgn="auto" latinLnBrk="0" hangingPunct="1">
              <a:lnSpc>
                <a:spcPts val="1750"/>
              </a:lnSpc>
              <a:spcBef>
                <a:spcPts val="0"/>
              </a:spcBef>
              <a:spcAft>
                <a:spcPts val="0"/>
              </a:spcAft>
              <a:buClrTx/>
              <a:buSzTx/>
              <a:buFontTx/>
              <a:buNone/>
              <a:tabLst/>
              <a:defRPr/>
            </a:pPr>
            <a:r>
              <a:rPr kumimoji="0" lang="en-US" sz="1750" b="1" i="0" u="none" strike="noStrike" kern="1200" cap="none" spc="0" normalizeH="0" baseline="0" noProof="0">
                <a:ln>
                  <a:noFill/>
                </a:ln>
                <a:solidFill>
                  <a:srgbClr val="FFFFFF"/>
                </a:solidFill>
                <a:effectLst/>
                <a:uLnTx/>
                <a:uFillTx/>
                <a:latin typeface="Montserrat Bold" pitchFamily="34" charset="0"/>
                <a:ea typeface="Montserrat Bold" pitchFamily="34" charset="-122"/>
                <a:cs typeface="Montserrat Bold" pitchFamily="34" charset="-120"/>
              </a:rPr>
              <a:t>3</a:t>
            </a:r>
            <a:endParaRPr kumimoji="0" lang="en-US" sz="17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1625918" y="3983950"/>
            <a:ext cx="1708428" cy="213479"/>
          </a:xfrm>
          <a:prstGeom prst="rect">
            <a:avLst/>
          </a:prstGeom>
          <a:noFill/>
          <a:ln/>
        </p:spPr>
        <p:txBody>
          <a:bodyPr wrap="none" lIns="0" tIns="0" rIns="0" bIns="0" rtlCol="0" anchor="t"/>
          <a:lstStyle/>
          <a:p>
            <a:pPr marL="0" marR="0" lvl="0" indent="0" algn="l" defTabSz="914400" rtl="0" eaLnBrk="1" fontAlgn="auto" latinLnBrk="0" hangingPunct="1">
              <a:lnSpc>
                <a:spcPts val="1650"/>
              </a:lnSpc>
              <a:spcBef>
                <a:spcPts val="0"/>
              </a:spcBef>
              <a:spcAft>
                <a:spcPts val="0"/>
              </a:spcAft>
              <a:buClrTx/>
              <a:buSzTx/>
              <a:buFontTx/>
              <a:buNone/>
              <a:tabLst/>
              <a:defRPr/>
            </a:pPr>
            <a:r>
              <a:rPr kumimoji="0" lang="en-US" sz="1300" b="1" i="0" u="none" strike="noStrike" kern="1200" cap="none" spc="0" normalizeH="0" baseline="0" noProof="0">
                <a:ln>
                  <a:noFill/>
                </a:ln>
                <a:solidFill>
                  <a:srgbClr val="000000"/>
                </a:solidFill>
                <a:effectLst/>
                <a:uLnTx/>
                <a:uFillTx/>
                <a:latin typeface="Montserrat Bold" pitchFamily="34" charset="0"/>
                <a:ea typeface="Montserrat Bold" pitchFamily="34" charset="-122"/>
                <a:cs typeface="Montserrat Bold" pitchFamily="34" charset="-120"/>
              </a:rPr>
              <a:t>Responsiveness</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1625918" y="4287560"/>
            <a:ext cx="12130207" cy="225504"/>
          </a:xfrm>
          <a:prstGeom prst="rect">
            <a:avLst/>
          </a:prstGeom>
          <a:noFill/>
          <a:ln/>
        </p:spPr>
        <p:txBody>
          <a:bodyPr wrap="none" lIns="0" tIns="0" rIns="0" bIns="0" rtlCol="0" anchor="t"/>
          <a:lstStyle/>
          <a:p>
            <a:pPr marL="0" marR="0" lvl="0" indent="0" algn="l" defTabSz="914400" rtl="0" eaLnBrk="1" fontAlgn="auto" latinLnBrk="0" hangingPunct="1">
              <a:lnSpc>
                <a:spcPts val="1750"/>
              </a:lnSpc>
              <a:spcBef>
                <a:spcPts val="0"/>
              </a:spcBef>
              <a:spcAft>
                <a:spcPts val="0"/>
              </a:spcAft>
              <a:buClrTx/>
              <a:buSzTx/>
              <a:buFontTx/>
              <a:buNone/>
              <a:tabLst/>
              <a:defRPr/>
            </a:pPr>
            <a:r>
              <a:rPr kumimoji="0" lang="en-US" sz="1150" b="0" i="0" u="none" strike="noStrike" kern="1200" cap="none" spc="0" normalizeH="0" baseline="0" noProof="0">
                <a:ln>
                  <a:noFill/>
                </a:ln>
                <a:solidFill>
                  <a:srgbClr val="000000"/>
                </a:solidFill>
                <a:effectLst/>
                <a:uLnTx/>
                <a:uFillTx/>
                <a:latin typeface="Source Sans 3" pitchFamily="34" charset="0"/>
                <a:ea typeface="Source Sans 3" pitchFamily="34" charset="-122"/>
                <a:cs typeface="Source Sans 3" pitchFamily="34" charset="-120"/>
              </a:rPr>
              <a:t>Time to detect a significant change in user state: </a:t>
            </a:r>
            <a:r>
              <a:rPr kumimoji="0" lang="en-US" sz="1150" b="1" i="0" u="none" strike="noStrike" kern="1200" cap="none" spc="0" normalizeH="0" baseline="0" noProof="0">
                <a:ln>
                  <a:noFill/>
                </a:ln>
                <a:solidFill>
                  <a:srgbClr val="000000"/>
                </a:solidFill>
                <a:effectLst/>
                <a:uLnTx/>
                <a:uFillTx/>
                <a:latin typeface="Source Sans 3" pitchFamily="34" charset="0"/>
                <a:ea typeface="Source Sans 3" pitchFamily="34" charset="-122"/>
                <a:cs typeface="Source Sans 3" pitchFamily="34" charset="-120"/>
              </a:rPr>
              <a:t>&lt; 2 min</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859036" y="4870728"/>
            <a:ext cx="12912328" cy="902018"/>
          </a:xfrm>
          <a:prstGeom prst="roundRect">
            <a:avLst>
              <a:gd name="adj" fmla="val 2500"/>
            </a:avLst>
          </a:prstGeom>
          <a:solidFill>
            <a:srgbClr val="E2E6E9"/>
          </a:solidFill>
          <a:ln w="15240">
            <a:solidFill>
              <a:srgbClr val="494A4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874276" y="4885968"/>
            <a:ext cx="601385" cy="871538"/>
          </a:xfrm>
          <a:prstGeom prst="roundRect">
            <a:avLst>
              <a:gd name="adj" fmla="val 709"/>
            </a:avLst>
          </a:prstGeom>
          <a:solidFill>
            <a:srgbClr val="30313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1062157" y="5180767"/>
            <a:ext cx="225504" cy="281821"/>
          </a:xfrm>
          <a:prstGeom prst="rect">
            <a:avLst/>
          </a:prstGeom>
          <a:noFill/>
          <a:ln/>
        </p:spPr>
        <p:txBody>
          <a:bodyPr wrap="none" lIns="0" tIns="0" rIns="0" bIns="0" rtlCol="0" anchor="t"/>
          <a:lstStyle/>
          <a:p>
            <a:pPr marL="0" marR="0" lvl="0" indent="0" algn="l" defTabSz="914400" rtl="0" eaLnBrk="1" fontAlgn="auto" latinLnBrk="0" hangingPunct="1">
              <a:lnSpc>
                <a:spcPts val="1750"/>
              </a:lnSpc>
              <a:spcBef>
                <a:spcPts val="0"/>
              </a:spcBef>
              <a:spcAft>
                <a:spcPts val="0"/>
              </a:spcAft>
              <a:buClrTx/>
              <a:buSzTx/>
              <a:buFontTx/>
              <a:buNone/>
              <a:tabLst/>
              <a:defRPr/>
            </a:pPr>
            <a:r>
              <a:rPr kumimoji="0" lang="en-US" sz="1750" b="1" i="0" u="none" strike="noStrike" kern="1200" cap="none" spc="0" normalizeH="0" baseline="0" noProof="0">
                <a:ln>
                  <a:noFill/>
                </a:ln>
                <a:solidFill>
                  <a:srgbClr val="FFFFFF"/>
                </a:solidFill>
                <a:effectLst/>
                <a:uLnTx/>
                <a:uFillTx/>
                <a:latin typeface="Montserrat Bold" pitchFamily="34" charset="0"/>
                <a:ea typeface="Montserrat Bold" pitchFamily="34" charset="-122"/>
                <a:cs typeface="Montserrat Bold" pitchFamily="34" charset="-120"/>
              </a:rPr>
              <a:t>4</a:t>
            </a:r>
            <a:endParaRPr kumimoji="0" lang="en-US" sz="17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1625918" y="5036225"/>
            <a:ext cx="1846897" cy="213479"/>
          </a:xfrm>
          <a:prstGeom prst="rect">
            <a:avLst/>
          </a:prstGeom>
          <a:noFill/>
          <a:ln/>
        </p:spPr>
        <p:txBody>
          <a:bodyPr wrap="none" lIns="0" tIns="0" rIns="0" bIns="0" rtlCol="0" anchor="t"/>
          <a:lstStyle/>
          <a:p>
            <a:pPr marL="0" marR="0" lvl="0" indent="0" algn="l" defTabSz="914400" rtl="0" eaLnBrk="1" fontAlgn="auto" latinLnBrk="0" hangingPunct="1">
              <a:lnSpc>
                <a:spcPts val="1650"/>
              </a:lnSpc>
              <a:spcBef>
                <a:spcPts val="0"/>
              </a:spcBef>
              <a:spcAft>
                <a:spcPts val="0"/>
              </a:spcAft>
              <a:buClrTx/>
              <a:buSzTx/>
              <a:buFontTx/>
              <a:buNone/>
              <a:tabLst/>
              <a:defRPr/>
            </a:pPr>
            <a:r>
              <a:rPr kumimoji="0" lang="en-US" sz="1300" b="1" i="0" u="none" strike="noStrike" kern="1200" cap="none" spc="0" normalizeH="0" baseline="0" noProof="0">
                <a:ln>
                  <a:noFill/>
                </a:ln>
                <a:solidFill>
                  <a:srgbClr val="000000"/>
                </a:solidFill>
                <a:effectLst/>
                <a:uLnTx/>
                <a:uFillTx/>
                <a:latin typeface="Montserrat Bold" pitchFamily="34" charset="0"/>
                <a:ea typeface="Montserrat Bold" pitchFamily="34" charset="-122"/>
                <a:cs typeface="Montserrat Bold" pitchFamily="34" charset="-120"/>
              </a:rPr>
              <a:t>Performance Impact</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1625918" y="5339834"/>
            <a:ext cx="12130207" cy="225504"/>
          </a:xfrm>
          <a:prstGeom prst="rect">
            <a:avLst/>
          </a:prstGeom>
          <a:noFill/>
          <a:ln/>
        </p:spPr>
        <p:txBody>
          <a:bodyPr wrap="none" lIns="0" tIns="0" rIns="0" bIns="0" rtlCol="0" anchor="t"/>
          <a:lstStyle/>
          <a:p>
            <a:pPr marL="0" marR="0" lvl="0" indent="0" algn="l" defTabSz="914400" rtl="0" eaLnBrk="1" fontAlgn="auto" latinLnBrk="0" hangingPunct="1">
              <a:lnSpc>
                <a:spcPts val="1750"/>
              </a:lnSpc>
              <a:spcBef>
                <a:spcPts val="0"/>
              </a:spcBef>
              <a:spcAft>
                <a:spcPts val="0"/>
              </a:spcAft>
              <a:buClrTx/>
              <a:buSzTx/>
              <a:buFontTx/>
              <a:buNone/>
              <a:tabLst/>
              <a:defRPr/>
            </a:pPr>
            <a:r>
              <a:rPr kumimoji="0" lang="en-US" sz="1150" b="0" i="0" u="none" strike="noStrike" kern="1200" cap="none" spc="0" normalizeH="0" baseline="0" noProof="0">
                <a:ln>
                  <a:noFill/>
                </a:ln>
                <a:solidFill>
                  <a:srgbClr val="000000"/>
                </a:solidFill>
                <a:effectLst/>
                <a:uLnTx/>
                <a:uFillTx/>
                <a:latin typeface="Source Sans 3" pitchFamily="34" charset="0"/>
                <a:ea typeface="Source Sans 3" pitchFamily="34" charset="-122"/>
                <a:cs typeface="Source Sans 3" pitchFamily="34" charset="-120"/>
              </a:rPr>
              <a:t>Extra battery consumption caused by the module: </a:t>
            </a:r>
            <a:r>
              <a:rPr kumimoji="0" lang="en-US" sz="1150" b="1" i="0" u="none" strike="noStrike" kern="1200" cap="none" spc="0" normalizeH="0" baseline="0" noProof="0">
                <a:ln>
                  <a:noFill/>
                </a:ln>
                <a:solidFill>
                  <a:srgbClr val="000000"/>
                </a:solidFill>
                <a:effectLst/>
                <a:uLnTx/>
                <a:uFillTx/>
                <a:latin typeface="Source Sans 3" pitchFamily="34" charset="0"/>
                <a:ea typeface="Source Sans 3" pitchFamily="34" charset="-122"/>
                <a:cs typeface="Source Sans 3" pitchFamily="34" charset="-120"/>
              </a:rPr>
              <a:t>&lt; 5%</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859036" y="5998250"/>
            <a:ext cx="4127302" cy="256223"/>
          </a:xfrm>
          <a:prstGeom prst="rect">
            <a:avLst/>
          </a:prstGeom>
          <a:noFill/>
          <a:ln/>
        </p:spPr>
        <p:txBody>
          <a:bodyPr wrap="none" lIns="0" tIns="0" rIns="0" bIns="0"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Montserrat Bold" pitchFamily="34" charset="0"/>
                <a:ea typeface="Montserrat Bold" pitchFamily="34" charset="-122"/>
                <a:cs typeface="Montserrat Bold" pitchFamily="34" charset="-120"/>
              </a:rPr>
              <a:t>Data Availability and Ethical Clearance</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859036" y="6479977"/>
            <a:ext cx="6381036" cy="1158002"/>
          </a:xfrm>
          <a:prstGeom prst="roundRect">
            <a:avLst>
              <a:gd name="adj" fmla="val 1948"/>
            </a:avLst>
          </a:prstGeom>
          <a:solidFill>
            <a:srgbClr val="E2E6E9"/>
          </a:solidFill>
          <a:ln w="15240">
            <a:solidFill>
              <a:srgbClr val="494A4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6" name="Image 0" descr="preencoded.png"/>
          <p:cNvPicPr>
            <a:picLocks noChangeAspect="1"/>
          </p:cNvPicPr>
          <p:nvPr/>
        </p:nvPicPr>
        <p:blipFill>
          <a:blip r:embed="rId3"/>
          <a:stretch>
            <a:fillRect/>
          </a:stretch>
        </p:blipFill>
        <p:spPr>
          <a:xfrm>
            <a:off x="784146" y="6405086"/>
            <a:ext cx="180380" cy="180380"/>
          </a:xfrm>
          <a:prstGeom prst="rect">
            <a:avLst/>
          </a:prstGeom>
        </p:spPr>
      </p:pic>
      <p:pic>
        <p:nvPicPr>
          <p:cNvPr id="27" name="Image 1" descr="preencoded.png"/>
          <p:cNvPicPr>
            <a:picLocks noChangeAspect="1"/>
          </p:cNvPicPr>
          <p:nvPr/>
        </p:nvPicPr>
        <p:blipFill>
          <a:blip r:embed="rId3"/>
          <a:stretch>
            <a:fillRect/>
          </a:stretch>
        </p:blipFill>
        <p:spPr>
          <a:xfrm>
            <a:off x="7134582" y="7532489"/>
            <a:ext cx="180380" cy="180380"/>
          </a:xfrm>
          <a:prstGeom prst="rect">
            <a:avLst/>
          </a:prstGeom>
        </p:spPr>
      </p:pic>
      <p:sp>
        <p:nvSpPr>
          <p:cNvPr id="28" name="Text 24"/>
          <p:cNvSpPr/>
          <p:nvPr/>
        </p:nvSpPr>
        <p:spPr>
          <a:xfrm>
            <a:off x="1099780" y="6720721"/>
            <a:ext cx="5899547" cy="676513"/>
          </a:xfrm>
          <a:prstGeom prst="rect">
            <a:avLst/>
          </a:prstGeom>
          <a:noFill/>
          <a:ln/>
        </p:spPr>
        <p:txBody>
          <a:bodyPr wrap="square" lIns="0" tIns="0" rIns="0" bIns="0" rtlCol="0" anchor="t"/>
          <a:lstStyle/>
          <a:p>
            <a:pPr marL="0" marR="0" lvl="0" indent="0" algn="l" defTabSz="914400" rtl="0" eaLnBrk="1" fontAlgn="auto" latinLnBrk="0" hangingPunct="1">
              <a:lnSpc>
                <a:spcPts val="1750"/>
              </a:lnSpc>
              <a:spcBef>
                <a:spcPts val="0"/>
              </a:spcBef>
              <a:spcAft>
                <a:spcPts val="0"/>
              </a:spcAft>
              <a:buClrTx/>
              <a:buSzTx/>
              <a:buFontTx/>
              <a:buNone/>
              <a:tabLst/>
              <a:defRPr/>
            </a:pPr>
            <a:r>
              <a:rPr kumimoji="0" lang="en-US" sz="1150" b="1" i="0" u="none" strike="noStrike" kern="1200" cap="none" spc="0" normalizeH="0" baseline="0" noProof="0">
                <a:ln>
                  <a:noFill/>
                </a:ln>
                <a:solidFill>
                  <a:srgbClr val="000000"/>
                </a:solidFill>
                <a:effectLst/>
                <a:uLnTx/>
                <a:uFillTx/>
                <a:latin typeface="Source Sans 3" pitchFamily="34" charset="0"/>
                <a:ea typeface="Source Sans 3" pitchFamily="34" charset="-122"/>
                <a:cs typeface="Source Sans 3" pitchFamily="34" charset="-120"/>
              </a:rPr>
              <a:t>Data Source:</a:t>
            </a:r>
            <a:r>
              <a:rPr kumimoji="0" lang="en-US" sz="1150" b="0" i="0" u="none" strike="noStrike" kern="1200" cap="none" spc="0" normalizeH="0" baseline="0" noProof="0">
                <a:ln>
                  <a:noFill/>
                </a:ln>
                <a:solidFill>
                  <a:srgbClr val="000000"/>
                </a:solidFill>
                <a:effectLst/>
                <a:uLnTx/>
                <a:uFillTx/>
                <a:latin typeface="Source Sans 3" pitchFamily="34" charset="0"/>
                <a:ea typeface="Source Sans 3" pitchFamily="34" charset="-122"/>
                <a:cs typeface="Source Sans 3" pitchFamily="34" charset="-120"/>
              </a:rPr>
              <a:t> Data will be collected through a within-subject user study involving approximately 15 participants over a four-week period, utilizing the developed application in real-world usage scenarios.</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5"/>
          <p:cNvSpPr/>
          <p:nvPr/>
        </p:nvSpPr>
        <p:spPr>
          <a:xfrm>
            <a:off x="7390328" y="6479977"/>
            <a:ext cx="6381036" cy="1158002"/>
          </a:xfrm>
          <a:prstGeom prst="roundRect">
            <a:avLst>
              <a:gd name="adj" fmla="val 1948"/>
            </a:avLst>
          </a:prstGeom>
          <a:solidFill>
            <a:srgbClr val="E2E6E9"/>
          </a:solidFill>
          <a:ln w="15240">
            <a:solidFill>
              <a:srgbClr val="494A4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0" name="Image 2" descr="preencoded.png"/>
          <p:cNvPicPr>
            <a:picLocks noChangeAspect="1"/>
          </p:cNvPicPr>
          <p:nvPr/>
        </p:nvPicPr>
        <p:blipFill>
          <a:blip r:embed="rId3"/>
          <a:stretch>
            <a:fillRect/>
          </a:stretch>
        </p:blipFill>
        <p:spPr>
          <a:xfrm>
            <a:off x="7315438" y="6405086"/>
            <a:ext cx="180380" cy="180380"/>
          </a:xfrm>
          <a:prstGeom prst="rect">
            <a:avLst/>
          </a:prstGeom>
        </p:spPr>
      </p:pic>
      <p:pic>
        <p:nvPicPr>
          <p:cNvPr id="31" name="Image 3" descr="preencoded.png"/>
          <p:cNvPicPr>
            <a:picLocks noChangeAspect="1"/>
          </p:cNvPicPr>
          <p:nvPr/>
        </p:nvPicPr>
        <p:blipFill>
          <a:blip r:embed="rId3"/>
          <a:stretch>
            <a:fillRect/>
          </a:stretch>
        </p:blipFill>
        <p:spPr>
          <a:xfrm>
            <a:off x="13665875" y="7532489"/>
            <a:ext cx="180380" cy="180380"/>
          </a:xfrm>
          <a:prstGeom prst="rect">
            <a:avLst/>
          </a:prstGeom>
        </p:spPr>
      </p:pic>
      <p:sp>
        <p:nvSpPr>
          <p:cNvPr id="32" name="Text 26"/>
          <p:cNvSpPr/>
          <p:nvPr/>
        </p:nvSpPr>
        <p:spPr>
          <a:xfrm>
            <a:off x="7631073" y="6720721"/>
            <a:ext cx="5899547" cy="676513"/>
          </a:xfrm>
          <a:prstGeom prst="rect">
            <a:avLst/>
          </a:prstGeom>
          <a:noFill/>
          <a:ln/>
        </p:spPr>
        <p:txBody>
          <a:bodyPr wrap="square" lIns="0" tIns="0" rIns="0" bIns="0" rtlCol="0" anchor="t"/>
          <a:lstStyle/>
          <a:p>
            <a:pPr marL="0" marR="0" lvl="0" indent="0" algn="l" defTabSz="914400" rtl="0" eaLnBrk="1" fontAlgn="auto" latinLnBrk="0" hangingPunct="1">
              <a:lnSpc>
                <a:spcPts val="1750"/>
              </a:lnSpc>
              <a:spcBef>
                <a:spcPts val="0"/>
              </a:spcBef>
              <a:spcAft>
                <a:spcPts val="0"/>
              </a:spcAft>
              <a:buClrTx/>
              <a:buSzTx/>
              <a:buFontTx/>
              <a:buNone/>
              <a:tabLst/>
              <a:defRPr/>
            </a:pPr>
            <a:r>
              <a:rPr kumimoji="0" lang="en-US" sz="1150" b="1" i="0" u="none" strike="noStrike" kern="1200" cap="none" spc="0" normalizeH="0" baseline="0" noProof="0">
                <a:ln>
                  <a:noFill/>
                </a:ln>
                <a:solidFill>
                  <a:srgbClr val="000000"/>
                </a:solidFill>
                <a:effectLst/>
                <a:uLnTx/>
                <a:uFillTx/>
                <a:latin typeface="Source Sans 3" pitchFamily="34" charset="0"/>
                <a:ea typeface="Source Sans 3" pitchFamily="34" charset="-122"/>
                <a:cs typeface="Source Sans 3" pitchFamily="34" charset="-120"/>
              </a:rPr>
              <a:t>Ethical Protocol:</a:t>
            </a:r>
            <a:r>
              <a:rPr kumimoji="0" lang="en-US" sz="1150" b="0" i="0" u="none" strike="noStrike" kern="1200" cap="none" spc="0" normalizeH="0" baseline="0" noProof="0">
                <a:ln>
                  <a:noFill/>
                </a:ln>
                <a:solidFill>
                  <a:srgbClr val="000000"/>
                </a:solidFill>
                <a:effectLst/>
                <a:uLnTx/>
                <a:uFillTx/>
                <a:latin typeface="Source Sans 3" pitchFamily="34" charset="0"/>
                <a:ea typeface="Source Sans 3" pitchFamily="34" charset="-122"/>
                <a:cs typeface="Source Sans 3" pitchFamily="34" charset="-120"/>
              </a:rPr>
              <a:t> Ethical approval will be obtained from the university review board. All participants will provide informed consent, data will be anonymized, and they will be informed of their right to withdraw at any time, ensuring adherence to research ethics.</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Rectangle 32">
            <a:extLst>
              <a:ext uri="{FF2B5EF4-FFF2-40B4-BE49-F238E27FC236}">
                <a16:creationId xmlns:a16="http://schemas.microsoft.com/office/drawing/2014/main" id="{3FC43A0F-ECA7-0B5F-3D02-4E3B23475D4E}"/>
              </a:ext>
            </a:extLst>
          </p:cNvPr>
          <p:cNvSpPr/>
          <p:nvPr/>
        </p:nvSpPr>
        <p:spPr>
          <a:xfrm>
            <a:off x="3158922" y="7791449"/>
            <a:ext cx="11471477" cy="438150"/>
          </a:xfrm>
          <a:prstGeom prst="rect">
            <a:avLst/>
          </a:prstGeom>
          <a:solidFill>
            <a:srgbClr val="E2E6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r>
              <a:rPr kumimoji="0" lang="en-US" sz="2160" b="1" i="0" u="none" strike="noStrike" kern="1200" cap="none" spc="0" normalizeH="0" baseline="0" noProof="0">
                <a:ln>
                  <a:noFill/>
                </a:ln>
                <a:solidFill>
                  <a:prstClr val="black"/>
                </a:solidFill>
                <a:effectLst/>
                <a:uLnTx/>
                <a:uFillTx/>
                <a:latin typeface="Cambria"/>
                <a:ea typeface="+mn-ea"/>
                <a:cs typeface="+mn-cs"/>
              </a:rPr>
              <a:t>IT22148254</a:t>
            </a:r>
            <a:r>
              <a:rPr kumimoji="0" lang="en-US" sz="2160" b="0" i="0" u="none" strike="noStrike" kern="1200" cap="none" spc="0" normalizeH="0" baseline="0" noProof="0">
                <a:ln>
                  <a:noFill/>
                </a:ln>
                <a:solidFill>
                  <a:prstClr val="black"/>
                </a:solidFill>
                <a:effectLst/>
                <a:uLnTx/>
                <a:uFillTx/>
                <a:latin typeface="Cambria"/>
                <a:ea typeface="+mn-ea"/>
                <a:cs typeface="+mn-cs"/>
              </a:rPr>
              <a:t>   |   BOGAGAWATTA B P S</a:t>
            </a:r>
            <a:r>
              <a:rPr kumimoji="0" lang="en-US" sz="2160" b="1" i="0" u="none" strike="noStrike" kern="1200" cap="none" spc="0" normalizeH="0" baseline="0" noProof="0">
                <a:ln>
                  <a:noFill/>
                </a:ln>
                <a:solidFill>
                  <a:prstClr val="black"/>
                </a:solidFill>
                <a:effectLst/>
                <a:uLnTx/>
                <a:uFillTx/>
                <a:latin typeface="Cambria"/>
                <a:ea typeface="+mn-ea"/>
                <a:cs typeface="+mn-cs"/>
              </a:rPr>
              <a:t>   </a:t>
            </a:r>
            <a:r>
              <a:rPr kumimoji="0" lang="en-US" sz="2160" b="0" i="0" u="none" strike="noStrike" kern="1200" cap="none" spc="0" normalizeH="0" baseline="0" noProof="0">
                <a:ln>
                  <a:noFill/>
                </a:ln>
                <a:solidFill>
                  <a:prstClr val="black"/>
                </a:solidFill>
                <a:effectLst/>
                <a:uLnTx/>
                <a:uFillTx/>
                <a:latin typeface="Cambria"/>
                <a:ea typeface="+mn-ea"/>
                <a:cs typeface="+mn-cs"/>
              </a:rPr>
              <a:t>|   25-26J-458</a:t>
            </a:r>
          </a:p>
        </p:txBody>
      </p:sp>
      <p:pic>
        <p:nvPicPr>
          <p:cNvPr id="34" name="Picture 33">
            <a:extLst>
              <a:ext uri="{FF2B5EF4-FFF2-40B4-BE49-F238E27FC236}">
                <a16:creationId xmlns:a16="http://schemas.microsoft.com/office/drawing/2014/main" id="{9E28E1E1-5847-5476-6EC0-FFEEFAE15E63}"/>
              </a:ext>
            </a:extLst>
          </p:cNvPr>
          <p:cNvPicPr>
            <a:picLocks noChangeAspect="1"/>
          </p:cNvPicPr>
          <p:nvPr/>
        </p:nvPicPr>
        <p:blipFill>
          <a:blip r:embed="rId4"/>
          <a:stretch>
            <a:fillRect/>
          </a:stretch>
        </p:blipFill>
        <p:spPr>
          <a:xfrm>
            <a:off x="82192" y="7692983"/>
            <a:ext cx="3076730" cy="4667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828925" y="593884"/>
            <a:ext cx="8972431" cy="429458"/>
          </a:xfrm>
          <a:prstGeom prst="rect">
            <a:avLst/>
          </a:prstGeom>
          <a:noFill/>
          <a:ln/>
        </p:spPr>
        <p:txBody>
          <a:bodyPr wrap="none" lIns="0" tIns="0" rIns="0" bIns="0" rtlCol="0" anchor="t"/>
          <a:lstStyle/>
          <a:p>
            <a:pPr marL="0" marR="0" lvl="0" indent="0" algn="ctr" defTabSz="914400" rtl="0" eaLnBrk="1" fontAlgn="auto" latinLnBrk="0" hangingPunct="1">
              <a:lnSpc>
                <a:spcPts val="3350"/>
              </a:lnSpc>
              <a:spcBef>
                <a:spcPts val="0"/>
              </a:spcBef>
              <a:spcAft>
                <a:spcPts val="0"/>
              </a:spcAft>
              <a:buClrTx/>
              <a:buSzTx/>
              <a:buFontTx/>
              <a:buNone/>
              <a:tabLst/>
              <a:defRPr/>
            </a:pPr>
            <a:r>
              <a:rPr kumimoji="0" lang="en-US" sz="2700" b="1" i="0" u="none" strike="noStrike" kern="1200" cap="none" spc="0" normalizeH="0" baseline="0" noProof="0">
                <a:ln>
                  <a:noFill/>
                </a:ln>
                <a:solidFill>
                  <a:srgbClr val="FFFFFF"/>
                </a:solidFill>
                <a:effectLst/>
                <a:uLnTx/>
                <a:uFillTx/>
                <a:latin typeface="Montserrat Bold" pitchFamily="34" charset="0"/>
                <a:ea typeface="Montserrat Bold" pitchFamily="34" charset="-122"/>
                <a:cs typeface="Montserrat Bold" pitchFamily="34" charset="-120"/>
              </a:rPr>
              <a:t>Cognitive load estimator : Implementation Details</a:t>
            </a:r>
            <a:endParaRPr kumimoji="0" lang="en-US" sz="27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863798" y="1250037"/>
            <a:ext cx="5039916" cy="257770"/>
          </a:xfrm>
          <a:prstGeom prst="rect">
            <a:avLst/>
          </a:prstGeom>
          <a:noFill/>
          <a:ln/>
        </p:spPr>
        <p:txBody>
          <a:bodyPr wrap="none" lIns="0" tIns="0" rIns="0" bIns="0"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Montserrat Bold" pitchFamily="34" charset="0"/>
                <a:ea typeface="Montserrat Bold" pitchFamily="34" charset="-122"/>
                <a:cs typeface="Montserrat Bold" pitchFamily="34" charset="-120"/>
              </a:rPr>
              <a:t>System Overview of the Individual Component</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863798" y="1734503"/>
            <a:ext cx="12902803" cy="226814"/>
          </a:xfrm>
          <a:prstGeom prst="rect">
            <a:avLst/>
          </a:prstGeom>
          <a:noFill/>
          <a:ln/>
        </p:spPr>
        <p:txBody>
          <a:bodyPr wrap="none" lIns="0" tIns="0" rIns="0" bIns="0" rtlCol="0" anchor="t"/>
          <a:lstStyle/>
          <a:p>
            <a:pPr marL="0" marR="0" lvl="0" indent="0" algn="l" defTabSz="914400" rtl="0" eaLnBrk="1" fontAlgn="auto" latinLnBrk="0" hangingPunct="1">
              <a:lnSpc>
                <a:spcPts val="1750"/>
              </a:lnSpc>
              <a:spcBef>
                <a:spcPts val="0"/>
              </a:spcBef>
              <a:spcAft>
                <a:spcPts val="0"/>
              </a:spcAft>
              <a:buClrTx/>
              <a:buSzTx/>
              <a:buFontTx/>
              <a:buNone/>
              <a:tabLst/>
              <a:defRPr/>
            </a:pPr>
            <a:r>
              <a:rPr kumimoji="0" lang="en-US" sz="1150" b="0"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The architecture is a modular data processing pipeline designed for privacy and real-time performance, consisting of interconnected modules that ensure data integrity and efficient processing:</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 0" descr="preencoded.png"/>
          <p:cNvPicPr>
            <a:picLocks noChangeAspect="1"/>
          </p:cNvPicPr>
          <p:nvPr/>
        </p:nvPicPr>
        <p:blipFill>
          <a:blip r:embed="rId3"/>
          <a:stretch>
            <a:fillRect/>
          </a:stretch>
        </p:blipFill>
        <p:spPr>
          <a:xfrm>
            <a:off x="863798" y="2131338"/>
            <a:ext cx="3225641" cy="604718"/>
          </a:xfrm>
          <a:prstGeom prst="rect">
            <a:avLst/>
          </a:prstGeom>
        </p:spPr>
      </p:pic>
      <p:sp>
        <p:nvSpPr>
          <p:cNvPr id="6" name="Text 3"/>
          <p:cNvSpPr/>
          <p:nvPr/>
        </p:nvSpPr>
        <p:spPr>
          <a:xfrm>
            <a:off x="1014889" y="2887147"/>
            <a:ext cx="1717953" cy="214670"/>
          </a:xfrm>
          <a:prstGeom prst="rect">
            <a:avLst/>
          </a:prstGeom>
          <a:noFill/>
          <a:ln/>
        </p:spPr>
        <p:txBody>
          <a:bodyPr wrap="none" lIns="0" tIns="0" rIns="0" bIns="0" rtlCol="0" anchor="t"/>
          <a:lstStyle/>
          <a:p>
            <a:pPr marL="0" marR="0" lvl="0" indent="0" algn="l" defTabSz="914400" rtl="0" eaLnBrk="1" fontAlgn="auto" latinLnBrk="0" hangingPunct="1">
              <a:lnSpc>
                <a:spcPts val="1650"/>
              </a:lnSpc>
              <a:spcBef>
                <a:spcPts val="0"/>
              </a:spcBef>
              <a:spcAft>
                <a:spcPts val="0"/>
              </a:spcAft>
              <a:buClrTx/>
              <a:buSzTx/>
              <a:buFontTx/>
              <a:buNone/>
              <a:tabLst/>
              <a:defRPr/>
            </a:pPr>
            <a:r>
              <a:rPr kumimoji="0" lang="en-US" sz="1350" b="1" i="0" u="none" strike="noStrike" kern="1200" cap="none" spc="0" normalizeH="0" baseline="0" noProof="0">
                <a:ln>
                  <a:noFill/>
                </a:ln>
                <a:solidFill>
                  <a:srgbClr val="E2E6E9"/>
                </a:solidFill>
                <a:effectLst/>
                <a:uLnTx/>
                <a:uFillTx/>
                <a:latin typeface="Montserrat Bold" pitchFamily="34" charset="0"/>
                <a:ea typeface="Montserrat Bold" pitchFamily="34" charset="-122"/>
                <a:cs typeface="Montserrat Bold" pitchFamily="34" charset="-120"/>
              </a:rPr>
              <a:t>Capture &amp; Filter</a:t>
            </a: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4"/>
          <p:cNvSpPr/>
          <p:nvPr/>
        </p:nvSpPr>
        <p:spPr>
          <a:xfrm>
            <a:off x="1014889" y="3192423"/>
            <a:ext cx="2923461" cy="1360884"/>
          </a:xfrm>
          <a:prstGeom prst="rect">
            <a:avLst/>
          </a:prstGeom>
          <a:noFill/>
          <a:ln/>
        </p:spPr>
        <p:txBody>
          <a:bodyPr wrap="square" lIns="0" tIns="0" rIns="0" bIns="0" rtlCol="0" anchor="t"/>
          <a:lstStyle/>
          <a:p>
            <a:pPr marL="0" marR="0" lvl="0" indent="0" algn="l" defTabSz="914400" rtl="0" eaLnBrk="1" fontAlgn="auto" latinLnBrk="0" hangingPunct="1">
              <a:lnSpc>
                <a:spcPts val="1750"/>
              </a:lnSpc>
              <a:spcBef>
                <a:spcPts val="0"/>
              </a:spcBef>
              <a:spcAft>
                <a:spcPts val="0"/>
              </a:spcAft>
              <a:buClrTx/>
              <a:buSzTx/>
              <a:buFontTx/>
              <a:buNone/>
              <a:tabLst/>
              <a:defRPr/>
            </a:pPr>
            <a:r>
              <a:rPr kumimoji="0" lang="en-US" sz="1150" b="0"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User interactions (key/touch events) are captured by an </a:t>
            </a:r>
            <a:r>
              <a:rPr kumimoji="0" lang="en-US" sz="1150" b="1"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InteractionCapture (IC)</a:t>
            </a:r>
            <a:r>
              <a:rPr kumimoji="0" lang="en-US" sz="1150" b="0"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 module. These events then pass through a </a:t>
            </a:r>
            <a:r>
              <a:rPr kumimoji="0" lang="en-US" sz="1150" b="1"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PrivacyFilter (PF)</a:t>
            </a:r>
            <a:r>
              <a:rPr kumimoji="0" lang="en-US" sz="1150" b="0"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 to ensure only timing metadata is processed, with no content ever being recorded, upholding privacy.</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1" descr="preencoded.png"/>
          <p:cNvPicPr>
            <a:picLocks noChangeAspect="1"/>
          </p:cNvPicPr>
          <p:nvPr/>
        </p:nvPicPr>
        <p:blipFill>
          <a:blip r:embed="rId4"/>
          <a:stretch>
            <a:fillRect/>
          </a:stretch>
        </p:blipFill>
        <p:spPr>
          <a:xfrm>
            <a:off x="4089440" y="2131338"/>
            <a:ext cx="3225760" cy="604718"/>
          </a:xfrm>
          <a:prstGeom prst="rect">
            <a:avLst/>
          </a:prstGeom>
        </p:spPr>
      </p:pic>
      <p:sp>
        <p:nvSpPr>
          <p:cNvPr id="9" name="Text 5"/>
          <p:cNvSpPr/>
          <p:nvPr/>
        </p:nvSpPr>
        <p:spPr>
          <a:xfrm>
            <a:off x="4240530" y="2887147"/>
            <a:ext cx="1717953" cy="214670"/>
          </a:xfrm>
          <a:prstGeom prst="rect">
            <a:avLst/>
          </a:prstGeom>
          <a:noFill/>
          <a:ln/>
        </p:spPr>
        <p:txBody>
          <a:bodyPr wrap="none" lIns="0" tIns="0" rIns="0" bIns="0" rtlCol="0" anchor="t"/>
          <a:lstStyle/>
          <a:p>
            <a:pPr marL="0" marR="0" lvl="0" indent="0" algn="l" defTabSz="914400" rtl="0" eaLnBrk="1" fontAlgn="auto" latinLnBrk="0" hangingPunct="1">
              <a:lnSpc>
                <a:spcPts val="1650"/>
              </a:lnSpc>
              <a:spcBef>
                <a:spcPts val="0"/>
              </a:spcBef>
              <a:spcAft>
                <a:spcPts val="0"/>
              </a:spcAft>
              <a:buClrTx/>
              <a:buSzTx/>
              <a:buFontTx/>
              <a:buNone/>
              <a:tabLst/>
              <a:defRPr/>
            </a:pPr>
            <a:r>
              <a:rPr kumimoji="0" lang="en-US" sz="1350" b="1" i="0" u="none" strike="noStrike" kern="1200" cap="none" spc="0" normalizeH="0" baseline="0" noProof="0">
                <a:ln>
                  <a:noFill/>
                </a:ln>
                <a:solidFill>
                  <a:srgbClr val="E2E6E9"/>
                </a:solidFill>
                <a:effectLst/>
                <a:uLnTx/>
                <a:uFillTx/>
                <a:latin typeface="Montserrat Bold" pitchFamily="34" charset="0"/>
                <a:ea typeface="Montserrat Bold" pitchFamily="34" charset="-122"/>
                <a:cs typeface="Montserrat Bold" pitchFamily="34" charset="-120"/>
              </a:rPr>
              <a:t>Feature Extraction</a:t>
            </a: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6"/>
          <p:cNvSpPr/>
          <p:nvPr/>
        </p:nvSpPr>
        <p:spPr>
          <a:xfrm>
            <a:off x="4240530" y="3192423"/>
            <a:ext cx="2923580" cy="1134070"/>
          </a:xfrm>
          <a:prstGeom prst="rect">
            <a:avLst/>
          </a:prstGeom>
          <a:noFill/>
          <a:ln/>
        </p:spPr>
        <p:txBody>
          <a:bodyPr wrap="square" lIns="0" tIns="0" rIns="0" bIns="0" rtlCol="0" anchor="t"/>
          <a:lstStyle/>
          <a:p>
            <a:pPr marL="0" marR="0" lvl="0" indent="0" algn="l" defTabSz="914400" rtl="0" eaLnBrk="1" fontAlgn="auto" latinLnBrk="0" hangingPunct="1">
              <a:lnSpc>
                <a:spcPts val="1750"/>
              </a:lnSpc>
              <a:spcBef>
                <a:spcPts val="0"/>
              </a:spcBef>
              <a:spcAft>
                <a:spcPts val="0"/>
              </a:spcAft>
              <a:buClrTx/>
              <a:buSzTx/>
              <a:buFontTx/>
              <a:buNone/>
              <a:tabLst/>
              <a:defRPr/>
            </a:pPr>
            <a:r>
              <a:rPr kumimoji="0" lang="en-US" sz="1150" b="0"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A </a:t>
            </a:r>
            <a:r>
              <a:rPr kumimoji="0" lang="en-US" sz="1150" b="1"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FeatureExtractor (FX)</a:t>
            </a:r>
            <a:r>
              <a:rPr kumimoji="0" lang="en-US" sz="1150" b="0"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 processes the raw events to derive key metrics. These include inter-key intervals, pause frequency, and backspace usage, providing rich, non-content-based behavioral indicators.</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2" descr="preencoded.png"/>
          <p:cNvPicPr>
            <a:picLocks noChangeAspect="1"/>
          </p:cNvPicPr>
          <p:nvPr/>
        </p:nvPicPr>
        <p:blipFill>
          <a:blip r:embed="rId5"/>
          <a:stretch>
            <a:fillRect/>
          </a:stretch>
        </p:blipFill>
        <p:spPr>
          <a:xfrm>
            <a:off x="7315200" y="2131338"/>
            <a:ext cx="3225641" cy="604718"/>
          </a:xfrm>
          <a:prstGeom prst="rect">
            <a:avLst/>
          </a:prstGeom>
        </p:spPr>
      </p:pic>
      <p:sp>
        <p:nvSpPr>
          <p:cNvPr id="12" name="Text 7"/>
          <p:cNvSpPr/>
          <p:nvPr/>
        </p:nvSpPr>
        <p:spPr>
          <a:xfrm>
            <a:off x="7466290" y="2887147"/>
            <a:ext cx="1803440" cy="214670"/>
          </a:xfrm>
          <a:prstGeom prst="rect">
            <a:avLst/>
          </a:prstGeom>
          <a:noFill/>
          <a:ln/>
        </p:spPr>
        <p:txBody>
          <a:bodyPr wrap="none" lIns="0" tIns="0" rIns="0" bIns="0" rtlCol="0" anchor="t"/>
          <a:lstStyle/>
          <a:p>
            <a:pPr marL="0" marR="0" lvl="0" indent="0" algn="l" defTabSz="914400" rtl="0" eaLnBrk="1" fontAlgn="auto" latinLnBrk="0" hangingPunct="1">
              <a:lnSpc>
                <a:spcPts val="1650"/>
              </a:lnSpc>
              <a:spcBef>
                <a:spcPts val="0"/>
              </a:spcBef>
              <a:spcAft>
                <a:spcPts val="0"/>
              </a:spcAft>
              <a:buClrTx/>
              <a:buSzTx/>
              <a:buFontTx/>
              <a:buNone/>
              <a:tabLst/>
              <a:defRPr/>
            </a:pPr>
            <a:r>
              <a:rPr kumimoji="0" lang="en-US" sz="1350" b="1" i="0" u="none" strike="noStrike" kern="1200" cap="none" spc="0" normalizeH="0" baseline="0" noProof="0">
                <a:ln>
                  <a:noFill/>
                </a:ln>
                <a:solidFill>
                  <a:srgbClr val="E2E6E9"/>
                </a:solidFill>
                <a:effectLst/>
                <a:uLnTx/>
                <a:uFillTx/>
                <a:latin typeface="Montserrat Bold" pitchFamily="34" charset="0"/>
                <a:ea typeface="Montserrat Bold" pitchFamily="34" charset="-122"/>
                <a:cs typeface="Montserrat Bold" pitchFamily="34" charset="-120"/>
              </a:rPr>
              <a:t>Calibration &amp; Fusion</a:t>
            </a: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8"/>
          <p:cNvSpPr/>
          <p:nvPr/>
        </p:nvSpPr>
        <p:spPr>
          <a:xfrm>
            <a:off x="7466290" y="3192423"/>
            <a:ext cx="2923461" cy="1360884"/>
          </a:xfrm>
          <a:prstGeom prst="rect">
            <a:avLst/>
          </a:prstGeom>
          <a:noFill/>
          <a:ln/>
        </p:spPr>
        <p:txBody>
          <a:bodyPr wrap="square" lIns="0" tIns="0" rIns="0" bIns="0" rtlCol="0" anchor="t"/>
          <a:lstStyle/>
          <a:p>
            <a:pPr marL="0" marR="0" lvl="0" indent="0" algn="l" defTabSz="914400" rtl="0" eaLnBrk="1" fontAlgn="auto" latinLnBrk="0" hangingPunct="1">
              <a:lnSpc>
                <a:spcPts val="1750"/>
              </a:lnSpc>
              <a:spcBef>
                <a:spcPts val="0"/>
              </a:spcBef>
              <a:spcAft>
                <a:spcPts val="0"/>
              </a:spcAft>
              <a:buClrTx/>
              <a:buSzTx/>
              <a:buFontTx/>
              <a:buNone/>
              <a:tabLst/>
              <a:defRPr/>
            </a:pPr>
            <a:r>
              <a:rPr kumimoji="0" lang="en-US" sz="1150" b="0"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A </a:t>
            </a:r>
            <a:r>
              <a:rPr kumimoji="0" lang="en-US" sz="1150" b="1"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Calibrator (CAL)</a:t>
            </a:r>
            <a:r>
              <a:rPr kumimoji="0" lang="en-US" sz="1150" b="0"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 utilizes periodic micro-EMA feedback to personalize the cognitive load model for each user. The </a:t>
            </a:r>
            <a:r>
              <a:rPr kumimoji="0" lang="en-US" sz="1150" b="1"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FusionEngine (FUS)</a:t>
            </a:r>
            <a:r>
              <a:rPr kumimoji="0" lang="en-US" sz="1150" b="0"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 then combines these passive features with subjective input to generate a robust </a:t>
            </a:r>
            <a:r>
              <a:rPr kumimoji="0" lang="en-US" sz="1150" b="1"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LoadEstimate</a:t>
            </a:r>
            <a:r>
              <a:rPr kumimoji="0" lang="en-US" sz="1150" b="0"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 score.</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4" name="Image 3" descr="preencoded.png"/>
          <p:cNvPicPr>
            <a:picLocks noChangeAspect="1"/>
          </p:cNvPicPr>
          <p:nvPr/>
        </p:nvPicPr>
        <p:blipFill>
          <a:blip r:embed="rId6"/>
          <a:stretch>
            <a:fillRect/>
          </a:stretch>
        </p:blipFill>
        <p:spPr>
          <a:xfrm>
            <a:off x="10540841" y="2131338"/>
            <a:ext cx="3225760" cy="604718"/>
          </a:xfrm>
          <a:prstGeom prst="rect">
            <a:avLst/>
          </a:prstGeom>
        </p:spPr>
      </p:pic>
      <p:sp>
        <p:nvSpPr>
          <p:cNvPr id="15" name="Text 9"/>
          <p:cNvSpPr/>
          <p:nvPr/>
        </p:nvSpPr>
        <p:spPr>
          <a:xfrm>
            <a:off x="10691932" y="2887147"/>
            <a:ext cx="1717953" cy="214670"/>
          </a:xfrm>
          <a:prstGeom prst="rect">
            <a:avLst/>
          </a:prstGeom>
          <a:noFill/>
          <a:ln/>
        </p:spPr>
        <p:txBody>
          <a:bodyPr wrap="none" lIns="0" tIns="0" rIns="0" bIns="0" rtlCol="0" anchor="t"/>
          <a:lstStyle/>
          <a:p>
            <a:pPr marL="0" marR="0" lvl="0" indent="0" algn="l" defTabSz="914400" rtl="0" eaLnBrk="1" fontAlgn="auto" latinLnBrk="0" hangingPunct="1">
              <a:lnSpc>
                <a:spcPts val="1650"/>
              </a:lnSpc>
              <a:spcBef>
                <a:spcPts val="0"/>
              </a:spcBef>
              <a:spcAft>
                <a:spcPts val="0"/>
              </a:spcAft>
              <a:buClrTx/>
              <a:buSzTx/>
              <a:buFontTx/>
              <a:buNone/>
              <a:tabLst/>
              <a:defRPr/>
            </a:pPr>
            <a:r>
              <a:rPr kumimoji="0" lang="en-US" sz="1350" b="1" i="0" u="none" strike="noStrike" kern="1200" cap="none" spc="0" normalizeH="0" baseline="0" noProof="0">
                <a:ln>
                  <a:noFill/>
                </a:ln>
                <a:solidFill>
                  <a:srgbClr val="E2E6E9"/>
                </a:solidFill>
                <a:effectLst/>
                <a:uLnTx/>
                <a:uFillTx/>
                <a:latin typeface="Montserrat Bold" pitchFamily="34" charset="0"/>
                <a:ea typeface="Montserrat Bold" pitchFamily="34" charset="-122"/>
                <a:cs typeface="Montserrat Bold" pitchFamily="34" charset="-120"/>
              </a:rPr>
              <a:t>API Output</a:t>
            </a: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0"/>
          <p:cNvSpPr/>
          <p:nvPr/>
        </p:nvSpPr>
        <p:spPr>
          <a:xfrm>
            <a:off x="10691932" y="3192423"/>
            <a:ext cx="2923580" cy="1360884"/>
          </a:xfrm>
          <a:prstGeom prst="rect">
            <a:avLst/>
          </a:prstGeom>
          <a:noFill/>
          <a:ln/>
        </p:spPr>
        <p:txBody>
          <a:bodyPr wrap="square" lIns="0" tIns="0" rIns="0" bIns="0" rtlCol="0" anchor="t"/>
          <a:lstStyle/>
          <a:p>
            <a:pPr marL="0" marR="0" lvl="0" indent="0" algn="l" defTabSz="914400" rtl="0" eaLnBrk="1" fontAlgn="auto" latinLnBrk="0" hangingPunct="1">
              <a:lnSpc>
                <a:spcPts val="1750"/>
              </a:lnSpc>
              <a:spcBef>
                <a:spcPts val="0"/>
              </a:spcBef>
              <a:spcAft>
                <a:spcPts val="0"/>
              </a:spcAft>
              <a:buClrTx/>
              <a:buSzTx/>
              <a:buFontTx/>
              <a:buNone/>
              <a:tabLst/>
              <a:defRPr/>
            </a:pPr>
            <a:r>
              <a:rPr kumimoji="0" lang="en-US" sz="1150" b="0"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The final score and confidence level are exposed through an </a:t>
            </a:r>
            <a:r>
              <a:rPr kumimoji="0" lang="en-US" sz="1150" b="1"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EstimatorAPI (API)</a:t>
            </a:r>
            <a:r>
              <a:rPr kumimoji="0" lang="en-US" sz="1150" b="0"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 This makes the real-time cognitive load data available for integration with other application components, such as an adaptive scheduler, enabling dynamic user support.</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1"/>
          <p:cNvSpPr/>
          <p:nvPr/>
        </p:nvSpPr>
        <p:spPr>
          <a:xfrm>
            <a:off x="863798" y="4931093"/>
            <a:ext cx="4244578" cy="257770"/>
          </a:xfrm>
          <a:prstGeom prst="rect">
            <a:avLst/>
          </a:prstGeom>
          <a:noFill/>
          <a:ln/>
        </p:spPr>
        <p:txBody>
          <a:bodyPr wrap="none" lIns="0" tIns="0" rIns="0" bIns="0"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Montserrat Bold" pitchFamily="34" charset="0"/>
                <a:ea typeface="Montserrat Bold" pitchFamily="34" charset="-122"/>
                <a:cs typeface="Montserrat Bold" pitchFamily="34" charset="-120"/>
              </a:rPr>
              <a:t>How It Is Used in a Real-World Scenario</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4" descr="preencoded.png"/>
          <p:cNvPicPr>
            <a:picLocks noChangeAspect="1"/>
          </p:cNvPicPr>
          <p:nvPr/>
        </p:nvPicPr>
        <p:blipFill>
          <a:blip r:embed="rId7"/>
          <a:stretch>
            <a:fillRect/>
          </a:stretch>
        </p:blipFill>
        <p:spPr>
          <a:xfrm>
            <a:off x="2216825" y="5415558"/>
            <a:ext cx="377904" cy="377904"/>
          </a:xfrm>
          <a:prstGeom prst="rect">
            <a:avLst/>
          </a:prstGeom>
        </p:spPr>
      </p:pic>
      <p:sp>
        <p:nvSpPr>
          <p:cNvPr id="19" name="Text 12"/>
          <p:cNvSpPr/>
          <p:nvPr/>
        </p:nvSpPr>
        <p:spPr>
          <a:xfrm>
            <a:off x="1041202" y="5982414"/>
            <a:ext cx="2729032" cy="214670"/>
          </a:xfrm>
          <a:prstGeom prst="rect">
            <a:avLst/>
          </a:prstGeom>
          <a:noFill/>
          <a:ln/>
        </p:spPr>
        <p:txBody>
          <a:bodyPr wrap="none" lIns="0" tIns="0" rIns="0" bIns="0" rtlCol="0" anchor="t"/>
          <a:lstStyle/>
          <a:p>
            <a:pPr marL="0" marR="0" lvl="0" indent="0" algn="ctr" defTabSz="914400" rtl="0" eaLnBrk="1" fontAlgn="auto" latinLnBrk="0" hangingPunct="1">
              <a:lnSpc>
                <a:spcPts val="1650"/>
              </a:lnSpc>
              <a:spcBef>
                <a:spcPts val="0"/>
              </a:spcBef>
              <a:spcAft>
                <a:spcPts val="0"/>
              </a:spcAft>
              <a:buClrTx/>
              <a:buSzTx/>
              <a:buFontTx/>
              <a:buNone/>
              <a:tabLst/>
              <a:defRPr/>
            </a:pPr>
            <a:r>
              <a:rPr kumimoji="0" lang="en-US" sz="1350" b="1" i="0" u="none" strike="noStrike" kern="1200" cap="none" spc="0" normalizeH="0" baseline="0" noProof="0">
                <a:ln>
                  <a:noFill/>
                </a:ln>
                <a:solidFill>
                  <a:srgbClr val="E2E6E9"/>
                </a:solidFill>
                <a:effectLst/>
                <a:uLnTx/>
                <a:uFillTx/>
                <a:latin typeface="Montserrat Bold" pitchFamily="34" charset="0"/>
                <a:ea typeface="Montserrat Bold" pitchFamily="34" charset="-122"/>
                <a:cs typeface="Montserrat Bold" pitchFamily="34" charset="-120"/>
              </a:rPr>
              <a:t>Silent Monitoring Commences</a:t>
            </a: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3"/>
          <p:cNvSpPr/>
          <p:nvPr/>
        </p:nvSpPr>
        <p:spPr>
          <a:xfrm>
            <a:off x="863798" y="6287691"/>
            <a:ext cx="3083957" cy="1134070"/>
          </a:xfrm>
          <a:prstGeom prst="rect">
            <a:avLst/>
          </a:prstGeom>
          <a:noFill/>
          <a:ln/>
        </p:spPr>
        <p:txBody>
          <a:bodyPr wrap="square" lIns="0" tIns="0" rIns="0" bIns="0" rtlCol="0" anchor="t"/>
          <a:lstStyle/>
          <a:p>
            <a:pPr marL="0" marR="0" lvl="0" indent="0" algn="ctr" defTabSz="914400" rtl="0" eaLnBrk="1" fontAlgn="auto" latinLnBrk="0" hangingPunct="1">
              <a:lnSpc>
                <a:spcPts val="1750"/>
              </a:lnSpc>
              <a:spcBef>
                <a:spcPts val="0"/>
              </a:spcBef>
              <a:spcAft>
                <a:spcPts val="0"/>
              </a:spcAft>
              <a:buClrTx/>
              <a:buSzTx/>
              <a:buFontTx/>
              <a:buNone/>
              <a:tabLst/>
              <a:defRPr/>
            </a:pPr>
            <a:r>
              <a:rPr kumimoji="0" lang="en-US" sz="1150" b="0"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A student begins a study session using the application. The cognitive load estimator starts running silently and unobtrusively in the background, ready to monitor interaction patterns.</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1" name="Image 5" descr="preencoded.png"/>
          <p:cNvPicPr>
            <a:picLocks noChangeAspect="1"/>
          </p:cNvPicPr>
          <p:nvPr/>
        </p:nvPicPr>
        <p:blipFill>
          <a:blip r:embed="rId8"/>
          <a:stretch>
            <a:fillRect/>
          </a:stretch>
        </p:blipFill>
        <p:spPr>
          <a:xfrm>
            <a:off x="5489734" y="5415558"/>
            <a:ext cx="377904" cy="377904"/>
          </a:xfrm>
          <a:prstGeom prst="rect">
            <a:avLst/>
          </a:prstGeom>
        </p:spPr>
      </p:pic>
      <p:sp>
        <p:nvSpPr>
          <p:cNvPr id="22" name="Text 14"/>
          <p:cNvSpPr/>
          <p:nvPr/>
        </p:nvSpPr>
        <p:spPr>
          <a:xfrm>
            <a:off x="4426148" y="5982414"/>
            <a:ext cx="2504956" cy="214670"/>
          </a:xfrm>
          <a:prstGeom prst="rect">
            <a:avLst/>
          </a:prstGeom>
          <a:noFill/>
          <a:ln/>
        </p:spPr>
        <p:txBody>
          <a:bodyPr wrap="none" lIns="0" tIns="0" rIns="0" bIns="0" rtlCol="0" anchor="t"/>
          <a:lstStyle/>
          <a:p>
            <a:pPr marL="0" marR="0" lvl="0" indent="0" algn="ctr" defTabSz="914400" rtl="0" eaLnBrk="1" fontAlgn="auto" latinLnBrk="0" hangingPunct="1">
              <a:lnSpc>
                <a:spcPts val="1650"/>
              </a:lnSpc>
              <a:spcBef>
                <a:spcPts val="0"/>
              </a:spcBef>
              <a:spcAft>
                <a:spcPts val="0"/>
              </a:spcAft>
              <a:buClrTx/>
              <a:buSzTx/>
              <a:buFontTx/>
              <a:buNone/>
              <a:tabLst/>
              <a:defRPr/>
            </a:pPr>
            <a:r>
              <a:rPr kumimoji="0" lang="en-US" sz="1350" b="1" i="0" u="none" strike="noStrike" kern="1200" cap="none" spc="0" normalizeH="0" baseline="0" noProof="0">
                <a:ln>
                  <a:noFill/>
                </a:ln>
                <a:solidFill>
                  <a:srgbClr val="E2E6E9"/>
                </a:solidFill>
                <a:effectLst/>
                <a:uLnTx/>
                <a:uFillTx/>
                <a:latin typeface="Montserrat Bold" pitchFamily="34" charset="0"/>
                <a:ea typeface="Montserrat Bold" pitchFamily="34" charset="-122"/>
                <a:cs typeface="Montserrat Bold" pitchFamily="34" charset="-120"/>
              </a:rPr>
              <a:t>Passive Interaction Logging</a:t>
            </a: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15"/>
          <p:cNvSpPr/>
          <p:nvPr/>
        </p:nvSpPr>
        <p:spPr>
          <a:xfrm>
            <a:off x="4136707" y="6287691"/>
            <a:ext cx="3083957" cy="1134070"/>
          </a:xfrm>
          <a:prstGeom prst="rect">
            <a:avLst/>
          </a:prstGeom>
          <a:noFill/>
          <a:ln/>
        </p:spPr>
        <p:txBody>
          <a:bodyPr wrap="square" lIns="0" tIns="0" rIns="0" bIns="0" rtlCol="0" anchor="t"/>
          <a:lstStyle/>
          <a:p>
            <a:pPr marL="0" marR="0" lvl="0" indent="0" algn="ctr" defTabSz="914400" rtl="0" eaLnBrk="1" fontAlgn="auto" latinLnBrk="0" hangingPunct="1">
              <a:lnSpc>
                <a:spcPts val="1750"/>
              </a:lnSpc>
              <a:spcBef>
                <a:spcPts val="0"/>
              </a:spcBef>
              <a:spcAft>
                <a:spcPts val="0"/>
              </a:spcAft>
              <a:buClrTx/>
              <a:buSzTx/>
              <a:buFontTx/>
              <a:buNone/>
              <a:tabLst/>
              <a:defRPr/>
            </a:pPr>
            <a:r>
              <a:rPr kumimoji="0" lang="en-US" sz="1150" b="0"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As the student types, the system passively logs interaction cadence—how fast they type, the length of their pauses, and their error correction rate—without ever reading the actual text, preserving complete privacy.</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4" name="Image 6" descr="preencoded.png"/>
          <p:cNvPicPr>
            <a:picLocks noChangeAspect="1"/>
          </p:cNvPicPr>
          <p:nvPr/>
        </p:nvPicPr>
        <p:blipFill>
          <a:blip r:embed="rId9"/>
          <a:stretch>
            <a:fillRect/>
          </a:stretch>
        </p:blipFill>
        <p:spPr>
          <a:xfrm>
            <a:off x="8762643" y="5415558"/>
            <a:ext cx="377904" cy="377904"/>
          </a:xfrm>
          <a:prstGeom prst="rect">
            <a:avLst/>
          </a:prstGeom>
        </p:spPr>
      </p:pic>
      <p:sp>
        <p:nvSpPr>
          <p:cNvPr id="25" name="Text 16"/>
          <p:cNvSpPr/>
          <p:nvPr/>
        </p:nvSpPr>
        <p:spPr>
          <a:xfrm>
            <a:off x="7600950" y="5982414"/>
            <a:ext cx="2701171" cy="214670"/>
          </a:xfrm>
          <a:prstGeom prst="rect">
            <a:avLst/>
          </a:prstGeom>
          <a:noFill/>
          <a:ln/>
        </p:spPr>
        <p:txBody>
          <a:bodyPr wrap="none" lIns="0" tIns="0" rIns="0" bIns="0" rtlCol="0" anchor="t"/>
          <a:lstStyle/>
          <a:p>
            <a:pPr marL="0" marR="0" lvl="0" indent="0" algn="ctr" defTabSz="914400" rtl="0" eaLnBrk="1" fontAlgn="auto" latinLnBrk="0" hangingPunct="1">
              <a:lnSpc>
                <a:spcPts val="1650"/>
              </a:lnSpc>
              <a:spcBef>
                <a:spcPts val="0"/>
              </a:spcBef>
              <a:spcAft>
                <a:spcPts val="0"/>
              </a:spcAft>
              <a:buClrTx/>
              <a:buSzTx/>
              <a:buFontTx/>
              <a:buNone/>
              <a:tabLst/>
              <a:defRPr/>
            </a:pPr>
            <a:r>
              <a:rPr kumimoji="0" lang="en-US" sz="1350" b="1" i="0" u="none" strike="noStrike" kern="1200" cap="none" spc="0" normalizeH="0" baseline="0" noProof="0">
                <a:ln>
                  <a:noFill/>
                </a:ln>
                <a:solidFill>
                  <a:srgbClr val="E2E6E9"/>
                </a:solidFill>
                <a:effectLst/>
                <a:uLnTx/>
                <a:uFillTx/>
                <a:latin typeface="Montserrat Bold" pitchFamily="34" charset="0"/>
                <a:ea typeface="Montserrat Bold" pitchFamily="34" charset="-122"/>
                <a:cs typeface="Montserrat Bold" pitchFamily="34" charset="-120"/>
              </a:rPr>
              <a:t>Minimalist Micro-EMA Prompt</a:t>
            </a: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17"/>
          <p:cNvSpPr/>
          <p:nvPr/>
        </p:nvSpPr>
        <p:spPr>
          <a:xfrm>
            <a:off x="7409617" y="6287691"/>
            <a:ext cx="3083957" cy="1134070"/>
          </a:xfrm>
          <a:prstGeom prst="rect">
            <a:avLst/>
          </a:prstGeom>
          <a:noFill/>
          <a:ln/>
        </p:spPr>
        <p:txBody>
          <a:bodyPr wrap="square" lIns="0" tIns="0" rIns="0" bIns="0" rtlCol="0" anchor="t"/>
          <a:lstStyle/>
          <a:p>
            <a:pPr marL="0" marR="0" lvl="0" indent="0" algn="ctr" defTabSz="914400" rtl="0" eaLnBrk="1" fontAlgn="auto" latinLnBrk="0" hangingPunct="1">
              <a:lnSpc>
                <a:spcPts val="1750"/>
              </a:lnSpc>
              <a:spcBef>
                <a:spcPts val="0"/>
              </a:spcBef>
              <a:spcAft>
                <a:spcPts val="0"/>
              </a:spcAft>
              <a:buClrTx/>
              <a:buSzTx/>
              <a:buFontTx/>
              <a:buNone/>
              <a:tabLst/>
              <a:defRPr/>
            </a:pPr>
            <a:r>
              <a:rPr kumimoji="0" lang="en-US" sz="1150" b="0"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After approximately 20 minutes, a minimalist, one-tap prompt appears asking, "How mentally taxed do you feel right now?" The user provides a quick rating and returns to their task with minimal interruption.</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18"/>
          <p:cNvSpPr/>
          <p:nvPr/>
        </p:nvSpPr>
        <p:spPr>
          <a:xfrm>
            <a:off x="12054483" y="5415558"/>
            <a:ext cx="339923" cy="377785"/>
          </a:xfrm>
          <a:prstGeom prst="roundRect">
            <a:avLst>
              <a:gd name="adj" fmla="val 16140"/>
            </a:avLst>
          </a:prstGeom>
          <a:solidFill>
            <a:srgbClr val="4D4D5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8" name="Image 7" descr="preencoded.png"/>
          <p:cNvPicPr>
            <a:picLocks noChangeAspect="1"/>
          </p:cNvPicPr>
          <p:nvPr/>
        </p:nvPicPr>
        <p:blipFill>
          <a:blip r:embed="rId10"/>
          <a:stretch>
            <a:fillRect/>
          </a:stretch>
        </p:blipFill>
        <p:spPr>
          <a:xfrm>
            <a:off x="12035552" y="5415558"/>
            <a:ext cx="377904" cy="377904"/>
          </a:xfrm>
          <a:prstGeom prst="rect">
            <a:avLst/>
          </a:prstGeom>
        </p:spPr>
      </p:pic>
      <p:sp>
        <p:nvSpPr>
          <p:cNvPr id="29" name="Text 19"/>
          <p:cNvSpPr/>
          <p:nvPr/>
        </p:nvSpPr>
        <p:spPr>
          <a:xfrm>
            <a:off x="10682526" y="5982414"/>
            <a:ext cx="3084076" cy="429339"/>
          </a:xfrm>
          <a:prstGeom prst="rect">
            <a:avLst/>
          </a:prstGeom>
          <a:noFill/>
          <a:ln/>
        </p:spPr>
        <p:txBody>
          <a:bodyPr wrap="square" lIns="0" tIns="0" rIns="0" bIns="0" rtlCol="0" anchor="t"/>
          <a:lstStyle/>
          <a:p>
            <a:pPr marL="0" marR="0" lvl="0" indent="0" algn="ctr" defTabSz="914400" rtl="0" eaLnBrk="1" fontAlgn="auto" latinLnBrk="0" hangingPunct="1">
              <a:lnSpc>
                <a:spcPts val="1650"/>
              </a:lnSpc>
              <a:spcBef>
                <a:spcPts val="0"/>
              </a:spcBef>
              <a:spcAft>
                <a:spcPts val="0"/>
              </a:spcAft>
              <a:buClrTx/>
              <a:buSzTx/>
              <a:buFontTx/>
              <a:buNone/>
              <a:tabLst/>
              <a:defRPr/>
            </a:pPr>
            <a:r>
              <a:rPr kumimoji="0" lang="en-US" sz="1350" b="1" i="0" u="none" strike="noStrike" kern="1200" cap="none" spc="0" normalizeH="0" baseline="0" noProof="0">
                <a:ln>
                  <a:noFill/>
                </a:ln>
                <a:solidFill>
                  <a:srgbClr val="E2E6E9"/>
                </a:solidFill>
                <a:effectLst/>
                <a:uLnTx/>
                <a:uFillTx/>
                <a:latin typeface="Montserrat Bold" pitchFamily="34" charset="0"/>
                <a:ea typeface="Montserrat Bold" pitchFamily="34" charset="-122"/>
                <a:cs typeface="Montserrat Bold" pitchFamily="34" charset="-120"/>
              </a:rPr>
              <a:t>Real-time Cognitive Load Calculation</a:t>
            </a: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0"/>
          <p:cNvSpPr/>
          <p:nvPr/>
        </p:nvSpPr>
        <p:spPr>
          <a:xfrm>
            <a:off x="10682526" y="6502360"/>
            <a:ext cx="3084076" cy="1134070"/>
          </a:xfrm>
          <a:prstGeom prst="rect">
            <a:avLst/>
          </a:prstGeom>
          <a:noFill/>
          <a:ln/>
        </p:spPr>
        <p:txBody>
          <a:bodyPr wrap="square" lIns="0" tIns="0" rIns="0" bIns="0" rtlCol="0" anchor="t"/>
          <a:lstStyle/>
          <a:p>
            <a:pPr marL="0" marR="0" lvl="0" indent="0" algn="ctr" defTabSz="914400" rtl="0" eaLnBrk="1" fontAlgn="auto" latinLnBrk="0" hangingPunct="1">
              <a:lnSpc>
                <a:spcPts val="1750"/>
              </a:lnSpc>
              <a:spcBef>
                <a:spcPts val="0"/>
              </a:spcBef>
              <a:spcAft>
                <a:spcPts val="0"/>
              </a:spcAft>
              <a:buClrTx/>
              <a:buSzTx/>
              <a:buFontTx/>
              <a:buNone/>
              <a:tabLst/>
              <a:defRPr/>
            </a:pPr>
            <a:r>
              <a:rPr kumimoji="0" lang="en-US" sz="1150" b="0" i="0" u="none" strike="noStrike" kern="1200" cap="none" spc="0" normalizeH="0" baseline="0" noProof="0">
                <a:ln>
                  <a:noFill/>
                </a:ln>
                <a:solidFill>
                  <a:srgbClr val="E2E6E9"/>
                </a:solidFill>
                <a:effectLst/>
                <a:uLnTx/>
                <a:uFillTx/>
                <a:latin typeface="Source Sans 3" pitchFamily="34" charset="0"/>
                <a:ea typeface="Source Sans 3" pitchFamily="34" charset="-122"/>
                <a:cs typeface="Source Sans 3" pitchFamily="34" charset="-120"/>
              </a:rPr>
              <a:t>The estimator's fusion model combines the continuous typing data with the student's subjective rating, calculating a real-time, personalized cognitive load score that adapts to their unique patterns.</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FE54A2BD-BC75-74C9-9D67-F2DE72980CA3}"/>
              </a:ext>
            </a:extLst>
          </p:cNvPr>
          <p:cNvSpPr/>
          <p:nvPr/>
        </p:nvSpPr>
        <p:spPr>
          <a:xfrm>
            <a:off x="3158922" y="7791449"/>
            <a:ext cx="11471477" cy="438150"/>
          </a:xfrm>
          <a:prstGeom prst="rect">
            <a:avLst/>
          </a:prstGeom>
          <a:solidFill>
            <a:srgbClr val="1D1F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r>
              <a:rPr kumimoji="0" lang="en-US" sz="2160" b="1" i="0" u="none" strike="noStrike" kern="1200" cap="none" spc="0" normalizeH="0" baseline="0" noProof="0">
                <a:ln>
                  <a:noFill/>
                </a:ln>
                <a:solidFill>
                  <a:prstClr val="white"/>
                </a:solidFill>
                <a:effectLst/>
                <a:uLnTx/>
                <a:uFillTx/>
                <a:latin typeface="Cambria"/>
                <a:ea typeface="+mn-ea"/>
                <a:cs typeface="+mn-cs"/>
              </a:rPr>
              <a:t>IT22148254</a:t>
            </a:r>
            <a:r>
              <a:rPr kumimoji="0" lang="en-US" sz="2160" b="0" i="0" u="none" strike="noStrike" kern="1200" cap="none" spc="0" normalizeH="0" baseline="0" noProof="0">
                <a:ln>
                  <a:noFill/>
                </a:ln>
                <a:solidFill>
                  <a:prstClr val="white"/>
                </a:solidFill>
                <a:effectLst/>
                <a:uLnTx/>
                <a:uFillTx/>
                <a:latin typeface="Cambria"/>
                <a:ea typeface="+mn-ea"/>
                <a:cs typeface="+mn-cs"/>
              </a:rPr>
              <a:t>   |   BOGAGAWATTA B P S</a:t>
            </a:r>
            <a:r>
              <a:rPr kumimoji="0" lang="en-US" sz="2160" b="1" i="0" u="none" strike="noStrike" kern="1200" cap="none" spc="0" normalizeH="0" baseline="0" noProof="0">
                <a:ln>
                  <a:noFill/>
                </a:ln>
                <a:solidFill>
                  <a:prstClr val="white"/>
                </a:solidFill>
                <a:effectLst/>
                <a:uLnTx/>
                <a:uFillTx/>
                <a:latin typeface="Cambria"/>
                <a:ea typeface="+mn-ea"/>
                <a:cs typeface="+mn-cs"/>
              </a:rPr>
              <a:t>   </a:t>
            </a:r>
            <a:r>
              <a:rPr kumimoji="0" lang="en-US" sz="2160" b="0" i="0" u="none" strike="noStrike" kern="1200" cap="none" spc="0" normalizeH="0" baseline="0" noProof="0">
                <a:ln>
                  <a:noFill/>
                </a:ln>
                <a:solidFill>
                  <a:prstClr val="white"/>
                </a:solidFill>
                <a:effectLst/>
                <a:uLnTx/>
                <a:uFillTx/>
                <a:latin typeface="Cambria"/>
                <a:ea typeface="+mn-ea"/>
                <a:cs typeface="+mn-cs"/>
              </a:rPr>
              <a:t>|   25-26J-458</a:t>
            </a:r>
          </a:p>
        </p:txBody>
      </p:sp>
      <p:pic>
        <p:nvPicPr>
          <p:cNvPr id="32" name="Picture 31">
            <a:extLst>
              <a:ext uri="{FF2B5EF4-FFF2-40B4-BE49-F238E27FC236}">
                <a16:creationId xmlns:a16="http://schemas.microsoft.com/office/drawing/2014/main" id="{95E4C5AB-965C-E595-FF66-2624604139B1}"/>
              </a:ext>
            </a:extLst>
          </p:cNvPr>
          <p:cNvPicPr>
            <a:picLocks noChangeAspect="1"/>
          </p:cNvPicPr>
          <p:nvPr/>
        </p:nvPicPr>
        <p:blipFill>
          <a:blip r:embed="rId11"/>
          <a:stretch>
            <a:fillRect/>
          </a:stretch>
        </p:blipFill>
        <p:spPr>
          <a:xfrm>
            <a:off x="82192" y="7692983"/>
            <a:ext cx="3076730" cy="4667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A755AF9-6AEA-4BCA-A1A2-C57A58214B9E}"/>
              </a:ext>
            </a:extLst>
          </p:cNvPr>
          <p:cNvSpPr>
            <a:spLocks noGrp="1"/>
          </p:cNvSpPr>
          <p:nvPr>
            <p:ph type="title"/>
          </p:nvPr>
        </p:nvSpPr>
        <p:spPr/>
        <p:txBody>
          <a:bodyPr/>
          <a:ls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r>
              <a:rPr lang="en-US"/>
              <a:t>IT22054418|V.I.Kaluarachchi</a:t>
            </a:r>
          </a:p>
        </p:txBody>
      </p:sp>
      <p:sp>
        <p:nvSpPr>
          <p:cNvPr id="6" name="Text Placeholder 5">
            <a:extLst>
              <a:ext uri="{FF2B5EF4-FFF2-40B4-BE49-F238E27FC236}">
                <a16:creationId xmlns:a16="http://schemas.microsoft.com/office/drawing/2014/main" id="{07A91C59-28F0-4A9C-ACA2-19A536A0C380}"/>
              </a:ext>
            </a:extLst>
          </p:cNvPr>
          <p:cNvSpPr>
            <a:spLocks noGrp="1"/>
          </p:cNvSpPr>
          <p:nvPr>
            <p:ph type="body" idx="1"/>
          </p:nvPr>
        </p:nvSpPr>
        <p:spPr/>
        <p:txBody>
          <a:bodyPr/>
          <a:ls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r>
              <a:rPr lang="en-US"/>
              <a:t>Software engineering</a:t>
            </a:r>
          </a:p>
        </p:txBody>
      </p:sp>
      <p:sp>
        <p:nvSpPr>
          <p:cNvPr id="4" name="Rectangle 3">
            <a:extLst>
              <a:ext uri="{FF2B5EF4-FFF2-40B4-BE49-F238E27FC236}">
                <a16:creationId xmlns:a16="http://schemas.microsoft.com/office/drawing/2014/main" id="{5FB98E66-DBD5-4B29-AC68-A58A70C64231}"/>
              </a:ext>
            </a:extLst>
          </p:cNvPr>
          <p:cNvSpPr/>
          <p:nvPr/>
        </p:nvSpPr>
        <p:spPr>
          <a:xfrm>
            <a:off x="3226158" y="7603190"/>
            <a:ext cx="8179638" cy="4381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r>
              <a:rPr lang="en-US" sz="2160" b="1">
                <a:solidFill>
                  <a:schemeClr val="tx1"/>
                </a:solidFill>
              </a:rPr>
              <a:t>IT22054418</a:t>
            </a:r>
            <a:r>
              <a:rPr lang="en-US" sz="2160">
                <a:solidFill>
                  <a:schemeClr val="tx1"/>
                </a:solidFill>
              </a:rPr>
              <a:t>   |   </a:t>
            </a:r>
            <a:r>
              <a:rPr lang="en-US" sz="2592" err="1">
                <a:solidFill>
                  <a:schemeClr val="tx1"/>
                </a:solidFill>
              </a:rPr>
              <a:t>V.I.Kaluarachchi</a:t>
            </a:r>
            <a:r>
              <a:rPr lang="en-US" sz="2160" b="1">
                <a:solidFill>
                  <a:schemeClr val="tx1"/>
                </a:solidFill>
              </a:rPr>
              <a:t>   </a:t>
            </a:r>
            <a:r>
              <a:rPr lang="en-US" sz="2160">
                <a:solidFill>
                  <a:schemeClr val="tx1"/>
                </a:solidFill>
              </a:rPr>
              <a:t>|   </a:t>
            </a:r>
            <a:r>
              <a:rPr lang="en-US" sz="2160" b="0">
                <a:solidFill>
                  <a:schemeClr val="tx1"/>
                </a:solidFill>
              </a:rPr>
              <a:t>25-26J-458 </a:t>
            </a:r>
          </a:p>
        </p:txBody>
      </p:sp>
      <p:pic>
        <p:nvPicPr>
          <p:cNvPr id="1026" name="Picture 2">
            <a:extLst>
              <a:ext uri="{FF2B5EF4-FFF2-40B4-BE49-F238E27FC236}">
                <a16:creationId xmlns:a16="http://schemas.microsoft.com/office/drawing/2014/main" id="{61A6C143-4B84-9F9A-5C5F-9C5D3A9602C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87200" y="64502"/>
            <a:ext cx="2588222" cy="277013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blue text on a white background&#10;&#10;AI-generated content may be incorrect.">
            <a:extLst>
              <a:ext uri="{FF2B5EF4-FFF2-40B4-BE49-F238E27FC236}">
                <a16:creationId xmlns:a16="http://schemas.microsoft.com/office/drawing/2014/main" id="{1669E43D-10A8-06EB-AEC9-182ABC7EC3A7}"/>
              </a:ext>
            </a:extLst>
          </p:cNvPr>
          <p:cNvPicPr>
            <a:picLocks noChangeAspect="1"/>
          </p:cNvPicPr>
          <p:nvPr/>
        </p:nvPicPr>
        <p:blipFill>
          <a:blip r:embed="rId3"/>
          <a:stretch>
            <a:fillRect/>
          </a:stretch>
        </p:blipFill>
        <p:spPr>
          <a:xfrm>
            <a:off x="298077" y="7542119"/>
            <a:ext cx="2362200" cy="514350"/>
          </a:xfrm>
          <a:prstGeom prst="rect">
            <a:avLst/>
          </a:prstGeom>
        </p:spPr>
      </p:pic>
    </p:spTree>
    <p:extLst>
      <p:ext uri="{BB962C8B-B14F-4D97-AF65-F5344CB8AC3E}">
        <p14:creationId xmlns:p14="http://schemas.microsoft.com/office/powerpoint/2010/main" val="2181409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3798" y="1097280"/>
            <a:ext cx="12902803" cy="1402556"/>
          </a:xfrm>
          <a:prstGeom prst="rect">
            <a:avLst/>
          </a:prstGeom>
          <a:noFill/>
          <a:ln/>
        </p:spPr>
        <p:txBody>
          <a:bodyPr wrap="square" lIns="0" tIns="0" rIns="0" bIns="0" rtlCol="0" anchor="t"/>
          <a:lstStyle/>
          <a:p>
            <a:pPr marL="0" indent="0" algn="l">
              <a:lnSpc>
                <a:spcPts val="5500"/>
              </a:lnSpc>
              <a:buNone/>
            </a:pPr>
            <a:r>
              <a:rPr lang="en-US" sz="4400" b="1">
                <a:solidFill>
                  <a:srgbClr val="FFFFFF"/>
                </a:solidFill>
                <a:latin typeface="Montserrat Bold" pitchFamily="34" charset="0"/>
                <a:ea typeface="Montserrat Bold" pitchFamily="34" charset="-122"/>
                <a:cs typeface="Montserrat Bold" pitchFamily="34" charset="-120"/>
              </a:rPr>
              <a:t>Adaptive Scheduler: Adaptive Break Scheduling</a:t>
            </a:r>
            <a:endParaRPr lang="en-US" sz="4400"/>
          </a:p>
        </p:txBody>
      </p:sp>
      <p:sp>
        <p:nvSpPr>
          <p:cNvPr id="3" name="Text 1"/>
          <p:cNvSpPr/>
          <p:nvPr/>
        </p:nvSpPr>
        <p:spPr>
          <a:xfrm>
            <a:off x="863798" y="2993469"/>
            <a:ext cx="12902803" cy="370165"/>
          </a:xfrm>
          <a:prstGeom prst="rect">
            <a:avLst/>
          </a:prstGeom>
          <a:noFill/>
          <a:ln/>
        </p:spPr>
        <p:txBody>
          <a:bodyPr wrap="none" lIns="0" tIns="0" rIns="0" bIns="0" rtlCol="0" anchor="t"/>
          <a:lstStyle/>
          <a:p>
            <a:pPr marL="0" indent="0" algn="l">
              <a:lnSpc>
                <a:spcPts val="2900"/>
              </a:lnSpc>
              <a:buNone/>
            </a:pPr>
            <a:r>
              <a:rPr lang="en-US" sz="1900">
                <a:solidFill>
                  <a:srgbClr val="E2E6E9"/>
                </a:solidFill>
                <a:latin typeface="Source Sans 3" pitchFamily="34" charset="0"/>
                <a:ea typeface="Source Sans 3" pitchFamily="34" charset="-122"/>
                <a:cs typeface="Source Sans 3" pitchFamily="34" charset="-120"/>
              </a:rPr>
              <a:t>Our core innovation addresses the critical gap in static study timers.</a:t>
            </a:r>
            <a:endParaRPr lang="en-US" sz="1900"/>
          </a:p>
        </p:txBody>
      </p:sp>
      <p:sp>
        <p:nvSpPr>
          <p:cNvPr id="4" name="Shape 2"/>
          <p:cNvSpPr/>
          <p:nvPr/>
        </p:nvSpPr>
        <p:spPr>
          <a:xfrm>
            <a:off x="863798" y="3641288"/>
            <a:ext cx="12902803" cy="2472928"/>
          </a:xfrm>
          <a:prstGeom prst="roundRect">
            <a:avLst>
              <a:gd name="adj" fmla="val 1497"/>
            </a:avLst>
          </a:prstGeom>
          <a:solidFill>
            <a:srgbClr val="303132"/>
          </a:solidFill>
          <a:ln/>
        </p:spPr>
        <p:txBody>
          <a:bodyPr/>
          <a:lstStyle/>
          <a:p>
            <a:endParaRPr lang="en-US"/>
          </a:p>
        </p:txBody>
      </p:sp>
      <p:sp>
        <p:nvSpPr>
          <p:cNvPr id="5" name="Shape 3"/>
          <p:cNvSpPr/>
          <p:nvPr/>
        </p:nvSpPr>
        <p:spPr>
          <a:xfrm>
            <a:off x="863798" y="3641288"/>
            <a:ext cx="4300895" cy="2472928"/>
          </a:xfrm>
          <a:prstGeom prst="roundRect">
            <a:avLst>
              <a:gd name="adj" fmla="val 1497"/>
            </a:avLst>
          </a:prstGeom>
          <a:solidFill>
            <a:srgbClr val="303132"/>
          </a:solidFill>
          <a:ln/>
        </p:spPr>
        <p:txBody>
          <a:bodyPr/>
          <a:lstStyle/>
          <a:p>
            <a:endParaRPr lang="en-US"/>
          </a:p>
        </p:txBody>
      </p:sp>
      <p:sp>
        <p:nvSpPr>
          <p:cNvPr id="6" name="Text 4"/>
          <p:cNvSpPr/>
          <p:nvPr/>
        </p:nvSpPr>
        <p:spPr>
          <a:xfrm>
            <a:off x="1110615" y="3888105"/>
            <a:ext cx="2804874" cy="350639"/>
          </a:xfrm>
          <a:prstGeom prst="rect">
            <a:avLst/>
          </a:prstGeom>
          <a:noFill/>
          <a:ln/>
        </p:spPr>
        <p:txBody>
          <a:bodyPr wrap="none" lIns="0" tIns="0" rIns="0" bIns="0" rtlCol="0" anchor="t"/>
          <a:lstStyle/>
          <a:p>
            <a:pPr marL="0" indent="0" algn="l">
              <a:lnSpc>
                <a:spcPts val="2750"/>
              </a:lnSpc>
              <a:buNone/>
            </a:pPr>
            <a:r>
              <a:rPr lang="en-US" sz="2200" b="1">
                <a:solidFill>
                  <a:srgbClr val="E2E6E9"/>
                </a:solidFill>
                <a:latin typeface="Montserrat Bold" pitchFamily="34" charset="0"/>
                <a:ea typeface="Montserrat Bold" pitchFamily="34" charset="-122"/>
                <a:cs typeface="Montserrat Bold" pitchFamily="34" charset="-120"/>
              </a:rPr>
              <a:t>The Gap</a:t>
            </a:r>
            <a:endParaRPr lang="en-US" sz="2200"/>
          </a:p>
        </p:txBody>
      </p:sp>
      <p:sp>
        <p:nvSpPr>
          <p:cNvPr id="7" name="Text 5"/>
          <p:cNvSpPr/>
          <p:nvPr/>
        </p:nvSpPr>
        <p:spPr>
          <a:xfrm>
            <a:off x="1110615" y="4386739"/>
            <a:ext cx="3437096" cy="1110496"/>
          </a:xfrm>
          <a:prstGeom prst="rect">
            <a:avLst/>
          </a:prstGeom>
          <a:noFill/>
          <a:ln/>
        </p:spPr>
        <p:txBody>
          <a:bodyPr wrap="square" lIns="0" tIns="0" rIns="0" bIns="0" rtlCol="0" anchor="t"/>
          <a:lstStyle/>
          <a:p>
            <a:pPr marL="0" indent="0" algn="l">
              <a:lnSpc>
                <a:spcPts val="2900"/>
              </a:lnSpc>
              <a:buNone/>
            </a:pPr>
            <a:r>
              <a:rPr lang="en-US" sz="1900">
                <a:solidFill>
                  <a:srgbClr val="E2E6E9"/>
                </a:solidFill>
                <a:latin typeface="Source Sans 3" pitchFamily="34" charset="0"/>
                <a:ea typeface="Source Sans 3" pitchFamily="34" charset="-122"/>
                <a:cs typeface="Source Sans 3" pitchFamily="34" charset="-120"/>
              </a:rPr>
              <a:t>Static timers fail to adapt to cognitive load; prior adaptive tools are often intrusive.</a:t>
            </a:r>
            <a:endParaRPr lang="en-US" sz="1900"/>
          </a:p>
        </p:txBody>
      </p:sp>
      <p:sp>
        <p:nvSpPr>
          <p:cNvPr id="8" name="Shape 6"/>
          <p:cNvSpPr/>
          <p:nvPr/>
        </p:nvSpPr>
        <p:spPr>
          <a:xfrm>
            <a:off x="5164693" y="3641288"/>
            <a:ext cx="4300895" cy="2472928"/>
          </a:xfrm>
          <a:prstGeom prst="rect">
            <a:avLst/>
          </a:prstGeom>
          <a:solidFill>
            <a:srgbClr val="303132"/>
          </a:solidFill>
          <a:ln/>
        </p:spPr>
        <p:txBody>
          <a:bodyPr/>
          <a:lstStyle/>
          <a:p>
            <a:endParaRPr lang="en-US"/>
          </a:p>
        </p:txBody>
      </p:sp>
      <p:sp>
        <p:nvSpPr>
          <p:cNvPr id="9" name="Shape 7"/>
          <p:cNvSpPr/>
          <p:nvPr/>
        </p:nvSpPr>
        <p:spPr>
          <a:xfrm>
            <a:off x="5164693" y="3641288"/>
            <a:ext cx="30480" cy="2472928"/>
          </a:xfrm>
          <a:prstGeom prst="roundRect">
            <a:avLst>
              <a:gd name="adj" fmla="val 121472"/>
            </a:avLst>
          </a:prstGeom>
          <a:solidFill>
            <a:srgbClr val="494A4B"/>
          </a:solidFill>
          <a:ln/>
        </p:spPr>
        <p:txBody>
          <a:bodyPr/>
          <a:lstStyle/>
          <a:p>
            <a:endParaRPr lang="en-US"/>
          </a:p>
        </p:txBody>
      </p:sp>
      <p:sp>
        <p:nvSpPr>
          <p:cNvPr id="10" name="Text 8"/>
          <p:cNvSpPr/>
          <p:nvPr/>
        </p:nvSpPr>
        <p:spPr>
          <a:xfrm>
            <a:off x="5781675" y="3888105"/>
            <a:ext cx="2804874" cy="350639"/>
          </a:xfrm>
          <a:prstGeom prst="rect">
            <a:avLst/>
          </a:prstGeom>
          <a:noFill/>
          <a:ln/>
        </p:spPr>
        <p:txBody>
          <a:bodyPr wrap="none" lIns="0" tIns="0" rIns="0" bIns="0" rtlCol="0" anchor="t"/>
          <a:lstStyle/>
          <a:p>
            <a:pPr marL="0" indent="0" algn="l">
              <a:lnSpc>
                <a:spcPts val="2750"/>
              </a:lnSpc>
              <a:buNone/>
            </a:pPr>
            <a:r>
              <a:rPr lang="en-US" sz="2200" b="1">
                <a:solidFill>
                  <a:srgbClr val="E2E6E9"/>
                </a:solidFill>
                <a:latin typeface="Montserrat Bold" pitchFamily="34" charset="0"/>
                <a:ea typeface="Montserrat Bold" pitchFamily="34" charset="-122"/>
                <a:cs typeface="Montserrat Bold" pitchFamily="34" charset="-120"/>
              </a:rPr>
              <a:t>Creative Solution</a:t>
            </a:r>
            <a:endParaRPr lang="en-US" sz="2200"/>
          </a:p>
        </p:txBody>
      </p:sp>
      <p:sp>
        <p:nvSpPr>
          <p:cNvPr id="11" name="Text 9"/>
          <p:cNvSpPr/>
          <p:nvPr/>
        </p:nvSpPr>
        <p:spPr>
          <a:xfrm>
            <a:off x="5781675" y="4386739"/>
            <a:ext cx="3066931" cy="1480661"/>
          </a:xfrm>
          <a:prstGeom prst="rect">
            <a:avLst/>
          </a:prstGeom>
          <a:noFill/>
          <a:ln/>
        </p:spPr>
        <p:txBody>
          <a:bodyPr wrap="square" lIns="0" tIns="0" rIns="0" bIns="0" rtlCol="0" anchor="t"/>
          <a:lstStyle/>
          <a:p>
            <a:pPr marL="0" indent="0" algn="l">
              <a:lnSpc>
                <a:spcPts val="2900"/>
              </a:lnSpc>
              <a:buNone/>
            </a:pPr>
            <a:r>
              <a:rPr lang="en-US" sz="1900">
                <a:solidFill>
                  <a:srgbClr val="E2E6E9"/>
                </a:solidFill>
                <a:latin typeface="Source Sans 3" pitchFamily="34" charset="0"/>
                <a:ea typeface="Source Sans 3" pitchFamily="34" charset="-122"/>
                <a:cs typeface="Source Sans 3" pitchFamily="34" charset="-120"/>
              </a:rPr>
              <a:t>An Adaptive Scheduler using contextual bandit algorithms to dynamically balance study and break cycles.</a:t>
            </a:r>
            <a:endParaRPr lang="en-US" sz="1900"/>
          </a:p>
        </p:txBody>
      </p:sp>
      <p:sp>
        <p:nvSpPr>
          <p:cNvPr id="12" name="Shape 10"/>
          <p:cNvSpPr/>
          <p:nvPr/>
        </p:nvSpPr>
        <p:spPr>
          <a:xfrm>
            <a:off x="4856202" y="4569262"/>
            <a:ext cx="616982" cy="616982"/>
          </a:xfrm>
          <a:prstGeom prst="roundRect">
            <a:avLst>
              <a:gd name="adj" fmla="val 6001"/>
            </a:avLst>
          </a:prstGeom>
          <a:solidFill>
            <a:srgbClr val="111213"/>
          </a:solidFill>
          <a:ln w="30480">
            <a:solidFill>
              <a:srgbClr val="494A4B"/>
            </a:solidFill>
            <a:prstDash val="solid"/>
          </a:ln>
        </p:spPr>
        <p:txBody>
          <a:bodyPr/>
          <a:lstStyle/>
          <a:p>
            <a:endParaRPr lang="en-US"/>
          </a:p>
        </p:txBody>
      </p:sp>
      <p:pic>
        <p:nvPicPr>
          <p:cNvPr id="13" name="Image 0" descr="preencoded.png"/>
          <p:cNvPicPr>
            <a:picLocks noChangeAspect="1"/>
          </p:cNvPicPr>
          <p:nvPr/>
        </p:nvPicPr>
        <p:blipFill>
          <a:blip r:embed="rId3"/>
          <a:stretch>
            <a:fillRect/>
          </a:stretch>
        </p:blipFill>
        <p:spPr>
          <a:xfrm>
            <a:off x="5010388" y="4684871"/>
            <a:ext cx="308491" cy="385643"/>
          </a:xfrm>
          <a:prstGeom prst="rect">
            <a:avLst/>
          </a:prstGeom>
        </p:spPr>
      </p:pic>
      <p:sp>
        <p:nvSpPr>
          <p:cNvPr id="14" name="Shape 11"/>
          <p:cNvSpPr/>
          <p:nvPr/>
        </p:nvSpPr>
        <p:spPr>
          <a:xfrm>
            <a:off x="9465588" y="3641288"/>
            <a:ext cx="4301014" cy="2472928"/>
          </a:xfrm>
          <a:prstGeom prst="rect">
            <a:avLst/>
          </a:prstGeom>
          <a:solidFill>
            <a:srgbClr val="303132"/>
          </a:solidFill>
          <a:ln/>
        </p:spPr>
        <p:txBody>
          <a:bodyPr/>
          <a:lstStyle/>
          <a:p>
            <a:endParaRPr lang="en-US"/>
          </a:p>
        </p:txBody>
      </p:sp>
      <p:sp>
        <p:nvSpPr>
          <p:cNvPr id="15" name="Shape 12"/>
          <p:cNvSpPr/>
          <p:nvPr/>
        </p:nvSpPr>
        <p:spPr>
          <a:xfrm>
            <a:off x="9465588" y="3641288"/>
            <a:ext cx="30480" cy="2472928"/>
          </a:xfrm>
          <a:prstGeom prst="roundRect">
            <a:avLst>
              <a:gd name="adj" fmla="val 121472"/>
            </a:avLst>
          </a:prstGeom>
          <a:solidFill>
            <a:srgbClr val="494A4B"/>
          </a:solidFill>
          <a:ln/>
        </p:spPr>
        <p:txBody>
          <a:bodyPr/>
          <a:lstStyle/>
          <a:p>
            <a:endParaRPr lang="en-US"/>
          </a:p>
        </p:txBody>
      </p:sp>
      <p:sp>
        <p:nvSpPr>
          <p:cNvPr id="16" name="Text 13"/>
          <p:cNvSpPr/>
          <p:nvPr/>
        </p:nvSpPr>
        <p:spPr>
          <a:xfrm>
            <a:off x="10082570" y="3888105"/>
            <a:ext cx="2910007" cy="350639"/>
          </a:xfrm>
          <a:prstGeom prst="rect">
            <a:avLst/>
          </a:prstGeom>
          <a:noFill/>
          <a:ln/>
        </p:spPr>
        <p:txBody>
          <a:bodyPr wrap="none" lIns="0" tIns="0" rIns="0" bIns="0" rtlCol="0" anchor="t"/>
          <a:lstStyle/>
          <a:p>
            <a:pPr marL="0" indent="0" algn="l">
              <a:lnSpc>
                <a:spcPts val="2750"/>
              </a:lnSpc>
              <a:buNone/>
            </a:pPr>
            <a:r>
              <a:rPr lang="en-US" sz="2200" b="1">
                <a:solidFill>
                  <a:srgbClr val="E2E6E9"/>
                </a:solidFill>
                <a:latin typeface="Montserrat Bold" pitchFamily="34" charset="0"/>
                <a:ea typeface="Montserrat Bold" pitchFamily="34" charset="-122"/>
                <a:cs typeface="Montserrat Bold" pitchFamily="34" charset="-120"/>
              </a:rPr>
              <a:t>Personalized Cycles</a:t>
            </a:r>
            <a:endParaRPr lang="en-US" sz="2200"/>
          </a:p>
        </p:txBody>
      </p:sp>
      <p:sp>
        <p:nvSpPr>
          <p:cNvPr id="17" name="Text 14"/>
          <p:cNvSpPr/>
          <p:nvPr/>
        </p:nvSpPr>
        <p:spPr>
          <a:xfrm>
            <a:off x="10082570" y="4386739"/>
            <a:ext cx="3437215" cy="1480661"/>
          </a:xfrm>
          <a:prstGeom prst="rect">
            <a:avLst/>
          </a:prstGeom>
          <a:noFill/>
          <a:ln/>
        </p:spPr>
        <p:txBody>
          <a:bodyPr wrap="square" lIns="0" tIns="0" rIns="0" bIns="0" rtlCol="0" anchor="t"/>
          <a:lstStyle/>
          <a:p>
            <a:pPr marL="0" indent="0" algn="l">
              <a:lnSpc>
                <a:spcPts val="2900"/>
              </a:lnSpc>
              <a:buNone/>
            </a:pPr>
            <a:r>
              <a:rPr lang="en-US" sz="1900">
                <a:solidFill>
                  <a:srgbClr val="E2E6E9"/>
                </a:solidFill>
                <a:latin typeface="Source Sans 3" pitchFamily="34" charset="0"/>
                <a:ea typeface="Source Sans 3" pitchFamily="34" charset="-122"/>
                <a:cs typeface="Source Sans 3" pitchFamily="34" charset="-120"/>
              </a:rPr>
              <a:t>Learns from real-time cognitive state, introducing new metrics (AHL, PG, BUC, SPF) for adaptive performance.</a:t>
            </a:r>
            <a:endParaRPr lang="en-US" sz="1900"/>
          </a:p>
        </p:txBody>
      </p:sp>
      <p:sp>
        <p:nvSpPr>
          <p:cNvPr id="18" name="Shape 15"/>
          <p:cNvSpPr/>
          <p:nvPr/>
        </p:nvSpPr>
        <p:spPr>
          <a:xfrm>
            <a:off x="9157097" y="4569262"/>
            <a:ext cx="616982" cy="616982"/>
          </a:xfrm>
          <a:prstGeom prst="roundRect">
            <a:avLst>
              <a:gd name="adj" fmla="val 6001"/>
            </a:avLst>
          </a:prstGeom>
          <a:solidFill>
            <a:srgbClr val="111213"/>
          </a:solidFill>
          <a:ln w="30480">
            <a:solidFill>
              <a:srgbClr val="494A4B"/>
            </a:solidFill>
            <a:prstDash val="solid"/>
          </a:ln>
        </p:spPr>
        <p:txBody>
          <a:bodyPr/>
          <a:lstStyle/>
          <a:p>
            <a:endParaRPr lang="en-US"/>
          </a:p>
        </p:txBody>
      </p:sp>
      <p:pic>
        <p:nvPicPr>
          <p:cNvPr id="19" name="Image 1" descr="preencoded.png"/>
          <p:cNvPicPr>
            <a:picLocks noChangeAspect="1"/>
          </p:cNvPicPr>
          <p:nvPr/>
        </p:nvPicPr>
        <p:blipFill>
          <a:blip r:embed="rId4"/>
          <a:stretch>
            <a:fillRect/>
          </a:stretch>
        </p:blipFill>
        <p:spPr>
          <a:xfrm>
            <a:off x="9311283" y="4684871"/>
            <a:ext cx="308491" cy="385643"/>
          </a:xfrm>
          <a:prstGeom prst="rect">
            <a:avLst/>
          </a:prstGeom>
        </p:spPr>
      </p:pic>
      <p:sp>
        <p:nvSpPr>
          <p:cNvPr id="20" name="Text 16"/>
          <p:cNvSpPr/>
          <p:nvPr/>
        </p:nvSpPr>
        <p:spPr>
          <a:xfrm>
            <a:off x="863798" y="6391870"/>
            <a:ext cx="12902803" cy="888248"/>
          </a:xfrm>
          <a:prstGeom prst="rect">
            <a:avLst/>
          </a:prstGeom>
          <a:noFill/>
          <a:ln/>
        </p:spPr>
        <p:txBody>
          <a:bodyPr wrap="square" lIns="0" tIns="0" rIns="0" bIns="0" rtlCol="0" anchor="t"/>
          <a:lstStyle/>
          <a:p>
            <a:r>
              <a:rPr lang="en-US" sz="1900">
                <a:solidFill>
                  <a:srgbClr val="E2E6E9"/>
                </a:solidFill>
                <a:latin typeface="Source Sans 3"/>
                <a:ea typeface="Source Sans 3" pitchFamily="34" charset="-122"/>
                <a:cs typeface="Source Sans 3" pitchFamily="34" charset="-120"/>
              </a:rPr>
              <a:t>This bandit-based adaptive scheduling is novel in the education and productivity domain, moving beyond one-size-fits-all approaches and more intrusive approaches like EEG, cameras , etc.</a:t>
            </a:r>
            <a:r>
              <a:rPr lang="en-US" sz="1900">
                <a:solidFill>
                  <a:srgbClr val="E2E6E9"/>
                </a:solidFill>
                <a:latin typeface="Source Sans 3"/>
                <a:ea typeface="+mn-lt"/>
                <a:cs typeface="+mn-lt"/>
              </a:rPr>
              <a:t> Simply Pomodoro → rigid ,EEG tools → intrusive + expensive</a:t>
            </a:r>
            <a:endParaRPr lang="en-US"/>
          </a:p>
          <a:p>
            <a:r>
              <a:rPr lang="en-US" sz="1900">
                <a:solidFill>
                  <a:srgbClr val="E2E6E9"/>
                </a:solidFill>
                <a:latin typeface="Source Sans 3"/>
                <a:ea typeface="+mn-lt"/>
                <a:cs typeface="+mn-lt"/>
              </a:rPr>
              <a:t>Adaptive LMS → focus on content, not schedule.</a:t>
            </a:r>
            <a:endParaRPr lang="en-US"/>
          </a:p>
          <a:p>
            <a:pPr>
              <a:lnSpc>
                <a:spcPts val="2900"/>
              </a:lnSpc>
            </a:pPr>
            <a:endParaRPr lang="en-US" sz="1900">
              <a:solidFill>
                <a:srgbClr val="E2E6E9"/>
              </a:solidFill>
              <a:latin typeface="Source Sans 3"/>
            </a:endParaRPr>
          </a:p>
        </p:txBody>
      </p:sp>
      <p:sp>
        <p:nvSpPr>
          <p:cNvPr id="21" name="Rectangle 20">
            <a:extLst>
              <a:ext uri="{FF2B5EF4-FFF2-40B4-BE49-F238E27FC236}">
                <a16:creationId xmlns:a16="http://schemas.microsoft.com/office/drawing/2014/main" id="{6E377670-3D41-48FA-8BAD-E00010572DD4}"/>
              </a:ext>
            </a:extLst>
          </p:cNvPr>
          <p:cNvSpPr/>
          <p:nvPr/>
        </p:nvSpPr>
        <p:spPr>
          <a:xfrm>
            <a:off x="12812751" y="7738946"/>
            <a:ext cx="1739590" cy="370165"/>
          </a:xfrm>
          <a:prstGeom prst="rect">
            <a:avLst/>
          </a:prstGeom>
          <a:solidFill>
            <a:srgbClr val="111213"/>
          </a:solidFill>
          <a:ln>
            <a:solidFill>
              <a:srgbClr val="11121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68F7CB26-4AD8-24DC-7B8F-31CBEA848DFF}"/>
              </a:ext>
            </a:extLst>
          </p:cNvPr>
          <p:cNvSpPr/>
          <p:nvPr/>
        </p:nvSpPr>
        <p:spPr>
          <a:xfrm>
            <a:off x="3226158" y="7603190"/>
            <a:ext cx="8179638" cy="4381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r>
              <a:rPr lang="en-US" sz="2150" b="1">
                <a:solidFill>
                  <a:schemeClr val="bg1"/>
                </a:solidFill>
              </a:rPr>
              <a:t>IT22054418</a:t>
            </a:r>
            <a:r>
              <a:rPr lang="en-US" sz="2150">
                <a:solidFill>
                  <a:schemeClr val="bg1"/>
                </a:solidFill>
              </a:rPr>
              <a:t>   |   </a:t>
            </a:r>
            <a:r>
              <a:rPr lang="en-US" sz="2550" err="1">
                <a:solidFill>
                  <a:schemeClr val="bg1"/>
                </a:solidFill>
              </a:rPr>
              <a:t>V.I.Kaluarachchi</a:t>
            </a:r>
            <a:r>
              <a:rPr lang="en-US" sz="2150" b="1">
                <a:solidFill>
                  <a:schemeClr val="bg1"/>
                </a:solidFill>
              </a:rPr>
              <a:t>   </a:t>
            </a:r>
            <a:r>
              <a:rPr lang="en-US" sz="2150">
                <a:solidFill>
                  <a:schemeClr val="bg1"/>
                </a:solidFill>
              </a:rPr>
              <a:t>|   </a:t>
            </a:r>
            <a:r>
              <a:rPr lang="en-US" sz="2150" b="0">
                <a:solidFill>
                  <a:schemeClr val="bg1"/>
                </a:solidFill>
              </a:rPr>
              <a:t>25-26J-458 </a:t>
            </a:r>
            <a:endParaRPr lang="en-US" sz="2150" b="0">
              <a:solidFill>
                <a:schemeClr val="bg1"/>
              </a:solidFill>
              <a:ea typeface="Calibri"/>
              <a:cs typeface="Calibri"/>
            </a:endParaRPr>
          </a:p>
        </p:txBody>
      </p:sp>
      <p:pic>
        <p:nvPicPr>
          <p:cNvPr id="25" name="Picture 24" descr="A blue text on a white background&#10;&#10;AI-generated content may be incorrect.">
            <a:extLst>
              <a:ext uri="{FF2B5EF4-FFF2-40B4-BE49-F238E27FC236}">
                <a16:creationId xmlns:a16="http://schemas.microsoft.com/office/drawing/2014/main" id="{153CD19B-32FD-551D-257C-6C94217947D1}"/>
              </a:ext>
            </a:extLst>
          </p:cNvPr>
          <p:cNvPicPr>
            <a:picLocks noChangeAspect="1"/>
          </p:cNvPicPr>
          <p:nvPr/>
        </p:nvPicPr>
        <p:blipFill>
          <a:blip r:embed="rId5"/>
          <a:stretch>
            <a:fillRect/>
          </a:stretch>
        </p:blipFill>
        <p:spPr>
          <a:xfrm>
            <a:off x="298077" y="7542119"/>
            <a:ext cx="2362200" cy="5143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3798" y="793552"/>
            <a:ext cx="7668458" cy="490776"/>
          </a:xfrm>
          <a:prstGeom prst="rect">
            <a:avLst/>
          </a:prstGeom>
          <a:noFill/>
          <a:ln/>
        </p:spPr>
        <p:txBody>
          <a:bodyPr wrap="none" lIns="0" tIns="0" rIns="0" bIns="0" rtlCol="0" anchor="t"/>
          <a:lstStyle/>
          <a:p>
            <a:pPr marL="0" indent="0" algn="l">
              <a:lnSpc>
                <a:spcPts val="3850"/>
              </a:lnSpc>
              <a:buNone/>
            </a:pPr>
            <a:r>
              <a:rPr lang="en-US" sz="3050" b="1">
                <a:solidFill>
                  <a:srgbClr val="FFFFFF"/>
                </a:solidFill>
                <a:latin typeface="Microsoft YaHei UI" panose="020B0503020204020204" pitchFamily="34" charset="-122"/>
                <a:ea typeface="Microsoft YaHei UI" panose="020B0503020204020204" pitchFamily="34" charset="-122"/>
                <a:cs typeface="Montserrat Bold" pitchFamily="34" charset="-120"/>
              </a:rPr>
              <a:t>Specialized Knowledge &amp; Technology</a:t>
            </a:r>
            <a:endParaRPr lang="en-US" sz="3050">
              <a:latin typeface="Microsoft YaHei UI" panose="020B0503020204020204" pitchFamily="34" charset="-122"/>
              <a:ea typeface="Microsoft YaHei UI" panose="020B0503020204020204" pitchFamily="34" charset="-122"/>
            </a:endParaRPr>
          </a:p>
        </p:txBody>
      </p:sp>
      <p:sp>
        <p:nvSpPr>
          <p:cNvPr id="3" name="Text 1"/>
          <p:cNvSpPr/>
          <p:nvPr/>
        </p:nvSpPr>
        <p:spPr>
          <a:xfrm>
            <a:off x="863798" y="1716167"/>
            <a:ext cx="2356009" cy="294442"/>
          </a:xfrm>
          <a:prstGeom prst="rect">
            <a:avLst/>
          </a:prstGeom>
          <a:noFill/>
          <a:ln/>
        </p:spPr>
        <p:txBody>
          <a:bodyPr wrap="none" lIns="0" tIns="0" rIns="0" bIns="0" rtlCol="0" anchor="t"/>
          <a:lstStyle/>
          <a:p>
            <a:pPr marL="0" indent="0" algn="l">
              <a:lnSpc>
                <a:spcPts val="2300"/>
              </a:lnSpc>
              <a:buNone/>
            </a:pPr>
            <a:r>
              <a:rPr lang="en-US" sz="1850" b="1">
                <a:solidFill>
                  <a:srgbClr val="FFFFFF"/>
                </a:solidFill>
                <a:latin typeface="Microsoft YaHei UI" panose="020B0503020204020204" pitchFamily="34" charset="-122"/>
                <a:ea typeface="Microsoft YaHei UI" panose="020B0503020204020204" pitchFamily="34" charset="-122"/>
                <a:cs typeface="Montserrat Bold" pitchFamily="34" charset="-120"/>
              </a:rPr>
              <a:t>Domains Applied</a:t>
            </a:r>
            <a:endParaRPr lang="en-US" sz="1850">
              <a:latin typeface="Microsoft YaHei UI" panose="020B0503020204020204" pitchFamily="34" charset="-122"/>
              <a:ea typeface="Microsoft YaHei UI" panose="020B0503020204020204" pitchFamily="34" charset="-122"/>
            </a:endParaRPr>
          </a:p>
        </p:txBody>
      </p:sp>
      <p:pic>
        <p:nvPicPr>
          <p:cNvPr id="4" name="Image 0" descr="preencoded.png"/>
          <p:cNvPicPr>
            <a:picLocks noChangeAspect="1"/>
          </p:cNvPicPr>
          <p:nvPr/>
        </p:nvPicPr>
        <p:blipFill>
          <a:blip r:embed="rId3"/>
          <a:stretch>
            <a:fillRect/>
          </a:stretch>
        </p:blipFill>
        <p:spPr>
          <a:xfrm>
            <a:off x="863798" y="2204918"/>
            <a:ext cx="345519" cy="345519"/>
          </a:xfrm>
          <a:prstGeom prst="rect">
            <a:avLst/>
          </a:prstGeom>
        </p:spPr>
      </p:pic>
      <p:sp>
        <p:nvSpPr>
          <p:cNvPr id="5" name="Text 2"/>
          <p:cNvSpPr/>
          <p:nvPr/>
        </p:nvSpPr>
        <p:spPr>
          <a:xfrm>
            <a:off x="1425177" y="2198899"/>
            <a:ext cx="2159284" cy="294373"/>
          </a:xfrm>
          <a:prstGeom prst="rect">
            <a:avLst/>
          </a:prstGeom>
          <a:noFill/>
          <a:ln/>
        </p:spPr>
        <p:txBody>
          <a:bodyPr wrap="none" lIns="0" tIns="0" rIns="0" bIns="0" rtlCol="0" anchor="t"/>
          <a:lstStyle/>
          <a:p>
            <a:pPr>
              <a:lnSpc>
                <a:spcPts val="1900"/>
              </a:lnSpc>
            </a:pPr>
            <a:r>
              <a:rPr lang="en-US" sz="1500" b="1">
                <a:solidFill>
                  <a:srgbClr val="E2E6E9"/>
                </a:solidFill>
                <a:latin typeface="Microsoft YaHei UI"/>
                <a:ea typeface="Microsoft YaHei UI"/>
              </a:rPr>
              <a:t>Fluid implementation</a:t>
            </a:r>
            <a:endParaRPr lang="en-US"/>
          </a:p>
        </p:txBody>
      </p:sp>
      <p:sp>
        <p:nvSpPr>
          <p:cNvPr id="6" name="Text 3"/>
          <p:cNvSpPr/>
          <p:nvPr/>
        </p:nvSpPr>
        <p:spPr>
          <a:xfrm>
            <a:off x="1425178" y="2682359"/>
            <a:ext cx="5679281" cy="259080"/>
          </a:xfrm>
          <a:prstGeom prst="rect">
            <a:avLst/>
          </a:prstGeom>
          <a:noFill/>
          <a:ln/>
        </p:spPr>
        <p:txBody>
          <a:bodyPr wrap="none" lIns="0" tIns="0" rIns="0" bIns="0" rtlCol="0" anchor="t"/>
          <a:lstStyle/>
          <a:p>
            <a:pPr marL="0" indent="0" algn="l">
              <a:lnSpc>
                <a:spcPts val="2000"/>
              </a:lnSpc>
              <a:buNone/>
            </a:pPr>
            <a:r>
              <a:rPr lang="en-US" sz="1350">
                <a:solidFill>
                  <a:srgbClr val="E2E6E9"/>
                </a:solidFill>
                <a:latin typeface="Microsoft YaHei UI" panose="020B0503020204020204" pitchFamily="34" charset="-122"/>
                <a:ea typeface="Microsoft YaHei UI" panose="020B0503020204020204" pitchFamily="34" charset="-122"/>
                <a:cs typeface="Source Sans 3" pitchFamily="34" charset="-120"/>
              </a:rPr>
              <a:t>Fluid implementation using regression or decision trees.</a:t>
            </a:r>
            <a:endParaRPr lang="en-US" sz="1350">
              <a:latin typeface="Microsoft YaHei UI" panose="020B0503020204020204" pitchFamily="34" charset="-122"/>
              <a:ea typeface="Microsoft YaHei UI" panose="020B0503020204020204" pitchFamily="34" charset="-122"/>
            </a:endParaRPr>
          </a:p>
        </p:txBody>
      </p:sp>
      <p:pic>
        <p:nvPicPr>
          <p:cNvPr id="7" name="Image 1" descr="preencoded.png"/>
          <p:cNvPicPr>
            <a:picLocks noChangeAspect="1"/>
          </p:cNvPicPr>
          <p:nvPr/>
        </p:nvPicPr>
        <p:blipFill>
          <a:blip r:embed="rId4"/>
          <a:stretch>
            <a:fillRect/>
          </a:stretch>
        </p:blipFill>
        <p:spPr>
          <a:xfrm>
            <a:off x="863798" y="3286958"/>
            <a:ext cx="345519" cy="345519"/>
          </a:xfrm>
          <a:prstGeom prst="rect">
            <a:avLst/>
          </a:prstGeom>
        </p:spPr>
      </p:pic>
      <p:sp>
        <p:nvSpPr>
          <p:cNvPr id="8" name="Text 4"/>
          <p:cNvSpPr/>
          <p:nvPr/>
        </p:nvSpPr>
        <p:spPr>
          <a:xfrm>
            <a:off x="1425178" y="3346252"/>
            <a:ext cx="1963341" cy="245388"/>
          </a:xfrm>
          <a:prstGeom prst="rect">
            <a:avLst/>
          </a:prstGeom>
          <a:noFill/>
          <a:ln/>
        </p:spPr>
        <p:txBody>
          <a:bodyPr wrap="none" lIns="0" tIns="0" rIns="0" bIns="0" rtlCol="0" anchor="t"/>
          <a:lstStyle/>
          <a:p>
            <a:pPr marL="0" indent="0" algn="l">
              <a:lnSpc>
                <a:spcPts val="1900"/>
              </a:lnSpc>
              <a:buNone/>
            </a:pPr>
            <a:r>
              <a:rPr lang="en-US" sz="1500" b="1">
                <a:solidFill>
                  <a:srgbClr val="E2E6E9"/>
                </a:solidFill>
                <a:latin typeface="Microsoft YaHei UI" panose="020B0503020204020204" pitchFamily="34" charset="-122"/>
                <a:ea typeface="Microsoft YaHei UI" panose="020B0503020204020204" pitchFamily="34" charset="-122"/>
                <a:cs typeface="Montserrat Bold" pitchFamily="34" charset="-120"/>
              </a:rPr>
              <a:t>HCI</a:t>
            </a:r>
            <a:endParaRPr lang="en-US" sz="1500">
              <a:latin typeface="Microsoft YaHei UI" panose="020B0503020204020204" pitchFamily="34" charset="-122"/>
              <a:ea typeface="Microsoft YaHei UI" panose="020B0503020204020204" pitchFamily="34" charset="-122"/>
            </a:endParaRPr>
          </a:p>
        </p:txBody>
      </p:sp>
      <p:sp>
        <p:nvSpPr>
          <p:cNvPr id="9" name="Text 5"/>
          <p:cNvSpPr/>
          <p:nvPr/>
        </p:nvSpPr>
        <p:spPr>
          <a:xfrm>
            <a:off x="1425178" y="3764399"/>
            <a:ext cx="5679281" cy="259080"/>
          </a:xfrm>
          <a:prstGeom prst="rect">
            <a:avLst/>
          </a:prstGeom>
          <a:noFill/>
          <a:ln/>
        </p:spPr>
        <p:txBody>
          <a:bodyPr wrap="none" lIns="0" tIns="0" rIns="0" bIns="0" rtlCol="0" anchor="t"/>
          <a:lstStyle/>
          <a:p>
            <a:pPr marL="0" indent="0" algn="l">
              <a:lnSpc>
                <a:spcPts val="2000"/>
              </a:lnSpc>
              <a:buNone/>
            </a:pPr>
            <a:r>
              <a:rPr lang="en-US" sz="1350">
                <a:solidFill>
                  <a:srgbClr val="E2E6E9"/>
                </a:solidFill>
                <a:latin typeface="Microsoft YaHei UI" panose="020B0503020204020204" pitchFamily="34" charset="-122"/>
                <a:ea typeface="Microsoft YaHei UI" panose="020B0503020204020204" pitchFamily="34" charset="-122"/>
                <a:cs typeface="Source Sans 3" pitchFamily="34" charset="-120"/>
              </a:rPr>
              <a:t>Adaptive timers and effective feedback design.</a:t>
            </a:r>
            <a:endParaRPr lang="en-US" sz="1350">
              <a:latin typeface="Microsoft YaHei UI" panose="020B0503020204020204" pitchFamily="34" charset="-122"/>
              <a:ea typeface="Microsoft YaHei UI" panose="020B0503020204020204" pitchFamily="34" charset="-122"/>
            </a:endParaRPr>
          </a:p>
        </p:txBody>
      </p:sp>
      <p:pic>
        <p:nvPicPr>
          <p:cNvPr id="10" name="Image 2" descr="preencoded.png"/>
          <p:cNvPicPr>
            <a:picLocks noChangeAspect="1"/>
          </p:cNvPicPr>
          <p:nvPr/>
        </p:nvPicPr>
        <p:blipFill>
          <a:blip r:embed="rId5"/>
          <a:stretch>
            <a:fillRect/>
          </a:stretch>
        </p:blipFill>
        <p:spPr>
          <a:xfrm>
            <a:off x="863798" y="4368998"/>
            <a:ext cx="345519" cy="345519"/>
          </a:xfrm>
          <a:prstGeom prst="rect">
            <a:avLst/>
          </a:prstGeom>
        </p:spPr>
      </p:pic>
      <p:sp>
        <p:nvSpPr>
          <p:cNvPr id="11" name="Text 6"/>
          <p:cNvSpPr/>
          <p:nvPr/>
        </p:nvSpPr>
        <p:spPr>
          <a:xfrm>
            <a:off x="1425178" y="4428292"/>
            <a:ext cx="1963341" cy="245388"/>
          </a:xfrm>
          <a:prstGeom prst="rect">
            <a:avLst/>
          </a:prstGeom>
          <a:noFill/>
          <a:ln/>
        </p:spPr>
        <p:txBody>
          <a:bodyPr wrap="none" lIns="0" tIns="0" rIns="0" bIns="0" rtlCol="0" anchor="t"/>
          <a:lstStyle/>
          <a:p>
            <a:pPr marL="0" indent="0" algn="l">
              <a:lnSpc>
                <a:spcPts val="1900"/>
              </a:lnSpc>
              <a:buNone/>
            </a:pPr>
            <a:r>
              <a:rPr lang="en-US" sz="1500" b="1">
                <a:solidFill>
                  <a:srgbClr val="E2E6E9"/>
                </a:solidFill>
                <a:latin typeface="Microsoft YaHei UI" panose="020B0503020204020204" pitchFamily="34" charset="-122"/>
                <a:ea typeface="Microsoft YaHei UI" panose="020B0503020204020204" pitchFamily="34" charset="-122"/>
                <a:cs typeface="Montserrat Bold" pitchFamily="34" charset="-120"/>
              </a:rPr>
              <a:t>Data Science</a:t>
            </a:r>
            <a:endParaRPr lang="en-US" sz="1500">
              <a:latin typeface="Microsoft YaHei UI" panose="020B0503020204020204" pitchFamily="34" charset="-122"/>
              <a:ea typeface="Microsoft YaHei UI" panose="020B0503020204020204" pitchFamily="34" charset="-122"/>
            </a:endParaRPr>
          </a:p>
        </p:txBody>
      </p:sp>
      <p:sp>
        <p:nvSpPr>
          <p:cNvPr id="12" name="Text 7"/>
          <p:cNvSpPr/>
          <p:nvPr/>
        </p:nvSpPr>
        <p:spPr>
          <a:xfrm>
            <a:off x="1425178" y="4846439"/>
            <a:ext cx="5679281" cy="259080"/>
          </a:xfrm>
          <a:prstGeom prst="rect">
            <a:avLst/>
          </a:prstGeom>
          <a:noFill/>
          <a:ln/>
        </p:spPr>
        <p:txBody>
          <a:bodyPr wrap="none" lIns="0" tIns="0" rIns="0" bIns="0" rtlCol="0" anchor="t"/>
          <a:lstStyle/>
          <a:p>
            <a:pPr marL="0" indent="0" algn="l">
              <a:lnSpc>
                <a:spcPts val="2000"/>
              </a:lnSpc>
              <a:buNone/>
            </a:pPr>
            <a:r>
              <a:rPr lang="en-US" sz="1350">
                <a:solidFill>
                  <a:srgbClr val="E2E6E9"/>
                </a:solidFill>
                <a:latin typeface="Microsoft YaHei UI" panose="020B0503020204020204" pitchFamily="34" charset="-122"/>
                <a:ea typeface="Microsoft YaHei UI" panose="020B0503020204020204" pitchFamily="34" charset="-122"/>
                <a:cs typeface="Source Sans 3" pitchFamily="34" charset="-120"/>
              </a:rPr>
              <a:t>Reward modeling and personalization metrics.</a:t>
            </a:r>
            <a:endParaRPr lang="en-US" sz="1350">
              <a:latin typeface="Microsoft YaHei UI" panose="020B0503020204020204" pitchFamily="34" charset="-122"/>
              <a:ea typeface="Microsoft YaHei UI" panose="020B0503020204020204" pitchFamily="34" charset="-122"/>
            </a:endParaRPr>
          </a:p>
        </p:txBody>
      </p:sp>
      <p:sp>
        <p:nvSpPr>
          <p:cNvPr id="13" name="Text 8"/>
          <p:cNvSpPr/>
          <p:nvPr/>
        </p:nvSpPr>
        <p:spPr>
          <a:xfrm>
            <a:off x="7533561" y="1716167"/>
            <a:ext cx="2356009" cy="294442"/>
          </a:xfrm>
          <a:prstGeom prst="rect">
            <a:avLst/>
          </a:prstGeom>
          <a:noFill/>
          <a:ln/>
        </p:spPr>
        <p:txBody>
          <a:bodyPr wrap="none" lIns="0" tIns="0" rIns="0" bIns="0" rtlCol="0" anchor="t"/>
          <a:lstStyle/>
          <a:p>
            <a:pPr marL="0" indent="0" algn="l">
              <a:lnSpc>
                <a:spcPts val="2300"/>
              </a:lnSpc>
              <a:buNone/>
            </a:pPr>
            <a:r>
              <a:rPr lang="en-US" sz="1850" b="1">
                <a:solidFill>
                  <a:srgbClr val="FFFFFF"/>
                </a:solidFill>
                <a:latin typeface="Microsoft YaHei UI" panose="020B0503020204020204" pitchFamily="34" charset="-122"/>
                <a:ea typeface="Microsoft YaHei UI" panose="020B0503020204020204" pitchFamily="34" charset="-122"/>
                <a:cs typeface="Montserrat Bold" pitchFamily="34" charset="-120"/>
              </a:rPr>
              <a:t>Technologies Used</a:t>
            </a:r>
            <a:endParaRPr lang="en-US" sz="1850">
              <a:latin typeface="Microsoft YaHei UI" panose="020B0503020204020204" pitchFamily="34" charset="-122"/>
              <a:ea typeface="Microsoft YaHei UI" panose="020B0503020204020204" pitchFamily="34" charset="-122"/>
            </a:endParaRPr>
          </a:p>
        </p:txBody>
      </p:sp>
      <p:sp>
        <p:nvSpPr>
          <p:cNvPr id="14" name="Shape 9"/>
          <p:cNvSpPr/>
          <p:nvPr/>
        </p:nvSpPr>
        <p:spPr>
          <a:xfrm>
            <a:off x="7533561" y="2463998"/>
            <a:ext cx="6240661" cy="1304687"/>
          </a:xfrm>
          <a:prstGeom prst="roundRect">
            <a:avLst>
              <a:gd name="adj" fmla="val 8410"/>
            </a:avLst>
          </a:prstGeom>
          <a:solidFill>
            <a:srgbClr val="111213"/>
          </a:solidFill>
          <a:ln/>
        </p:spPr>
        <p:txBody>
          <a:bodyPr/>
          <a:lstStyle/>
          <a:p>
            <a:endParaRPr lang="en-US">
              <a:latin typeface="Microsoft YaHei UI" panose="020B0503020204020204" pitchFamily="34" charset="-122"/>
              <a:ea typeface="Microsoft YaHei UI" panose="020B0503020204020204" pitchFamily="34" charset="-122"/>
            </a:endParaRPr>
          </a:p>
        </p:txBody>
      </p:sp>
      <p:sp>
        <p:nvSpPr>
          <p:cNvPr id="15" name="Shape 10"/>
          <p:cNvSpPr/>
          <p:nvPr/>
        </p:nvSpPr>
        <p:spPr>
          <a:xfrm>
            <a:off x="7533561" y="2441138"/>
            <a:ext cx="6240661" cy="91440"/>
          </a:xfrm>
          <a:prstGeom prst="roundRect">
            <a:avLst>
              <a:gd name="adj" fmla="val 28344"/>
            </a:avLst>
          </a:prstGeom>
          <a:solidFill>
            <a:srgbClr val="FFFFFF"/>
          </a:solidFill>
          <a:ln/>
        </p:spPr>
        <p:txBody>
          <a:bodyPr/>
          <a:lstStyle/>
          <a:p>
            <a:endParaRPr lang="en-US">
              <a:latin typeface="Microsoft YaHei UI" panose="020B0503020204020204" pitchFamily="34" charset="-122"/>
              <a:ea typeface="Microsoft YaHei UI" panose="020B0503020204020204" pitchFamily="34" charset="-122"/>
            </a:endParaRPr>
          </a:p>
        </p:txBody>
      </p:sp>
      <p:sp>
        <p:nvSpPr>
          <p:cNvPr id="16" name="Shape 11"/>
          <p:cNvSpPr/>
          <p:nvPr/>
        </p:nvSpPr>
        <p:spPr>
          <a:xfrm>
            <a:off x="10394692" y="2204918"/>
            <a:ext cx="518279" cy="518279"/>
          </a:xfrm>
          <a:prstGeom prst="roundRect">
            <a:avLst>
              <a:gd name="adj" fmla="val 176430"/>
            </a:avLst>
          </a:prstGeom>
          <a:solidFill>
            <a:srgbClr val="FFFFFF"/>
          </a:solidFill>
          <a:ln/>
        </p:spPr>
        <p:txBody>
          <a:bodyPr/>
          <a:lstStyle/>
          <a:p>
            <a:endParaRPr lang="en-US">
              <a:latin typeface="Microsoft YaHei UI" panose="020B0503020204020204" pitchFamily="34" charset="-122"/>
              <a:ea typeface="Microsoft YaHei UI" panose="020B0503020204020204" pitchFamily="34" charset="-122"/>
            </a:endParaRPr>
          </a:p>
        </p:txBody>
      </p:sp>
      <p:pic>
        <p:nvPicPr>
          <p:cNvPr id="17" name="Image 3" descr="preencoded.png"/>
          <p:cNvPicPr>
            <a:picLocks noChangeAspect="1"/>
          </p:cNvPicPr>
          <p:nvPr/>
        </p:nvPicPr>
        <p:blipFill>
          <a:blip r:embed="rId6"/>
          <a:stretch>
            <a:fillRect/>
          </a:stretch>
        </p:blipFill>
        <p:spPr>
          <a:xfrm>
            <a:off x="10550188" y="2334458"/>
            <a:ext cx="207288" cy="259080"/>
          </a:xfrm>
          <a:prstGeom prst="rect">
            <a:avLst/>
          </a:prstGeom>
        </p:spPr>
      </p:pic>
      <p:sp>
        <p:nvSpPr>
          <p:cNvPr id="18" name="Text 12"/>
          <p:cNvSpPr/>
          <p:nvPr/>
        </p:nvSpPr>
        <p:spPr>
          <a:xfrm>
            <a:off x="7729180" y="2895838"/>
            <a:ext cx="1963341" cy="245388"/>
          </a:xfrm>
          <a:prstGeom prst="rect">
            <a:avLst/>
          </a:prstGeom>
          <a:noFill/>
          <a:ln/>
        </p:spPr>
        <p:txBody>
          <a:bodyPr wrap="none" lIns="0" tIns="0" rIns="0" bIns="0" rtlCol="0" anchor="t"/>
          <a:lstStyle/>
          <a:p>
            <a:pPr marL="0" indent="0" algn="l">
              <a:lnSpc>
                <a:spcPts val="1900"/>
              </a:lnSpc>
              <a:buNone/>
            </a:pPr>
            <a:r>
              <a:rPr lang="en-US" sz="1500" b="1">
                <a:solidFill>
                  <a:srgbClr val="E2E6E9"/>
                </a:solidFill>
                <a:latin typeface="Microsoft YaHei UI" panose="020B0503020204020204" pitchFamily="34" charset="-122"/>
                <a:ea typeface="Microsoft YaHei UI" panose="020B0503020204020204" pitchFamily="34" charset="-122"/>
                <a:cs typeface="Montserrat Bold" pitchFamily="34" charset="-120"/>
              </a:rPr>
              <a:t>Bandit Algorithms</a:t>
            </a:r>
            <a:endParaRPr lang="en-US" sz="1500">
              <a:latin typeface="Microsoft YaHei UI" panose="020B0503020204020204" pitchFamily="34" charset="-122"/>
              <a:ea typeface="Microsoft YaHei UI" panose="020B0503020204020204" pitchFamily="34" charset="-122"/>
            </a:endParaRPr>
          </a:p>
        </p:txBody>
      </p:sp>
      <p:sp>
        <p:nvSpPr>
          <p:cNvPr id="19" name="Text 13"/>
          <p:cNvSpPr/>
          <p:nvPr/>
        </p:nvSpPr>
        <p:spPr>
          <a:xfrm>
            <a:off x="7729180" y="3313986"/>
            <a:ext cx="5849422" cy="259080"/>
          </a:xfrm>
          <a:prstGeom prst="rect">
            <a:avLst/>
          </a:prstGeom>
          <a:noFill/>
          <a:ln/>
        </p:spPr>
        <p:txBody>
          <a:bodyPr wrap="none" lIns="0" tIns="0" rIns="0" bIns="0" rtlCol="0" anchor="t"/>
          <a:lstStyle/>
          <a:p>
            <a:pPr>
              <a:lnSpc>
                <a:spcPts val="2000"/>
              </a:lnSpc>
            </a:pPr>
            <a:r>
              <a:rPr lang="en-US" sz="1350">
                <a:solidFill>
                  <a:srgbClr val="E2E6E9"/>
                </a:solidFill>
                <a:latin typeface="Microsoft YaHei UI"/>
                <a:ea typeface="Microsoft YaHei UI"/>
                <a:cs typeface="Source Sans 3" pitchFamily="34" charset="-120"/>
              </a:rPr>
              <a:t>Leveraging </a:t>
            </a:r>
            <a:r>
              <a:rPr lang="en-US" sz="1350" err="1">
                <a:solidFill>
                  <a:srgbClr val="E2E6E9"/>
                </a:solidFill>
                <a:latin typeface="Microsoft YaHei UI"/>
                <a:ea typeface="Microsoft YaHei UI"/>
                <a:cs typeface="Source Sans 3" pitchFamily="34" charset="-120"/>
              </a:rPr>
              <a:t>LinUCB</a:t>
            </a:r>
            <a:r>
              <a:rPr lang="en-US" sz="1350">
                <a:solidFill>
                  <a:srgbClr val="E2E6E9"/>
                </a:solidFill>
                <a:latin typeface="Microsoft YaHei UI"/>
                <a:ea typeface="Microsoft YaHei UI"/>
                <a:cs typeface="Source Sans 3" pitchFamily="34" charset="-120"/>
              </a:rPr>
              <a:t> and Thompson Sampling. Using bandit algorithms over deep learning RL due to </a:t>
            </a:r>
            <a:r>
              <a:rPr lang="en-US" sz="1350" err="1">
                <a:solidFill>
                  <a:srgbClr val="E2E6E9"/>
                </a:solidFill>
                <a:latin typeface="Microsoft YaHei UI"/>
                <a:ea typeface="Microsoft YaHei UI"/>
                <a:cs typeface="Source Sans 3" pitchFamily="34" charset="-120"/>
              </a:rPr>
              <a:t>ligher</a:t>
            </a:r>
            <a:r>
              <a:rPr lang="en-US" sz="1350">
                <a:solidFill>
                  <a:srgbClr val="E2E6E9"/>
                </a:solidFill>
                <a:latin typeface="Microsoft YaHei UI"/>
                <a:ea typeface="Microsoft YaHei UI"/>
                <a:cs typeface="Source Sans 3" pitchFamily="34" charset="-120"/>
              </a:rPr>
              <a:t> much faster online learning ability.</a:t>
            </a:r>
            <a:endParaRPr lang="en-US" sz="1350">
              <a:latin typeface="Microsoft YaHei UI" panose="020B0503020204020204" pitchFamily="34" charset="-122"/>
              <a:ea typeface="Microsoft YaHei UI" panose="020B0503020204020204" pitchFamily="34" charset="-122"/>
            </a:endParaRPr>
          </a:p>
        </p:txBody>
      </p:sp>
      <p:sp>
        <p:nvSpPr>
          <p:cNvPr id="20" name="Shape 14"/>
          <p:cNvSpPr/>
          <p:nvPr/>
        </p:nvSpPr>
        <p:spPr>
          <a:xfrm>
            <a:off x="7533561" y="4200525"/>
            <a:ext cx="6240661" cy="1304687"/>
          </a:xfrm>
          <a:prstGeom prst="roundRect">
            <a:avLst>
              <a:gd name="adj" fmla="val 8410"/>
            </a:avLst>
          </a:prstGeom>
          <a:solidFill>
            <a:srgbClr val="111213"/>
          </a:solidFill>
          <a:ln/>
        </p:spPr>
        <p:txBody>
          <a:bodyPr/>
          <a:lstStyle/>
          <a:p>
            <a:endParaRPr lang="en-US">
              <a:latin typeface="Microsoft YaHei UI" panose="020B0503020204020204" pitchFamily="34" charset="-122"/>
              <a:ea typeface="Microsoft YaHei UI" panose="020B0503020204020204" pitchFamily="34" charset="-122"/>
            </a:endParaRPr>
          </a:p>
        </p:txBody>
      </p:sp>
      <p:sp>
        <p:nvSpPr>
          <p:cNvPr id="21" name="Shape 15"/>
          <p:cNvSpPr/>
          <p:nvPr/>
        </p:nvSpPr>
        <p:spPr>
          <a:xfrm>
            <a:off x="7533561" y="4177665"/>
            <a:ext cx="6240661" cy="91440"/>
          </a:xfrm>
          <a:prstGeom prst="roundRect">
            <a:avLst>
              <a:gd name="adj" fmla="val 28344"/>
            </a:avLst>
          </a:prstGeom>
          <a:solidFill>
            <a:srgbClr val="FFFFFF"/>
          </a:solidFill>
          <a:ln/>
        </p:spPr>
        <p:txBody>
          <a:bodyPr/>
          <a:lstStyle/>
          <a:p>
            <a:endParaRPr lang="en-US">
              <a:latin typeface="Microsoft YaHei UI" panose="020B0503020204020204" pitchFamily="34" charset="-122"/>
              <a:ea typeface="Microsoft YaHei UI" panose="020B0503020204020204" pitchFamily="34" charset="-122"/>
            </a:endParaRPr>
          </a:p>
        </p:txBody>
      </p:sp>
      <p:sp>
        <p:nvSpPr>
          <p:cNvPr id="22" name="Shape 16"/>
          <p:cNvSpPr/>
          <p:nvPr/>
        </p:nvSpPr>
        <p:spPr>
          <a:xfrm>
            <a:off x="10394692" y="3941445"/>
            <a:ext cx="518279" cy="518279"/>
          </a:xfrm>
          <a:prstGeom prst="roundRect">
            <a:avLst>
              <a:gd name="adj" fmla="val 176430"/>
            </a:avLst>
          </a:prstGeom>
          <a:solidFill>
            <a:srgbClr val="FFFFFF"/>
          </a:solidFill>
          <a:ln/>
        </p:spPr>
        <p:txBody>
          <a:bodyPr/>
          <a:lstStyle/>
          <a:p>
            <a:endParaRPr lang="en-US">
              <a:latin typeface="Microsoft YaHei UI" panose="020B0503020204020204" pitchFamily="34" charset="-122"/>
              <a:ea typeface="Microsoft YaHei UI" panose="020B0503020204020204" pitchFamily="34" charset="-122"/>
            </a:endParaRPr>
          </a:p>
        </p:txBody>
      </p:sp>
      <p:pic>
        <p:nvPicPr>
          <p:cNvPr id="23" name="Image 4" descr="preencoded.png"/>
          <p:cNvPicPr>
            <a:picLocks noChangeAspect="1"/>
          </p:cNvPicPr>
          <p:nvPr/>
        </p:nvPicPr>
        <p:blipFill>
          <a:blip r:embed="rId7"/>
          <a:stretch>
            <a:fillRect/>
          </a:stretch>
        </p:blipFill>
        <p:spPr>
          <a:xfrm>
            <a:off x="10550188" y="4070985"/>
            <a:ext cx="207288" cy="259080"/>
          </a:xfrm>
          <a:prstGeom prst="rect">
            <a:avLst/>
          </a:prstGeom>
        </p:spPr>
      </p:pic>
      <p:sp>
        <p:nvSpPr>
          <p:cNvPr id="24" name="Text 17"/>
          <p:cNvSpPr/>
          <p:nvPr/>
        </p:nvSpPr>
        <p:spPr>
          <a:xfrm>
            <a:off x="7729180" y="4632365"/>
            <a:ext cx="1963341" cy="245388"/>
          </a:xfrm>
          <a:prstGeom prst="rect">
            <a:avLst/>
          </a:prstGeom>
          <a:noFill/>
          <a:ln/>
        </p:spPr>
        <p:txBody>
          <a:bodyPr wrap="none" lIns="0" tIns="0" rIns="0" bIns="0" rtlCol="0" anchor="t"/>
          <a:lstStyle/>
          <a:p>
            <a:pPr marL="0" indent="0" algn="l">
              <a:lnSpc>
                <a:spcPts val="1900"/>
              </a:lnSpc>
              <a:buNone/>
            </a:pPr>
            <a:r>
              <a:rPr lang="en-US" sz="1500" b="1">
                <a:solidFill>
                  <a:srgbClr val="E2E6E9"/>
                </a:solidFill>
                <a:latin typeface="Microsoft YaHei UI" panose="020B0503020204020204" pitchFamily="34" charset="-122"/>
                <a:ea typeface="Microsoft YaHei UI" panose="020B0503020204020204" pitchFamily="34" charset="-122"/>
                <a:cs typeface="Montserrat Bold" pitchFamily="34" charset="-120"/>
              </a:rPr>
              <a:t>Libraries</a:t>
            </a:r>
            <a:endParaRPr lang="en-US" sz="1500">
              <a:latin typeface="Microsoft YaHei UI" panose="020B0503020204020204" pitchFamily="34" charset="-122"/>
              <a:ea typeface="Microsoft YaHei UI" panose="020B0503020204020204" pitchFamily="34" charset="-122"/>
            </a:endParaRPr>
          </a:p>
        </p:txBody>
      </p:sp>
      <p:sp>
        <p:nvSpPr>
          <p:cNvPr id="25" name="Text 18"/>
          <p:cNvSpPr/>
          <p:nvPr/>
        </p:nvSpPr>
        <p:spPr>
          <a:xfrm>
            <a:off x="7729180" y="5050512"/>
            <a:ext cx="5849422" cy="259080"/>
          </a:xfrm>
          <a:prstGeom prst="rect">
            <a:avLst/>
          </a:prstGeom>
          <a:noFill/>
          <a:ln/>
        </p:spPr>
        <p:txBody>
          <a:bodyPr wrap="none" lIns="0" tIns="0" rIns="0" bIns="0" rtlCol="0" anchor="t"/>
          <a:lstStyle/>
          <a:p>
            <a:pPr marL="0" indent="0" algn="l">
              <a:lnSpc>
                <a:spcPts val="2000"/>
              </a:lnSpc>
              <a:buNone/>
            </a:pPr>
            <a:r>
              <a:rPr lang="en-US" sz="1350">
                <a:solidFill>
                  <a:srgbClr val="E2E6E9"/>
                </a:solidFill>
                <a:latin typeface="Microsoft YaHei UI" panose="020B0503020204020204" pitchFamily="34" charset="-122"/>
                <a:ea typeface="Microsoft YaHei UI" panose="020B0503020204020204" pitchFamily="34" charset="-122"/>
                <a:cs typeface="Source Sans 3" pitchFamily="34" charset="-120"/>
              </a:rPr>
              <a:t>Utilizing Scikit-learn and PyTorch.</a:t>
            </a:r>
            <a:endParaRPr lang="en-US" sz="1350">
              <a:latin typeface="Microsoft YaHei UI" panose="020B0503020204020204" pitchFamily="34" charset="-122"/>
              <a:ea typeface="Microsoft YaHei UI" panose="020B0503020204020204" pitchFamily="34" charset="-122"/>
            </a:endParaRPr>
          </a:p>
        </p:txBody>
      </p:sp>
      <p:sp>
        <p:nvSpPr>
          <p:cNvPr id="26" name="Shape 19"/>
          <p:cNvSpPr/>
          <p:nvPr/>
        </p:nvSpPr>
        <p:spPr>
          <a:xfrm>
            <a:off x="7533561" y="5937052"/>
            <a:ext cx="6240661" cy="1304687"/>
          </a:xfrm>
          <a:prstGeom prst="roundRect">
            <a:avLst>
              <a:gd name="adj" fmla="val 8410"/>
            </a:avLst>
          </a:prstGeom>
          <a:solidFill>
            <a:srgbClr val="111213"/>
          </a:solidFill>
          <a:ln/>
        </p:spPr>
        <p:txBody>
          <a:bodyPr/>
          <a:lstStyle/>
          <a:p>
            <a:endParaRPr lang="en-US">
              <a:latin typeface="Microsoft YaHei UI" panose="020B0503020204020204" pitchFamily="34" charset="-122"/>
              <a:ea typeface="Microsoft YaHei UI" panose="020B0503020204020204" pitchFamily="34" charset="-122"/>
            </a:endParaRPr>
          </a:p>
        </p:txBody>
      </p:sp>
      <p:sp>
        <p:nvSpPr>
          <p:cNvPr id="27" name="Shape 20"/>
          <p:cNvSpPr/>
          <p:nvPr/>
        </p:nvSpPr>
        <p:spPr>
          <a:xfrm>
            <a:off x="7533561" y="5914192"/>
            <a:ext cx="6240661" cy="91440"/>
          </a:xfrm>
          <a:prstGeom prst="roundRect">
            <a:avLst>
              <a:gd name="adj" fmla="val 28344"/>
            </a:avLst>
          </a:prstGeom>
          <a:solidFill>
            <a:srgbClr val="FFFFFF"/>
          </a:solidFill>
          <a:ln/>
        </p:spPr>
        <p:txBody>
          <a:bodyPr/>
          <a:lstStyle/>
          <a:p>
            <a:endParaRPr lang="en-US">
              <a:latin typeface="Microsoft YaHei UI" panose="020B0503020204020204" pitchFamily="34" charset="-122"/>
              <a:ea typeface="Microsoft YaHei UI" panose="020B0503020204020204" pitchFamily="34" charset="-122"/>
            </a:endParaRPr>
          </a:p>
        </p:txBody>
      </p:sp>
      <p:sp>
        <p:nvSpPr>
          <p:cNvPr id="28" name="Shape 21"/>
          <p:cNvSpPr/>
          <p:nvPr/>
        </p:nvSpPr>
        <p:spPr>
          <a:xfrm>
            <a:off x="10394692" y="5677972"/>
            <a:ext cx="518279" cy="518279"/>
          </a:xfrm>
          <a:prstGeom prst="roundRect">
            <a:avLst>
              <a:gd name="adj" fmla="val 176430"/>
            </a:avLst>
          </a:prstGeom>
          <a:solidFill>
            <a:srgbClr val="FFFFFF"/>
          </a:solidFill>
          <a:ln/>
        </p:spPr>
        <p:txBody>
          <a:bodyPr/>
          <a:lstStyle/>
          <a:p>
            <a:endParaRPr lang="en-US">
              <a:latin typeface="Microsoft YaHei UI" panose="020B0503020204020204" pitchFamily="34" charset="-122"/>
              <a:ea typeface="Microsoft YaHei UI" panose="020B0503020204020204" pitchFamily="34" charset="-122"/>
            </a:endParaRPr>
          </a:p>
        </p:txBody>
      </p:sp>
      <p:pic>
        <p:nvPicPr>
          <p:cNvPr id="29" name="Image 5" descr="preencoded.png"/>
          <p:cNvPicPr>
            <a:picLocks noChangeAspect="1"/>
          </p:cNvPicPr>
          <p:nvPr/>
        </p:nvPicPr>
        <p:blipFill>
          <a:blip r:embed="rId8"/>
          <a:stretch>
            <a:fillRect/>
          </a:stretch>
        </p:blipFill>
        <p:spPr>
          <a:xfrm>
            <a:off x="10550188" y="5807512"/>
            <a:ext cx="207288" cy="259080"/>
          </a:xfrm>
          <a:prstGeom prst="rect">
            <a:avLst/>
          </a:prstGeom>
        </p:spPr>
      </p:pic>
      <p:sp>
        <p:nvSpPr>
          <p:cNvPr id="30" name="Text 22"/>
          <p:cNvSpPr/>
          <p:nvPr/>
        </p:nvSpPr>
        <p:spPr>
          <a:xfrm>
            <a:off x="7729180" y="6368891"/>
            <a:ext cx="1963341" cy="245388"/>
          </a:xfrm>
          <a:prstGeom prst="rect">
            <a:avLst/>
          </a:prstGeom>
          <a:noFill/>
          <a:ln/>
        </p:spPr>
        <p:txBody>
          <a:bodyPr wrap="none" lIns="0" tIns="0" rIns="0" bIns="0" rtlCol="0" anchor="t"/>
          <a:lstStyle/>
          <a:p>
            <a:pPr marL="0" indent="0" algn="l">
              <a:lnSpc>
                <a:spcPts val="1900"/>
              </a:lnSpc>
              <a:buNone/>
            </a:pPr>
            <a:r>
              <a:rPr lang="en-US" sz="1500" b="1">
                <a:solidFill>
                  <a:srgbClr val="E2E6E9"/>
                </a:solidFill>
                <a:latin typeface="Microsoft YaHei UI" panose="020B0503020204020204" pitchFamily="34" charset="-122"/>
                <a:ea typeface="Microsoft YaHei UI" panose="020B0503020204020204" pitchFamily="34" charset="-122"/>
                <a:cs typeface="Montserrat Bold" pitchFamily="34" charset="-120"/>
              </a:rPr>
              <a:t>Integration</a:t>
            </a:r>
            <a:endParaRPr lang="en-US" sz="1500">
              <a:latin typeface="Microsoft YaHei UI" panose="020B0503020204020204" pitchFamily="34" charset="-122"/>
              <a:ea typeface="Microsoft YaHei UI" panose="020B0503020204020204" pitchFamily="34" charset="-122"/>
            </a:endParaRPr>
          </a:p>
        </p:txBody>
      </p:sp>
      <p:sp>
        <p:nvSpPr>
          <p:cNvPr id="31" name="Text 23"/>
          <p:cNvSpPr/>
          <p:nvPr/>
        </p:nvSpPr>
        <p:spPr>
          <a:xfrm>
            <a:off x="7729180" y="6787039"/>
            <a:ext cx="5849422" cy="259080"/>
          </a:xfrm>
          <a:prstGeom prst="rect">
            <a:avLst/>
          </a:prstGeom>
          <a:noFill/>
          <a:ln/>
        </p:spPr>
        <p:txBody>
          <a:bodyPr wrap="none" lIns="0" tIns="0" rIns="0" bIns="0" rtlCol="0" anchor="t"/>
          <a:lstStyle/>
          <a:p>
            <a:pPr marL="0" indent="0" algn="l">
              <a:lnSpc>
                <a:spcPts val="2000"/>
              </a:lnSpc>
              <a:buNone/>
            </a:pPr>
            <a:r>
              <a:rPr lang="en-US" sz="1350">
                <a:solidFill>
                  <a:srgbClr val="E2E6E9"/>
                </a:solidFill>
                <a:latin typeface="Microsoft YaHei UI" panose="020B0503020204020204" pitchFamily="34" charset="-122"/>
                <a:ea typeface="Microsoft YaHei UI" panose="020B0503020204020204" pitchFamily="34" charset="-122"/>
                <a:cs typeface="Source Sans 3" pitchFamily="34" charset="-120"/>
              </a:rPr>
              <a:t>React frontend with a robust Python backend.</a:t>
            </a:r>
            <a:endParaRPr lang="en-US" sz="1350">
              <a:latin typeface="Microsoft YaHei UI" panose="020B0503020204020204" pitchFamily="34" charset="-122"/>
              <a:ea typeface="Microsoft YaHei UI" panose="020B0503020204020204" pitchFamily="34" charset="-122"/>
            </a:endParaRPr>
          </a:p>
        </p:txBody>
      </p:sp>
      <p:sp>
        <p:nvSpPr>
          <p:cNvPr id="32" name="Rectangle 31">
            <a:extLst>
              <a:ext uri="{FF2B5EF4-FFF2-40B4-BE49-F238E27FC236}">
                <a16:creationId xmlns:a16="http://schemas.microsoft.com/office/drawing/2014/main" id="{73E8B1DB-BCD4-F641-50D2-F8FF7E8485B3}"/>
              </a:ext>
            </a:extLst>
          </p:cNvPr>
          <p:cNvSpPr/>
          <p:nvPr/>
        </p:nvSpPr>
        <p:spPr>
          <a:xfrm>
            <a:off x="12823902" y="7716644"/>
            <a:ext cx="1728439" cy="434897"/>
          </a:xfrm>
          <a:prstGeom prst="rect">
            <a:avLst/>
          </a:prstGeom>
          <a:solidFill>
            <a:srgbClr val="111213"/>
          </a:solidFill>
          <a:ln>
            <a:solidFill>
              <a:srgbClr val="11121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77D75F2F-A9F4-5FAE-C66B-0C87253406E4}"/>
              </a:ext>
            </a:extLst>
          </p:cNvPr>
          <p:cNvSpPr/>
          <p:nvPr/>
        </p:nvSpPr>
        <p:spPr>
          <a:xfrm>
            <a:off x="3226158" y="7603190"/>
            <a:ext cx="8179638" cy="4381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r>
              <a:rPr lang="en-US" sz="2150" b="1">
                <a:solidFill>
                  <a:schemeClr val="bg1"/>
                </a:solidFill>
              </a:rPr>
              <a:t>IT22054418</a:t>
            </a:r>
            <a:r>
              <a:rPr lang="en-US" sz="2150">
                <a:solidFill>
                  <a:schemeClr val="bg1"/>
                </a:solidFill>
              </a:rPr>
              <a:t>   |   </a:t>
            </a:r>
            <a:r>
              <a:rPr lang="en-US" sz="2550" err="1">
                <a:solidFill>
                  <a:schemeClr val="bg1"/>
                </a:solidFill>
              </a:rPr>
              <a:t>V.I.Kaluarachchi</a:t>
            </a:r>
            <a:r>
              <a:rPr lang="en-US" sz="2150" b="1">
                <a:solidFill>
                  <a:schemeClr val="bg1"/>
                </a:solidFill>
              </a:rPr>
              <a:t>   </a:t>
            </a:r>
            <a:r>
              <a:rPr lang="en-US" sz="2150">
                <a:solidFill>
                  <a:schemeClr val="bg1"/>
                </a:solidFill>
              </a:rPr>
              <a:t>|   </a:t>
            </a:r>
            <a:r>
              <a:rPr lang="en-US" sz="2150" b="0">
                <a:solidFill>
                  <a:schemeClr val="bg1"/>
                </a:solidFill>
              </a:rPr>
              <a:t>25-26J-458 </a:t>
            </a:r>
            <a:endParaRPr lang="en-US" sz="2150" b="0">
              <a:solidFill>
                <a:schemeClr val="bg1"/>
              </a:solidFill>
              <a:ea typeface="Calibri"/>
              <a:cs typeface="Calibri"/>
            </a:endParaRPr>
          </a:p>
        </p:txBody>
      </p:sp>
      <p:pic>
        <p:nvPicPr>
          <p:cNvPr id="36" name="Picture 35" descr="A blue text on a white background&#10;&#10;AI-generated content may be incorrect.">
            <a:extLst>
              <a:ext uri="{FF2B5EF4-FFF2-40B4-BE49-F238E27FC236}">
                <a16:creationId xmlns:a16="http://schemas.microsoft.com/office/drawing/2014/main" id="{FF80D8B0-B713-2B69-1FFF-8C7B2F5C6D04}"/>
              </a:ext>
            </a:extLst>
          </p:cNvPr>
          <p:cNvPicPr>
            <a:picLocks noChangeAspect="1"/>
          </p:cNvPicPr>
          <p:nvPr/>
        </p:nvPicPr>
        <p:blipFill>
          <a:blip r:embed="rId9"/>
          <a:stretch>
            <a:fillRect/>
          </a:stretch>
        </p:blipFill>
        <p:spPr>
          <a:xfrm>
            <a:off x="298077" y="7542119"/>
            <a:ext cx="2362200" cy="5143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3798" y="1758910"/>
            <a:ext cx="10267950" cy="701278"/>
          </a:xfrm>
          <a:prstGeom prst="rect">
            <a:avLst/>
          </a:prstGeom>
          <a:noFill/>
          <a:ln/>
        </p:spPr>
        <p:txBody>
          <a:bodyPr wrap="none" lIns="0" tIns="0" rIns="0" bIns="0" rtlCol="0" anchor="t"/>
          <a:lstStyle/>
          <a:p>
            <a:pPr marL="0" indent="0" algn="l">
              <a:lnSpc>
                <a:spcPts val="5500"/>
              </a:lnSpc>
              <a:buNone/>
            </a:pPr>
            <a:r>
              <a:rPr lang="en-US" sz="4400" b="1">
                <a:solidFill>
                  <a:srgbClr val="FFFFFF"/>
                </a:solidFill>
                <a:latin typeface="Microsoft YaHei UI" panose="020B0503020204020204" pitchFamily="34" charset="-122"/>
                <a:ea typeface="Microsoft YaHei UI" panose="020B0503020204020204" pitchFamily="34" charset="-122"/>
                <a:cs typeface="Montserrat Bold" pitchFamily="34" charset="-120"/>
              </a:rPr>
              <a:t>Validation &amp; Ethical Considerations</a:t>
            </a:r>
            <a:endParaRPr lang="en-US" sz="4400">
              <a:latin typeface="Microsoft YaHei UI" panose="020B0503020204020204" pitchFamily="34" charset="-122"/>
              <a:ea typeface="Microsoft YaHei UI" panose="020B0503020204020204" pitchFamily="34" charset="-122"/>
            </a:endParaRPr>
          </a:p>
        </p:txBody>
      </p:sp>
      <p:sp>
        <p:nvSpPr>
          <p:cNvPr id="3" name="Shape 1"/>
          <p:cNvSpPr/>
          <p:nvPr/>
        </p:nvSpPr>
        <p:spPr>
          <a:xfrm>
            <a:off x="863798" y="2953822"/>
            <a:ext cx="6327934" cy="3516868"/>
          </a:xfrm>
          <a:prstGeom prst="roundRect">
            <a:avLst>
              <a:gd name="adj" fmla="val 1053"/>
            </a:avLst>
          </a:prstGeom>
          <a:solidFill>
            <a:srgbClr val="111213"/>
          </a:solidFill>
          <a:ln w="30480">
            <a:solidFill>
              <a:srgbClr val="494A4B"/>
            </a:solidFill>
            <a:prstDash val="solid"/>
          </a:ln>
        </p:spPr>
        <p:txBody>
          <a:bodyPr/>
          <a:lstStyle/>
          <a:p>
            <a:endParaRPr lang="en-US">
              <a:latin typeface="Microsoft YaHei UI" panose="020B0503020204020204" pitchFamily="34" charset="-122"/>
              <a:ea typeface="Microsoft YaHei UI" panose="020B0503020204020204" pitchFamily="34" charset="-122"/>
            </a:endParaRPr>
          </a:p>
        </p:txBody>
      </p:sp>
      <p:sp>
        <p:nvSpPr>
          <p:cNvPr id="4" name="Shape 2"/>
          <p:cNvSpPr/>
          <p:nvPr/>
        </p:nvSpPr>
        <p:spPr>
          <a:xfrm>
            <a:off x="863798" y="2953822"/>
            <a:ext cx="121920" cy="3516868"/>
          </a:xfrm>
          <a:prstGeom prst="roundRect">
            <a:avLst>
              <a:gd name="adj" fmla="val 30368"/>
            </a:avLst>
          </a:prstGeom>
          <a:solidFill>
            <a:srgbClr val="FFFFFF"/>
          </a:solidFill>
          <a:ln/>
        </p:spPr>
        <p:txBody>
          <a:bodyPr/>
          <a:lstStyle/>
          <a:p>
            <a:endParaRPr lang="en-US">
              <a:latin typeface="Microsoft YaHei UI" panose="020B0503020204020204" pitchFamily="34" charset="-122"/>
              <a:ea typeface="Microsoft YaHei UI" panose="020B0503020204020204" pitchFamily="34" charset="-122"/>
            </a:endParaRPr>
          </a:p>
        </p:txBody>
      </p:sp>
      <p:sp>
        <p:nvSpPr>
          <p:cNvPr id="5" name="Text 3"/>
          <p:cNvSpPr/>
          <p:nvPr/>
        </p:nvSpPr>
        <p:spPr>
          <a:xfrm>
            <a:off x="1263015" y="3231118"/>
            <a:ext cx="3386257" cy="420648"/>
          </a:xfrm>
          <a:prstGeom prst="rect">
            <a:avLst/>
          </a:prstGeom>
          <a:noFill/>
          <a:ln/>
        </p:spPr>
        <p:txBody>
          <a:bodyPr wrap="none" lIns="0" tIns="0" rIns="0" bIns="0" rtlCol="0" anchor="t"/>
          <a:lstStyle/>
          <a:p>
            <a:pPr marL="0" indent="0" algn="l">
              <a:lnSpc>
                <a:spcPts val="3300"/>
              </a:lnSpc>
              <a:buNone/>
            </a:pPr>
            <a:r>
              <a:rPr lang="en-US" sz="2650" b="1">
                <a:solidFill>
                  <a:srgbClr val="E2E6E9"/>
                </a:solidFill>
                <a:latin typeface="Microsoft YaHei UI" panose="020B0503020204020204" pitchFamily="34" charset="-122"/>
                <a:ea typeface="Microsoft YaHei UI" panose="020B0503020204020204" pitchFamily="34" charset="-122"/>
                <a:cs typeface="Montserrat Bold" pitchFamily="34" charset="-120"/>
              </a:rPr>
              <a:t>Evaluating Success</a:t>
            </a:r>
            <a:endParaRPr lang="en-US" sz="2650">
              <a:latin typeface="Microsoft YaHei UI" panose="020B0503020204020204" pitchFamily="34" charset="-122"/>
              <a:ea typeface="Microsoft YaHei UI" panose="020B0503020204020204" pitchFamily="34" charset="-122"/>
            </a:endParaRPr>
          </a:p>
        </p:txBody>
      </p:sp>
      <p:sp>
        <p:nvSpPr>
          <p:cNvPr id="6" name="Text 4"/>
          <p:cNvSpPr/>
          <p:nvPr/>
        </p:nvSpPr>
        <p:spPr>
          <a:xfrm>
            <a:off x="1263015" y="3799761"/>
            <a:ext cx="5651421" cy="740331"/>
          </a:xfrm>
          <a:prstGeom prst="rect">
            <a:avLst/>
          </a:prstGeom>
          <a:noFill/>
          <a:ln/>
        </p:spPr>
        <p:txBody>
          <a:bodyPr wrap="square" lIns="0" tIns="0" rIns="0" bIns="0" rtlCol="0" anchor="t"/>
          <a:lstStyle/>
          <a:p>
            <a:pPr marL="342900" indent="-342900" algn="l">
              <a:lnSpc>
                <a:spcPts val="2900"/>
              </a:lnSpc>
              <a:buSzPct val="100000"/>
              <a:buChar char="•"/>
            </a:pPr>
            <a:r>
              <a:rPr lang="en-US" sz="1900">
                <a:solidFill>
                  <a:srgbClr val="E2E6E9"/>
                </a:solidFill>
                <a:latin typeface="Microsoft YaHei UI" panose="020B0503020204020204" pitchFamily="34" charset="-122"/>
                <a:ea typeface="Microsoft YaHei UI" panose="020B0503020204020204" pitchFamily="34" charset="-122"/>
                <a:cs typeface="Source Sans 3" pitchFamily="34" charset="-120"/>
              </a:rPr>
              <a:t>Metrics: Regret-per-hour, Personalization Gain, Break Utility Curve.</a:t>
            </a:r>
            <a:endParaRPr lang="en-US" sz="1900">
              <a:latin typeface="Microsoft YaHei UI" panose="020B0503020204020204" pitchFamily="34" charset="-122"/>
              <a:ea typeface="Microsoft YaHei UI" panose="020B0503020204020204" pitchFamily="34" charset="-122"/>
            </a:endParaRPr>
          </a:p>
        </p:txBody>
      </p:sp>
      <p:sp>
        <p:nvSpPr>
          <p:cNvPr id="7" name="Text 5"/>
          <p:cNvSpPr/>
          <p:nvPr/>
        </p:nvSpPr>
        <p:spPr>
          <a:xfrm>
            <a:off x="1263015" y="4626412"/>
            <a:ext cx="5651421" cy="740331"/>
          </a:xfrm>
          <a:prstGeom prst="rect">
            <a:avLst/>
          </a:prstGeom>
          <a:noFill/>
          <a:ln/>
        </p:spPr>
        <p:txBody>
          <a:bodyPr wrap="square" lIns="0" tIns="0" rIns="0" bIns="0" rtlCol="0" anchor="t"/>
          <a:lstStyle/>
          <a:p>
            <a:pPr marL="342900" indent="-342900" algn="l">
              <a:lnSpc>
                <a:spcPts val="2900"/>
              </a:lnSpc>
              <a:buSzPct val="100000"/>
              <a:buChar char="•"/>
            </a:pPr>
            <a:r>
              <a:rPr lang="en-US" sz="1900">
                <a:solidFill>
                  <a:srgbClr val="E2E6E9"/>
                </a:solidFill>
                <a:latin typeface="Microsoft YaHei UI" panose="020B0503020204020204" pitchFamily="34" charset="-122"/>
                <a:ea typeface="Microsoft YaHei UI" panose="020B0503020204020204" pitchFamily="34" charset="-122"/>
                <a:cs typeface="Source Sans 3" pitchFamily="34" charset="-120"/>
              </a:rPr>
              <a:t>Comparison: Against Pomodoro (fixed) and Random baselines.</a:t>
            </a:r>
            <a:endParaRPr lang="en-US" sz="1900">
              <a:latin typeface="Microsoft YaHei UI" panose="020B0503020204020204" pitchFamily="34" charset="-122"/>
              <a:ea typeface="Microsoft YaHei UI" panose="020B0503020204020204" pitchFamily="34" charset="-122"/>
            </a:endParaRPr>
          </a:p>
        </p:txBody>
      </p:sp>
      <p:sp>
        <p:nvSpPr>
          <p:cNvPr id="8" name="Text 6"/>
          <p:cNvSpPr/>
          <p:nvPr/>
        </p:nvSpPr>
        <p:spPr>
          <a:xfrm>
            <a:off x="1263015" y="5453063"/>
            <a:ext cx="5651421" cy="740331"/>
          </a:xfrm>
          <a:prstGeom prst="rect">
            <a:avLst/>
          </a:prstGeom>
          <a:noFill/>
          <a:ln/>
        </p:spPr>
        <p:txBody>
          <a:bodyPr wrap="square" lIns="0" tIns="0" rIns="0" bIns="0" rtlCol="0" anchor="t"/>
          <a:lstStyle/>
          <a:p>
            <a:pPr marL="342900" indent="-342900" algn="l">
              <a:lnSpc>
                <a:spcPts val="2900"/>
              </a:lnSpc>
              <a:buSzPct val="100000"/>
              <a:buChar char="•"/>
            </a:pPr>
            <a:r>
              <a:rPr lang="en-US" sz="1900">
                <a:solidFill>
                  <a:srgbClr val="E2E6E9"/>
                </a:solidFill>
                <a:latin typeface="Microsoft YaHei UI" panose="020B0503020204020204" pitchFamily="34" charset="-122"/>
                <a:ea typeface="Microsoft YaHei UI" panose="020B0503020204020204" pitchFamily="34" charset="-122"/>
                <a:cs typeface="Source Sans 3" pitchFamily="34" charset="-120"/>
              </a:rPr>
              <a:t>Goal: Achieve ≥80% alignment with user's preferred cycle post-study.</a:t>
            </a:r>
            <a:endParaRPr lang="en-US" sz="1900">
              <a:latin typeface="Microsoft YaHei UI" panose="020B0503020204020204" pitchFamily="34" charset="-122"/>
              <a:ea typeface="Microsoft YaHei UI" panose="020B0503020204020204" pitchFamily="34" charset="-122"/>
            </a:endParaRPr>
          </a:p>
        </p:txBody>
      </p:sp>
      <p:sp>
        <p:nvSpPr>
          <p:cNvPr id="9" name="Shape 7"/>
          <p:cNvSpPr/>
          <p:nvPr/>
        </p:nvSpPr>
        <p:spPr>
          <a:xfrm>
            <a:off x="7438549" y="2953822"/>
            <a:ext cx="6328053" cy="3516868"/>
          </a:xfrm>
          <a:prstGeom prst="roundRect">
            <a:avLst>
              <a:gd name="adj" fmla="val 1053"/>
            </a:avLst>
          </a:prstGeom>
          <a:solidFill>
            <a:srgbClr val="111213"/>
          </a:solidFill>
          <a:ln w="30480">
            <a:solidFill>
              <a:srgbClr val="494A4B"/>
            </a:solidFill>
            <a:prstDash val="solid"/>
          </a:ln>
        </p:spPr>
        <p:txBody>
          <a:bodyPr/>
          <a:lstStyle/>
          <a:p>
            <a:endParaRPr lang="en-US">
              <a:latin typeface="Microsoft YaHei UI" panose="020B0503020204020204" pitchFamily="34" charset="-122"/>
              <a:ea typeface="Microsoft YaHei UI" panose="020B0503020204020204" pitchFamily="34" charset="-122"/>
            </a:endParaRPr>
          </a:p>
        </p:txBody>
      </p:sp>
      <p:sp>
        <p:nvSpPr>
          <p:cNvPr id="10" name="Shape 8"/>
          <p:cNvSpPr/>
          <p:nvPr/>
        </p:nvSpPr>
        <p:spPr>
          <a:xfrm>
            <a:off x="7438549" y="2953822"/>
            <a:ext cx="121920" cy="3516868"/>
          </a:xfrm>
          <a:prstGeom prst="roundRect">
            <a:avLst>
              <a:gd name="adj" fmla="val 30368"/>
            </a:avLst>
          </a:prstGeom>
          <a:solidFill>
            <a:srgbClr val="FFFFFF"/>
          </a:solidFill>
          <a:ln/>
        </p:spPr>
        <p:txBody>
          <a:bodyPr/>
          <a:lstStyle/>
          <a:p>
            <a:endParaRPr lang="en-US">
              <a:latin typeface="Microsoft YaHei UI" panose="020B0503020204020204" pitchFamily="34" charset="-122"/>
              <a:ea typeface="Microsoft YaHei UI" panose="020B0503020204020204" pitchFamily="34" charset="-122"/>
            </a:endParaRPr>
          </a:p>
        </p:txBody>
      </p:sp>
      <p:sp>
        <p:nvSpPr>
          <p:cNvPr id="11" name="Text 9"/>
          <p:cNvSpPr/>
          <p:nvPr/>
        </p:nvSpPr>
        <p:spPr>
          <a:xfrm>
            <a:off x="7837765" y="3231118"/>
            <a:ext cx="3365778" cy="420648"/>
          </a:xfrm>
          <a:prstGeom prst="rect">
            <a:avLst/>
          </a:prstGeom>
          <a:noFill/>
          <a:ln/>
        </p:spPr>
        <p:txBody>
          <a:bodyPr wrap="none" lIns="0" tIns="0" rIns="0" bIns="0" rtlCol="0" anchor="t"/>
          <a:lstStyle/>
          <a:p>
            <a:pPr marL="0" indent="0" algn="l">
              <a:lnSpc>
                <a:spcPts val="3300"/>
              </a:lnSpc>
              <a:buNone/>
            </a:pPr>
            <a:r>
              <a:rPr lang="en-US" sz="2650" b="1">
                <a:solidFill>
                  <a:srgbClr val="E2E6E9"/>
                </a:solidFill>
                <a:latin typeface="Microsoft YaHei UI" panose="020B0503020204020204" pitchFamily="34" charset="-122"/>
                <a:ea typeface="Microsoft YaHei UI" panose="020B0503020204020204" pitchFamily="34" charset="-122"/>
                <a:cs typeface="Montserrat Bold" pitchFamily="34" charset="-120"/>
              </a:rPr>
              <a:t>Data &amp; Ethics</a:t>
            </a:r>
            <a:endParaRPr lang="en-US" sz="2650">
              <a:latin typeface="Microsoft YaHei UI" panose="020B0503020204020204" pitchFamily="34" charset="-122"/>
              <a:ea typeface="Microsoft YaHei UI" panose="020B0503020204020204" pitchFamily="34" charset="-122"/>
            </a:endParaRPr>
          </a:p>
        </p:txBody>
      </p:sp>
      <p:sp>
        <p:nvSpPr>
          <p:cNvPr id="12" name="Text 10"/>
          <p:cNvSpPr/>
          <p:nvPr/>
        </p:nvSpPr>
        <p:spPr>
          <a:xfrm>
            <a:off x="7837765" y="3799761"/>
            <a:ext cx="5651540" cy="740331"/>
          </a:xfrm>
          <a:prstGeom prst="rect">
            <a:avLst/>
          </a:prstGeom>
          <a:noFill/>
          <a:ln/>
        </p:spPr>
        <p:txBody>
          <a:bodyPr wrap="square" lIns="0" tIns="0" rIns="0" bIns="0" rtlCol="0" anchor="t"/>
          <a:lstStyle/>
          <a:p>
            <a:pPr marL="342900" indent="-342900" algn="l">
              <a:lnSpc>
                <a:spcPts val="2900"/>
              </a:lnSpc>
              <a:buSzPct val="100000"/>
              <a:buChar char="•"/>
            </a:pPr>
            <a:r>
              <a:rPr lang="en-US" sz="1900">
                <a:solidFill>
                  <a:srgbClr val="E2E6E9"/>
                </a:solidFill>
                <a:latin typeface="Microsoft YaHei UI" panose="020B0503020204020204" pitchFamily="34" charset="-122"/>
                <a:ea typeface="Microsoft YaHei UI" panose="020B0503020204020204" pitchFamily="34" charset="-122"/>
                <a:cs typeface="Source Sans 3" pitchFamily="34" charset="-120"/>
              </a:rPr>
              <a:t>Data: Passive (keystroke timing, pauses) + micro self-reports.</a:t>
            </a:r>
            <a:endParaRPr lang="en-US" sz="1900">
              <a:latin typeface="Microsoft YaHei UI" panose="020B0503020204020204" pitchFamily="34" charset="-122"/>
              <a:ea typeface="Microsoft YaHei UI" panose="020B0503020204020204" pitchFamily="34" charset="-122"/>
            </a:endParaRPr>
          </a:p>
        </p:txBody>
      </p:sp>
      <p:sp>
        <p:nvSpPr>
          <p:cNvPr id="13" name="Text 11"/>
          <p:cNvSpPr/>
          <p:nvPr/>
        </p:nvSpPr>
        <p:spPr>
          <a:xfrm>
            <a:off x="7837765" y="4626412"/>
            <a:ext cx="5651540" cy="740331"/>
          </a:xfrm>
          <a:prstGeom prst="rect">
            <a:avLst/>
          </a:prstGeom>
          <a:noFill/>
          <a:ln/>
        </p:spPr>
        <p:txBody>
          <a:bodyPr wrap="square" lIns="0" tIns="0" rIns="0" bIns="0" rtlCol="0" anchor="t"/>
          <a:lstStyle/>
          <a:p>
            <a:pPr marL="342900" indent="-342900" algn="l">
              <a:lnSpc>
                <a:spcPts val="2900"/>
              </a:lnSpc>
              <a:buSzPct val="100000"/>
              <a:buChar char="•"/>
            </a:pPr>
            <a:r>
              <a:rPr lang="en-US" sz="1900">
                <a:solidFill>
                  <a:srgbClr val="E2E6E9"/>
                </a:solidFill>
                <a:latin typeface="Microsoft YaHei UI" panose="020B0503020204020204" pitchFamily="34" charset="-122"/>
                <a:ea typeface="Microsoft YaHei UI" panose="020B0503020204020204" pitchFamily="34" charset="-122"/>
                <a:cs typeface="Source Sans 3" pitchFamily="34" charset="-120"/>
              </a:rPr>
              <a:t>Privacy: No text recorded, ensuring a privacy-preserving design.</a:t>
            </a:r>
            <a:endParaRPr lang="en-US" sz="1900">
              <a:latin typeface="Microsoft YaHei UI" panose="020B0503020204020204" pitchFamily="34" charset="-122"/>
              <a:ea typeface="Microsoft YaHei UI" panose="020B0503020204020204" pitchFamily="34" charset="-122"/>
            </a:endParaRPr>
          </a:p>
        </p:txBody>
      </p:sp>
      <p:sp>
        <p:nvSpPr>
          <p:cNvPr id="14" name="Text 12"/>
          <p:cNvSpPr/>
          <p:nvPr/>
        </p:nvSpPr>
        <p:spPr>
          <a:xfrm>
            <a:off x="7837765" y="5453063"/>
            <a:ext cx="5651540" cy="740331"/>
          </a:xfrm>
          <a:prstGeom prst="rect">
            <a:avLst/>
          </a:prstGeom>
          <a:noFill/>
          <a:ln/>
        </p:spPr>
        <p:txBody>
          <a:bodyPr wrap="square" lIns="0" tIns="0" rIns="0" bIns="0" rtlCol="0" anchor="t"/>
          <a:lstStyle/>
          <a:p>
            <a:pPr marL="342900" indent="-342900" algn="l">
              <a:lnSpc>
                <a:spcPts val="2900"/>
              </a:lnSpc>
              <a:buSzPct val="100000"/>
              <a:buChar char="•"/>
            </a:pPr>
            <a:r>
              <a:rPr lang="en-US" sz="1900">
                <a:solidFill>
                  <a:srgbClr val="E2E6E9"/>
                </a:solidFill>
                <a:latin typeface="Microsoft YaHei UI" panose="020B0503020204020204" pitchFamily="34" charset="-122"/>
                <a:ea typeface="Microsoft YaHei UI" panose="020B0503020204020204" pitchFamily="34" charset="-122"/>
                <a:cs typeface="Source Sans 3" pitchFamily="34" charset="-120"/>
              </a:rPr>
              <a:t>Consent: User consent required; all data stored locally.</a:t>
            </a:r>
            <a:endParaRPr lang="en-US" sz="1900">
              <a:latin typeface="Microsoft YaHei UI" panose="020B0503020204020204" pitchFamily="34" charset="-122"/>
              <a:ea typeface="Microsoft YaHei UI" panose="020B0503020204020204" pitchFamily="34" charset="-122"/>
            </a:endParaRPr>
          </a:p>
        </p:txBody>
      </p:sp>
      <p:sp>
        <p:nvSpPr>
          <p:cNvPr id="15" name="Rectangle 14">
            <a:extLst>
              <a:ext uri="{FF2B5EF4-FFF2-40B4-BE49-F238E27FC236}">
                <a16:creationId xmlns:a16="http://schemas.microsoft.com/office/drawing/2014/main" id="{E57C9416-5806-19AD-8A12-FBBEDA18EFE3}"/>
              </a:ext>
            </a:extLst>
          </p:cNvPr>
          <p:cNvSpPr/>
          <p:nvPr/>
        </p:nvSpPr>
        <p:spPr>
          <a:xfrm>
            <a:off x="12823902" y="7716644"/>
            <a:ext cx="1728439" cy="434897"/>
          </a:xfrm>
          <a:prstGeom prst="rect">
            <a:avLst/>
          </a:prstGeom>
          <a:solidFill>
            <a:srgbClr val="111213"/>
          </a:solidFill>
          <a:ln>
            <a:solidFill>
              <a:srgbClr val="11121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A8C3703-FD66-FE34-D45C-B655921DE5C3}"/>
              </a:ext>
            </a:extLst>
          </p:cNvPr>
          <p:cNvSpPr/>
          <p:nvPr/>
        </p:nvSpPr>
        <p:spPr>
          <a:xfrm>
            <a:off x="3226158" y="7603190"/>
            <a:ext cx="8179638" cy="4381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r>
              <a:rPr lang="en-US" sz="2150" b="1">
                <a:solidFill>
                  <a:schemeClr val="bg1"/>
                </a:solidFill>
              </a:rPr>
              <a:t>IT22054418</a:t>
            </a:r>
            <a:r>
              <a:rPr lang="en-US" sz="2150">
                <a:solidFill>
                  <a:schemeClr val="bg1"/>
                </a:solidFill>
              </a:rPr>
              <a:t>   |   </a:t>
            </a:r>
            <a:r>
              <a:rPr lang="en-US" sz="2550" err="1">
                <a:solidFill>
                  <a:schemeClr val="bg1"/>
                </a:solidFill>
              </a:rPr>
              <a:t>V.I.Kaluarachchi</a:t>
            </a:r>
            <a:r>
              <a:rPr lang="en-US" sz="2150" b="1">
                <a:solidFill>
                  <a:schemeClr val="bg1"/>
                </a:solidFill>
              </a:rPr>
              <a:t>   </a:t>
            </a:r>
            <a:r>
              <a:rPr lang="en-US" sz="2150">
                <a:solidFill>
                  <a:schemeClr val="bg1"/>
                </a:solidFill>
              </a:rPr>
              <a:t>|   </a:t>
            </a:r>
            <a:r>
              <a:rPr lang="en-US" sz="2150" b="0">
                <a:solidFill>
                  <a:schemeClr val="bg1"/>
                </a:solidFill>
              </a:rPr>
              <a:t>25-26J-458 </a:t>
            </a:r>
            <a:endParaRPr lang="en-US" sz="2150" b="0">
              <a:solidFill>
                <a:schemeClr val="bg1"/>
              </a:solidFill>
              <a:ea typeface="Calibri"/>
              <a:cs typeface="Calibri"/>
            </a:endParaRPr>
          </a:p>
        </p:txBody>
      </p:sp>
      <p:pic>
        <p:nvPicPr>
          <p:cNvPr id="19" name="Picture 18" descr="A blue text on a white background&#10;&#10;AI-generated content may be incorrect.">
            <a:extLst>
              <a:ext uri="{FF2B5EF4-FFF2-40B4-BE49-F238E27FC236}">
                <a16:creationId xmlns:a16="http://schemas.microsoft.com/office/drawing/2014/main" id="{558356F7-9D14-B68A-78BF-2E8D72631AF4}"/>
              </a:ext>
            </a:extLst>
          </p:cNvPr>
          <p:cNvPicPr>
            <a:picLocks noChangeAspect="1"/>
          </p:cNvPicPr>
          <p:nvPr/>
        </p:nvPicPr>
        <p:blipFill>
          <a:blip r:embed="rId3"/>
          <a:stretch>
            <a:fillRect/>
          </a:stretch>
        </p:blipFill>
        <p:spPr>
          <a:xfrm>
            <a:off x="298077" y="7542119"/>
            <a:ext cx="2362200" cy="5143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1417" y="676870"/>
            <a:ext cx="11564541" cy="594360"/>
          </a:xfrm>
          <a:prstGeom prst="rect">
            <a:avLst/>
          </a:prstGeom>
          <a:noFill/>
          <a:ln/>
        </p:spPr>
        <p:txBody>
          <a:bodyPr wrap="none" lIns="0" tIns="0" rIns="0" bIns="0" rtlCol="0" anchor="t"/>
          <a:lstStyle/>
          <a:p>
            <a:pPr marL="0" indent="0" algn="l">
              <a:lnSpc>
                <a:spcPts val="4650"/>
              </a:lnSpc>
              <a:buNone/>
            </a:pPr>
            <a:r>
              <a:rPr lang="en-US" sz="3700" b="1">
                <a:solidFill>
                  <a:srgbClr val="FFFFFF"/>
                </a:solidFill>
                <a:latin typeface="Montserrat Bold" pitchFamily="34" charset="0"/>
                <a:ea typeface="Montserrat Bold" pitchFamily="34" charset="-122"/>
                <a:cs typeface="Montserrat Bold" pitchFamily="34" charset="-120"/>
              </a:rPr>
              <a:t>Adaptive Scheduler: Implementation in Action</a:t>
            </a:r>
            <a:endParaRPr lang="en-US" sz="3700"/>
          </a:p>
        </p:txBody>
      </p:sp>
      <p:sp>
        <p:nvSpPr>
          <p:cNvPr id="3" name="Text 1"/>
          <p:cNvSpPr/>
          <p:nvPr/>
        </p:nvSpPr>
        <p:spPr>
          <a:xfrm>
            <a:off x="861417" y="1689616"/>
            <a:ext cx="12907566" cy="313730"/>
          </a:xfrm>
          <a:prstGeom prst="rect">
            <a:avLst/>
          </a:prstGeom>
          <a:noFill/>
          <a:ln/>
        </p:spPr>
        <p:txBody>
          <a:bodyPr wrap="none" lIns="0" tIns="0" rIns="0" bIns="0" rtlCol="0" anchor="t"/>
          <a:lstStyle/>
          <a:p>
            <a:pPr marL="0" indent="0" algn="l">
              <a:lnSpc>
                <a:spcPts val="2450"/>
              </a:lnSpc>
              <a:buNone/>
            </a:pPr>
            <a:r>
              <a:rPr lang="en-US" sz="1600">
                <a:solidFill>
                  <a:srgbClr val="E2E6E9"/>
                </a:solidFill>
                <a:latin typeface="Source Sans 3" pitchFamily="34" charset="0"/>
                <a:ea typeface="Source Sans 3" pitchFamily="34" charset="-122"/>
                <a:cs typeface="Source Sans 3" pitchFamily="34" charset="-120"/>
              </a:rPr>
              <a:t>Our system dynamically adjusts study and break intervals based on real-time user context.</a:t>
            </a:r>
            <a:endParaRPr lang="en-US" sz="1600"/>
          </a:p>
        </p:txBody>
      </p:sp>
      <p:pic>
        <p:nvPicPr>
          <p:cNvPr id="4" name="Image 0" descr="preencoded.png"/>
          <p:cNvPicPr>
            <a:picLocks noChangeAspect="1"/>
          </p:cNvPicPr>
          <p:nvPr/>
        </p:nvPicPr>
        <p:blipFill>
          <a:blip r:embed="rId3"/>
          <a:stretch>
            <a:fillRect/>
          </a:stretch>
        </p:blipFill>
        <p:spPr>
          <a:xfrm>
            <a:off x="861417" y="2238613"/>
            <a:ext cx="6453783" cy="836890"/>
          </a:xfrm>
          <a:prstGeom prst="rect">
            <a:avLst/>
          </a:prstGeom>
        </p:spPr>
      </p:pic>
      <p:sp>
        <p:nvSpPr>
          <p:cNvPr id="5" name="Text 2"/>
          <p:cNvSpPr/>
          <p:nvPr/>
        </p:nvSpPr>
        <p:spPr>
          <a:xfrm>
            <a:off x="1070610" y="3284696"/>
            <a:ext cx="2377559" cy="297180"/>
          </a:xfrm>
          <a:prstGeom prst="rect">
            <a:avLst/>
          </a:prstGeom>
          <a:noFill/>
          <a:ln/>
        </p:spPr>
        <p:txBody>
          <a:bodyPr wrap="none" lIns="0" tIns="0" rIns="0" bIns="0" rtlCol="0" anchor="t"/>
          <a:lstStyle/>
          <a:p>
            <a:pPr marL="0" indent="0" algn="l">
              <a:lnSpc>
                <a:spcPts val="2300"/>
              </a:lnSpc>
              <a:buNone/>
            </a:pPr>
            <a:r>
              <a:rPr lang="en-US" sz="1850" b="1">
                <a:solidFill>
                  <a:srgbClr val="E2E6E9"/>
                </a:solidFill>
                <a:latin typeface="Montserrat Bold" pitchFamily="34" charset="0"/>
                <a:ea typeface="Montserrat Bold" pitchFamily="34" charset="-122"/>
                <a:cs typeface="Montserrat Bold" pitchFamily="34" charset="-120"/>
              </a:rPr>
              <a:t>Input Signals</a:t>
            </a:r>
            <a:endParaRPr lang="en-US" sz="1850"/>
          </a:p>
        </p:txBody>
      </p:sp>
      <p:sp>
        <p:nvSpPr>
          <p:cNvPr id="6" name="Text 3"/>
          <p:cNvSpPr/>
          <p:nvPr/>
        </p:nvSpPr>
        <p:spPr>
          <a:xfrm>
            <a:off x="1070610" y="3707368"/>
            <a:ext cx="6035397" cy="313730"/>
          </a:xfrm>
          <a:prstGeom prst="rect">
            <a:avLst/>
          </a:prstGeom>
          <a:noFill/>
          <a:ln/>
        </p:spPr>
        <p:txBody>
          <a:bodyPr wrap="none" lIns="0" tIns="0" rIns="0" bIns="0" rtlCol="0" anchor="t"/>
          <a:lstStyle/>
          <a:p>
            <a:pPr marL="0" indent="0" algn="l">
              <a:lnSpc>
                <a:spcPts val="2450"/>
              </a:lnSpc>
              <a:buNone/>
            </a:pPr>
            <a:r>
              <a:rPr lang="en-US" sz="1600">
                <a:solidFill>
                  <a:srgbClr val="E2E6E9"/>
                </a:solidFill>
                <a:latin typeface="Source Sans 3" pitchFamily="34" charset="0"/>
                <a:ea typeface="Source Sans 3" pitchFamily="34" charset="-122"/>
                <a:cs typeface="Source Sans 3" pitchFamily="34" charset="-120"/>
              </a:rPr>
              <a:t>Context from typing rhythm, pauses, and time of day.</a:t>
            </a:r>
            <a:endParaRPr lang="en-US" sz="1600"/>
          </a:p>
        </p:txBody>
      </p:sp>
      <p:pic>
        <p:nvPicPr>
          <p:cNvPr id="7" name="Image 1" descr="preencoded.png"/>
          <p:cNvPicPr>
            <a:picLocks noChangeAspect="1"/>
          </p:cNvPicPr>
          <p:nvPr/>
        </p:nvPicPr>
        <p:blipFill>
          <a:blip r:embed="rId4"/>
          <a:stretch>
            <a:fillRect/>
          </a:stretch>
        </p:blipFill>
        <p:spPr>
          <a:xfrm>
            <a:off x="7315200" y="2238613"/>
            <a:ext cx="6453783" cy="836890"/>
          </a:xfrm>
          <a:prstGeom prst="rect">
            <a:avLst/>
          </a:prstGeom>
        </p:spPr>
      </p:pic>
      <p:sp>
        <p:nvSpPr>
          <p:cNvPr id="8" name="Text 4"/>
          <p:cNvSpPr/>
          <p:nvPr/>
        </p:nvSpPr>
        <p:spPr>
          <a:xfrm>
            <a:off x="7524393" y="3284696"/>
            <a:ext cx="2377559" cy="297180"/>
          </a:xfrm>
          <a:prstGeom prst="rect">
            <a:avLst/>
          </a:prstGeom>
          <a:noFill/>
          <a:ln/>
        </p:spPr>
        <p:txBody>
          <a:bodyPr wrap="none" lIns="0" tIns="0" rIns="0" bIns="0" rtlCol="0" anchor="t"/>
          <a:lstStyle/>
          <a:p>
            <a:pPr marL="0" indent="0" algn="l">
              <a:lnSpc>
                <a:spcPts val="2300"/>
              </a:lnSpc>
              <a:buNone/>
            </a:pPr>
            <a:r>
              <a:rPr lang="en-US" sz="1850" b="1">
                <a:solidFill>
                  <a:srgbClr val="E2E6E9"/>
                </a:solidFill>
                <a:latin typeface="Montserrat Bold" pitchFamily="34" charset="0"/>
                <a:ea typeface="Montserrat Bold" pitchFamily="34" charset="-122"/>
                <a:cs typeface="Montserrat Bold" pitchFamily="34" charset="-120"/>
              </a:rPr>
              <a:t>Algorithm</a:t>
            </a:r>
            <a:endParaRPr lang="en-US" sz="1850"/>
          </a:p>
        </p:txBody>
      </p:sp>
      <p:sp>
        <p:nvSpPr>
          <p:cNvPr id="9" name="Text 5"/>
          <p:cNvSpPr/>
          <p:nvPr/>
        </p:nvSpPr>
        <p:spPr>
          <a:xfrm>
            <a:off x="7524393" y="3707368"/>
            <a:ext cx="6035397" cy="313730"/>
          </a:xfrm>
          <a:prstGeom prst="rect">
            <a:avLst/>
          </a:prstGeom>
          <a:noFill/>
          <a:ln/>
        </p:spPr>
        <p:txBody>
          <a:bodyPr wrap="none" lIns="0" tIns="0" rIns="0" bIns="0" rtlCol="0" anchor="t"/>
          <a:lstStyle/>
          <a:p>
            <a:pPr marL="0" indent="0" algn="l">
              <a:lnSpc>
                <a:spcPts val="2450"/>
              </a:lnSpc>
              <a:buNone/>
            </a:pPr>
            <a:r>
              <a:rPr lang="en-US" sz="1600">
                <a:solidFill>
                  <a:srgbClr val="E2E6E9"/>
                </a:solidFill>
                <a:latin typeface="Source Sans 3" pitchFamily="34" charset="0"/>
                <a:ea typeface="Source Sans 3" pitchFamily="34" charset="-122"/>
                <a:cs typeface="Source Sans 3" pitchFamily="34" charset="-120"/>
              </a:rPr>
              <a:t>Contextual bandit selects optimal work/break intervals.</a:t>
            </a:r>
            <a:endParaRPr lang="en-US" sz="1600"/>
          </a:p>
        </p:txBody>
      </p:sp>
      <p:pic>
        <p:nvPicPr>
          <p:cNvPr id="10" name="Image 2" descr="preencoded.png"/>
          <p:cNvPicPr>
            <a:picLocks noChangeAspect="1"/>
          </p:cNvPicPr>
          <p:nvPr/>
        </p:nvPicPr>
        <p:blipFill>
          <a:blip r:embed="rId5"/>
          <a:stretch>
            <a:fillRect/>
          </a:stretch>
        </p:blipFill>
        <p:spPr>
          <a:xfrm>
            <a:off x="861417" y="4230291"/>
            <a:ext cx="6453783" cy="836890"/>
          </a:xfrm>
          <a:prstGeom prst="rect">
            <a:avLst/>
          </a:prstGeom>
        </p:spPr>
      </p:pic>
      <p:sp>
        <p:nvSpPr>
          <p:cNvPr id="11" name="Text 6"/>
          <p:cNvSpPr/>
          <p:nvPr/>
        </p:nvSpPr>
        <p:spPr>
          <a:xfrm>
            <a:off x="1070610" y="5276374"/>
            <a:ext cx="2377559" cy="297180"/>
          </a:xfrm>
          <a:prstGeom prst="rect">
            <a:avLst/>
          </a:prstGeom>
          <a:noFill/>
          <a:ln/>
        </p:spPr>
        <p:txBody>
          <a:bodyPr wrap="none" lIns="0" tIns="0" rIns="0" bIns="0" rtlCol="0" anchor="t"/>
          <a:lstStyle/>
          <a:p>
            <a:pPr marL="0" indent="0" algn="l">
              <a:lnSpc>
                <a:spcPts val="2300"/>
              </a:lnSpc>
              <a:buNone/>
            </a:pPr>
            <a:r>
              <a:rPr lang="en-US" sz="1850" b="1">
                <a:solidFill>
                  <a:srgbClr val="E2E6E9"/>
                </a:solidFill>
                <a:latin typeface="Montserrat Bold" pitchFamily="34" charset="0"/>
                <a:ea typeface="Montserrat Bold" pitchFamily="34" charset="-122"/>
                <a:cs typeface="Montserrat Bold" pitchFamily="34" charset="-120"/>
              </a:rPr>
              <a:t>Feedback</a:t>
            </a:r>
            <a:endParaRPr lang="en-US" sz="1850"/>
          </a:p>
        </p:txBody>
      </p:sp>
      <p:sp>
        <p:nvSpPr>
          <p:cNvPr id="12" name="Text 7"/>
          <p:cNvSpPr/>
          <p:nvPr/>
        </p:nvSpPr>
        <p:spPr>
          <a:xfrm>
            <a:off x="1070610" y="5699046"/>
            <a:ext cx="6035397" cy="313730"/>
          </a:xfrm>
          <a:prstGeom prst="rect">
            <a:avLst/>
          </a:prstGeom>
          <a:noFill/>
          <a:ln/>
        </p:spPr>
        <p:txBody>
          <a:bodyPr wrap="none" lIns="0" tIns="0" rIns="0" bIns="0" rtlCol="0" anchor="t"/>
          <a:lstStyle/>
          <a:p>
            <a:pPr marL="0" indent="0" algn="l">
              <a:lnSpc>
                <a:spcPts val="2450"/>
              </a:lnSpc>
              <a:buNone/>
            </a:pPr>
            <a:r>
              <a:rPr lang="en-US" sz="1600">
                <a:solidFill>
                  <a:srgbClr val="E2E6E9"/>
                </a:solidFill>
                <a:latin typeface="Source Sans 3" pitchFamily="34" charset="0"/>
                <a:ea typeface="Source Sans 3" pitchFamily="34" charset="-122"/>
                <a:cs typeface="Source Sans 3" pitchFamily="34" charset="-120"/>
              </a:rPr>
              <a:t>Reward computed from post-break recovery and task progress.</a:t>
            </a:r>
            <a:endParaRPr lang="en-US" sz="1600"/>
          </a:p>
        </p:txBody>
      </p:sp>
      <p:pic>
        <p:nvPicPr>
          <p:cNvPr id="13" name="Image 3" descr="preencoded.png"/>
          <p:cNvPicPr>
            <a:picLocks noChangeAspect="1"/>
          </p:cNvPicPr>
          <p:nvPr/>
        </p:nvPicPr>
        <p:blipFill>
          <a:blip r:embed="rId6"/>
          <a:stretch>
            <a:fillRect/>
          </a:stretch>
        </p:blipFill>
        <p:spPr>
          <a:xfrm>
            <a:off x="7315200" y="4230291"/>
            <a:ext cx="6453783" cy="836890"/>
          </a:xfrm>
          <a:prstGeom prst="rect">
            <a:avLst/>
          </a:prstGeom>
        </p:spPr>
      </p:pic>
      <p:sp>
        <p:nvSpPr>
          <p:cNvPr id="14" name="Text 8"/>
          <p:cNvSpPr/>
          <p:nvPr/>
        </p:nvSpPr>
        <p:spPr>
          <a:xfrm>
            <a:off x="7524393" y="5276374"/>
            <a:ext cx="2377559" cy="297180"/>
          </a:xfrm>
          <a:prstGeom prst="rect">
            <a:avLst/>
          </a:prstGeom>
          <a:noFill/>
          <a:ln/>
        </p:spPr>
        <p:txBody>
          <a:bodyPr wrap="none" lIns="0" tIns="0" rIns="0" bIns="0" rtlCol="0" anchor="t"/>
          <a:lstStyle/>
          <a:p>
            <a:pPr marL="0" indent="0" algn="l">
              <a:lnSpc>
                <a:spcPts val="2300"/>
              </a:lnSpc>
              <a:buNone/>
            </a:pPr>
            <a:r>
              <a:rPr lang="en-US" sz="1850" b="1">
                <a:solidFill>
                  <a:srgbClr val="E2E6E9"/>
                </a:solidFill>
                <a:latin typeface="Montserrat Bold" pitchFamily="34" charset="0"/>
                <a:ea typeface="Montserrat Bold" pitchFamily="34" charset="-122"/>
                <a:cs typeface="Montserrat Bold" pitchFamily="34" charset="-120"/>
              </a:rPr>
              <a:t>Update</a:t>
            </a:r>
            <a:endParaRPr lang="en-US" sz="1850"/>
          </a:p>
        </p:txBody>
      </p:sp>
      <p:sp>
        <p:nvSpPr>
          <p:cNvPr id="15" name="Text 9"/>
          <p:cNvSpPr/>
          <p:nvPr/>
        </p:nvSpPr>
        <p:spPr>
          <a:xfrm>
            <a:off x="7524393" y="5699046"/>
            <a:ext cx="6035397" cy="313730"/>
          </a:xfrm>
          <a:prstGeom prst="rect">
            <a:avLst/>
          </a:prstGeom>
          <a:noFill/>
          <a:ln/>
        </p:spPr>
        <p:txBody>
          <a:bodyPr wrap="none" lIns="0" tIns="0" rIns="0" bIns="0" rtlCol="0" anchor="t"/>
          <a:lstStyle/>
          <a:p>
            <a:pPr marL="0" indent="0" algn="l">
              <a:lnSpc>
                <a:spcPts val="2450"/>
              </a:lnSpc>
              <a:buNone/>
            </a:pPr>
            <a:r>
              <a:rPr lang="en-US" sz="1600">
                <a:solidFill>
                  <a:srgbClr val="E2E6E9"/>
                </a:solidFill>
                <a:latin typeface="Source Sans 3" pitchFamily="34" charset="0"/>
                <a:ea typeface="Source Sans 3" pitchFamily="34" charset="-122"/>
                <a:cs typeface="Source Sans 3" pitchFamily="34" charset="-120"/>
              </a:rPr>
              <a:t>Model adapts policies in real-time, continuously learning.</a:t>
            </a:r>
            <a:endParaRPr lang="en-US" sz="1600"/>
          </a:p>
        </p:txBody>
      </p:sp>
      <p:sp>
        <p:nvSpPr>
          <p:cNvPr id="16" name="Text 10"/>
          <p:cNvSpPr/>
          <p:nvPr/>
        </p:nvSpPr>
        <p:spPr>
          <a:xfrm>
            <a:off x="1175147" y="6692503"/>
            <a:ext cx="12593836" cy="627459"/>
          </a:xfrm>
          <a:prstGeom prst="rect">
            <a:avLst/>
          </a:prstGeom>
          <a:noFill/>
          <a:ln/>
        </p:spPr>
        <p:txBody>
          <a:bodyPr wrap="square" lIns="0" tIns="0" rIns="0" bIns="0" rtlCol="0" anchor="t"/>
          <a:lstStyle/>
          <a:p>
            <a:pPr marL="0" indent="0" algn="l">
              <a:lnSpc>
                <a:spcPts val="2450"/>
              </a:lnSpc>
              <a:buNone/>
            </a:pPr>
            <a:r>
              <a:rPr lang="en-US" sz="1600">
                <a:solidFill>
                  <a:srgbClr val="E2E6E9"/>
                </a:solidFill>
                <a:latin typeface="Source Sans 3" pitchFamily="34" charset="0"/>
                <a:ea typeface="Source Sans 3" pitchFamily="34" charset="-122"/>
                <a:cs typeface="Source Sans 3" pitchFamily="34" charset="-120"/>
              </a:rPr>
              <a:t>Imagine a student starting a session: the system recommends "30 min work + 5 min break." After the break, it checks recovery and adjusts the next cycle, learning a personalized schedule over time.</a:t>
            </a:r>
            <a:endParaRPr lang="en-US" sz="1600"/>
          </a:p>
        </p:txBody>
      </p:sp>
      <p:sp>
        <p:nvSpPr>
          <p:cNvPr id="17" name="Shape 11"/>
          <p:cNvSpPr/>
          <p:nvPr/>
        </p:nvSpPr>
        <p:spPr>
          <a:xfrm>
            <a:off x="861417" y="6457236"/>
            <a:ext cx="22860" cy="1097994"/>
          </a:xfrm>
          <a:prstGeom prst="rect">
            <a:avLst/>
          </a:prstGeom>
          <a:solidFill>
            <a:srgbClr val="FFFFFF"/>
          </a:solidFill>
          <a:ln/>
        </p:spPr>
        <p:txBody>
          <a:bodyPr/>
          <a:lstStyle/>
          <a:p>
            <a:endParaRPr lang="en-US"/>
          </a:p>
        </p:txBody>
      </p:sp>
      <p:sp>
        <p:nvSpPr>
          <p:cNvPr id="18" name="Rectangle 17">
            <a:extLst>
              <a:ext uri="{FF2B5EF4-FFF2-40B4-BE49-F238E27FC236}">
                <a16:creationId xmlns:a16="http://schemas.microsoft.com/office/drawing/2014/main" id="{7F8E3081-5C84-3CDF-D437-37F28EC6973E}"/>
              </a:ext>
            </a:extLst>
          </p:cNvPr>
          <p:cNvSpPr/>
          <p:nvPr/>
        </p:nvSpPr>
        <p:spPr>
          <a:xfrm>
            <a:off x="12812751" y="7738946"/>
            <a:ext cx="1739590" cy="370165"/>
          </a:xfrm>
          <a:prstGeom prst="rect">
            <a:avLst/>
          </a:prstGeom>
          <a:solidFill>
            <a:srgbClr val="111213"/>
          </a:solidFill>
          <a:ln>
            <a:solidFill>
              <a:srgbClr val="11121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8052CF9-7394-E45C-3F5A-2A96735C227D}"/>
              </a:ext>
            </a:extLst>
          </p:cNvPr>
          <p:cNvSpPr/>
          <p:nvPr/>
        </p:nvSpPr>
        <p:spPr>
          <a:xfrm>
            <a:off x="3226158" y="7603190"/>
            <a:ext cx="8179638" cy="4381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r>
              <a:rPr lang="en-US" sz="2150" b="1">
                <a:solidFill>
                  <a:schemeClr val="bg1"/>
                </a:solidFill>
              </a:rPr>
              <a:t>IT22054418</a:t>
            </a:r>
            <a:r>
              <a:rPr lang="en-US" sz="2150">
                <a:solidFill>
                  <a:schemeClr val="bg1"/>
                </a:solidFill>
              </a:rPr>
              <a:t>   |   </a:t>
            </a:r>
            <a:r>
              <a:rPr lang="en-US" sz="2550" err="1">
                <a:solidFill>
                  <a:schemeClr val="bg1"/>
                </a:solidFill>
              </a:rPr>
              <a:t>V.I.Kaluarachchi</a:t>
            </a:r>
            <a:r>
              <a:rPr lang="en-US" sz="2150" b="1">
                <a:solidFill>
                  <a:schemeClr val="bg1"/>
                </a:solidFill>
              </a:rPr>
              <a:t>   </a:t>
            </a:r>
            <a:r>
              <a:rPr lang="en-US" sz="2150">
                <a:solidFill>
                  <a:schemeClr val="bg1"/>
                </a:solidFill>
              </a:rPr>
              <a:t>|   </a:t>
            </a:r>
            <a:r>
              <a:rPr lang="en-US" sz="2150" b="0">
                <a:solidFill>
                  <a:schemeClr val="bg1"/>
                </a:solidFill>
              </a:rPr>
              <a:t>25-26J-458 </a:t>
            </a:r>
            <a:endParaRPr lang="en-US" sz="2150" b="0">
              <a:solidFill>
                <a:schemeClr val="bg1"/>
              </a:solidFill>
              <a:ea typeface="Calibri"/>
              <a:cs typeface="Calibri"/>
            </a:endParaRPr>
          </a:p>
        </p:txBody>
      </p:sp>
      <p:pic>
        <p:nvPicPr>
          <p:cNvPr id="22" name="Picture 21" descr="A blue text on a white background&#10;&#10;AI-generated content may be incorrect.">
            <a:extLst>
              <a:ext uri="{FF2B5EF4-FFF2-40B4-BE49-F238E27FC236}">
                <a16:creationId xmlns:a16="http://schemas.microsoft.com/office/drawing/2014/main" id="{7D1967D4-C3EF-DBE9-55AA-734B9A47B09A}"/>
              </a:ext>
            </a:extLst>
          </p:cNvPr>
          <p:cNvPicPr>
            <a:picLocks noChangeAspect="1"/>
          </p:cNvPicPr>
          <p:nvPr/>
        </p:nvPicPr>
        <p:blipFill>
          <a:blip r:embed="rId7"/>
          <a:stretch>
            <a:fillRect/>
          </a:stretch>
        </p:blipFill>
        <p:spPr>
          <a:xfrm>
            <a:off x="298077" y="7542119"/>
            <a:ext cx="2362200" cy="5143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090952E-24F2-4655-897C-2C9549487FF5}"/>
              </a:ext>
            </a:extLst>
          </p:cNvPr>
          <p:cNvSpPr/>
          <p:nvPr/>
        </p:nvSpPr>
        <p:spPr>
          <a:xfrm>
            <a:off x="3599383" y="6678995"/>
            <a:ext cx="8179638" cy="4381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r>
              <a:rPr lang="en-US" b="1"/>
              <a:t>IT22276582</a:t>
            </a:r>
            <a:r>
              <a:rPr lang="en-US" sz="2160">
                <a:solidFill>
                  <a:schemeClr val="tx1"/>
                </a:solidFill>
              </a:rPr>
              <a:t>   |   </a:t>
            </a:r>
            <a:r>
              <a:rPr lang="en-US" sz="2592"/>
              <a:t>Yasasvin W.M.Y</a:t>
            </a:r>
            <a:r>
              <a:rPr lang="en-US" sz="2160" b="1">
                <a:solidFill>
                  <a:schemeClr val="tx1"/>
                </a:solidFill>
              </a:rPr>
              <a:t>   </a:t>
            </a:r>
            <a:r>
              <a:rPr lang="en-US" sz="2160">
                <a:solidFill>
                  <a:schemeClr val="tx1"/>
                </a:solidFill>
              </a:rPr>
              <a:t>|   </a:t>
            </a:r>
            <a:r>
              <a:rPr lang="en-US" sz="2160" b="0">
                <a:solidFill>
                  <a:schemeClr val="tx1"/>
                </a:solidFill>
              </a:rPr>
              <a:t>25-26J-458 </a:t>
            </a:r>
          </a:p>
        </p:txBody>
      </p:sp>
      <p:pic>
        <p:nvPicPr>
          <p:cNvPr id="5" name="Picture 4" descr="A blue text on a white background&#10;&#10;AI-generated content may be incorrect.">
            <a:extLst>
              <a:ext uri="{FF2B5EF4-FFF2-40B4-BE49-F238E27FC236}">
                <a16:creationId xmlns:a16="http://schemas.microsoft.com/office/drawing/2014/main" id="{C67DA1A0-1EDD-4D7D-81CD-4989ED9F1C65}"/>
              </a:ext>
            </a:extLst>
          </p:cNvPr>
          <p:cNvPicPr>
            <a:picLocks noChangeAspect="1"/>
          </p:cNvPicPr>
          <p:nvPr/>
        </p:nvPicPr>
        <p:blipFill>
          <a:blip r:embed="rId2"/>
          <a:stretch>
            <a:fillRect/>
          </a:stretch>
        </p:blipFill>
        <p:spPr>
          <a:xfrm>
            <a:off x="671302" y="6617924"/>
            <a:ext cx="2362200" cy="514350"/>
          </a:xfrm>
          <a:prstGeom prst="rect">
            <a:avLst/>
          </a:prstGeom>
        </p:spPr>
      </p:pic>
      <p:sp>
        <p:nvSpPr>
          <p:cNvPr id="7" name="Title 4">
            <a:extLst>
              <a:ext uri="{FF2B5EF4-FFF2-40B4-BE49-F238E27FC236}">
                <a16:creationId xmlns:a16="http://schemas.microsoft.com/office/drawing/2014/main" id="{1159D259-E95A-DF98-6594-253DB6849C74}"/>
              </a:ext>
            </a:extLst>
          </p:cNvPr>
          <p:cNvSpPr txBox="1">
            <a:spLocks/>
          </p:cNvSpPr>
          <p:nvPr/>
        </p:nvSpPr>
        <p:spPr>
          <a:xfrm>
            <a:off x="1155701" y="3404505"/>
            <a:ext cx="12435840" cy="1634490"/>
          </a:xfrm>
          <a:prstGeom prst="rect">
            <a:avLst/>
          </a:prstGeom>
        </p:spPr>
        <p:txBody>
          <a:bodyPr lIns="91440" tIns="45720" rIns="91440" bIns="45720" anchor="t"/>
          <a:lstStyle>
            <a:lvl1pPr algn="ctr" defTabSz="1097280" rtl="0" eaLnBrk="1" latinLnBrk="0" hangingPunct="1">
              <a:spcBef>
                <a:spcPct val="0"/>
              </a:spcBef>
              <a:buNone/>
              <a:defRPr sz="5280" kern="1200">
                <a:solidFill>
                  <a:schemeClr val="tx1"/>
                </a:solidFill>
                <a:latin typeface="Adobe Devanagari" pitchFamily="18" charset="0"/>
                <a:ea typeface="+mj-ea"/>
                <a:cs typeface="Adobe Devanagari" pitchFamily="18" charset="0"/>
              </a:defRPr>
            </a:lvl1pPr>
          </a:lstStyle>
          <a:p>
            <a:r>
              <a:rPr lang="en-US" sz="5250" err="1">
                <a:latin typeface="Adobe Devanagari"/>
              </a:rPr>
              <a:t>Yasasvin</a:t>
            </a:r>
            <a:r>
              <a:rPr lang="en-US" sz="5250">
                <a:latin typeface="Adobe Devanagari"/>
              </a:rPr>
              <a:t> W.M.Y  --   </a:t>
            </a:r>
            <a:r>
              <a:rPr lang="en-US" sz="5250" b="1">
                <a:latin typeface="Adobe Devanagari"/>
                <a:ea typeface="Calibri"/>
                <a:cs typeface="Calibri"/>
              </a:rPr>
              <a:t>IT22276582</a:t>
            </a:r>
            <a:r>
              <a:rPr lang="en-US" sz="5250">
                <a:latin typeface="Adobe Devanagari"/>
                <a:ea typeface="Calibri"/>
                <a:cs typeface="Calibri"/>
              </a:rPr>
              <a:t> </a:t>
            </a:r>
            <a:endParaRPr lang="en-US"/>
          </a:p>
        </p:txBody>
      </p:sp>
      <p:sp>
        <p:nvSpPr>
          <p:cNvPr id="9" name="Text Placeholder 5">
            <a:extLst>
              <a:ext uri="{FF2B5EF4-FFF2-40B4-BE49-F238E27FC236}">
                <a16:creationId xmlns:a16="http://schemas.microsoft.com/office/drawing/2014/main" id="{7E26CA37-FF4D-DB03-35EA-C9B4C24C01D1}"/>
              </a:ext>
            </a:extLst>
          </p:cNvPr>
          <p:cNvSpPr txBox="1">
            <a:spLocks/>
          </p:cNvSpPr>
          <p:nvPr/>
        </p:nvSpPr>
        <p:spPr>
          <a:xfrm>
            <a:off x="1155701" y="5084714"/>
            <a:ext cx="12435840" cy="1800224"/>
          </a:xfrm>
          <a:prstGeom prst="rect">
            <a:avLst/>
          </a:prstGeom>
        </p:spPr>
        <p:txBody>
          <a:bodyPr/>
          <a:lstStyle>
            <a:lvl1pPr marL="411480" indent="-411480" algn="l" defTabSz="1097280" rtl="0" eaLnBrk="1" latinLnBrk="0" hangingPunct="1">
              <a:spcBef>
                <a:spcPct val="20000"/>
              </a:spcBef>
              <a:buFont typeface="Arial" pitchFamily="34" charset="0"/>
              <a:buChar char="•"/>
              <a:defRPr sz="3840" kern="1200">
                <a:solidFill>
                  <a:schemeClr val="tx1"/>
                </a:solidFill>
                <a:latin typeface="+mn-lt"/>
                <a:ea typeface="+mn-ea"/>
                <a:cs typeface="+mn-cs"/>
              </a:defRPr>
            </a:lvl1pPr>
            <a:lvl2pPr marL="891540" indent="-342900" algn="l" defTabSz="1097280" rtl="0" eaLnBrk="1" latinLnBrk="0" hangingPunct="1">
              <a:spcBef>
                <a:spcPct val="20000"/>
              </a:spcBef>
              <a:buFont typeface="Wingdings" pitchFamily="2" charset="2"/>
              <a:buChar char="Ø"/>
              <a:defRPr sz="3360" kern="1200">
                <a:solidFill>
                  <a:schemeClr val="tx1"/>
                </a:solidFill>
                <a:latin typeface="+mn-lt"/>
                <a:ea typeface="+mn-ea"/>
                <a:cs typeface="+mn-cs"/>
              </a:defRPr>
            </a:lvl2pPr>
            <a:lvl3pPr marL="1371600" indent="-274320" algn="l" defTabSz="1097280" rtl="0" eaLnBrk="1" latinLnBrk="0" hangingPunct="1">
              <a:spcBef>
                <a:spcPct val="20000"/>
              </a:spcBef>
              <a:buFont typeface="Arial" pitchFamily="34" charset="0"/>
              <a:buChar char="•"/>
              <a:defRPr sz="2880" kern="1200">
                <a:solidFill>
                  <a:schemeClr val="tx1"/>
                </a:solidFill>
                <a:latin typeface="+mn-lt"/>
                <a:ea typeface="+mn-ea"/>
                <a:cs typeface="+mn-cs"/>
              </a:defRPr>
            </a:lvl3pPr>
            <a:lvl4pPr marL="1920240" indent="-274320" algn="l" defTabSz="1097280" rtl="0" eaLnBrk="1" latinLnBrk="0" hangingPunct="1">
              <a:spcBef>
                <a:spcPct val="20000"/>
              </a:spcBef>
              <a:buFont typeface="Wingdings" pitchFamily="2" charset="2"/>
              <a:buChar char="§"/>
              <a:defRPr sz="2400" kern="1200">
                <a:solidFill>
                  <a:schemeClr val="tx1"/>
                </a:solidFill>
                <a:latin typeface="+mn-lt"/>
                <a:ea typeface="+mn-ea"/>
                <a:cs typeface="+mn-cs"/>
              </a:defRPr>
            </a:lvl4pPr>
            <a:lvl5pPr marL="246888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5pPr>
            <a:lvl6pPr marL="301752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616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480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344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lgn="ctr"/>
            <a:r>
              <a:rPr lang="en-US"/>
              <a:t>B.Sc. (Hons) Degree in Information Technology Specializing in software engineering </a:t>
            </a:r>
          </a:p>
        </p:txBody>
      </p:sp>
      <p:pic>
        <p:nvPicPr>
          <p:cNvPr id="12" name="Picture 11" descr="A person wearing glasses and a blue shirt&#10;&#10;AI-generated content may be incorrect.">
            <a:extLst>
              <a:ext uri="{FF2B5EF4-FFF2-40B4-BE49-F238E27FC236}">
                <a16:creationId xmlns:a16="http://schemas.microsoft.com/office/drawing/2014/main" id="{34729282-39BE-8552-B2B8-690030B00436}"/>
              </a:ext>
            </a:extLst>
          </p:cNvPr>
          <p:cNvPicPr>
            <a:picLocks noChangeAspect="1"/>
          </p:cNvPicPr>
          <p:nvPr/>
        </p:nvPicPr>
        <p:blipFill>
          <a:blip r:embed="rId3"/>
          <a:stretch>
            <a:fillRect/>
          </a:stretch>
        </p:blipFill>
        <p:spPr>
          <a:xfrm>
            <a:off x="11774581" y="-6444"/>
            <a:ext cx="2860863" cy="2393018"/>
          </a:xfrm>
          <a:prstGeom prst="rect">
            <a:avLst/>
          </a:prstGeom>
        </p:spPr>
      </p:pic>
    </p:spTree>
    <p:extLst>
      <p:ext uri="{BB962C8B-B14F-4D97-AF65-F5344CB8AC3E}">
        <p14:creationId xmlns:p14="http://schemas.microsoft.com/office/powerpoint/2010/main" val="2162743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44">
            <a:extLst>
              <a:ext uri="{FF2B5EF4-FFF2-40B4-BE49-F238E27FC236}">
                <a16:creationId xmlns:a16="http://schemas.microsoft.com/office/drawing/2014/main" id="{00D3A39D-94C5-F610-15F7-A7614332B94A}"/>
              </a:ext>
            </a:extLst>
          </p:cNvPr>
          <p:cNvSpPr txBox="1"/>
          <p:nvPr/>
        </p:nvSpPr>
        <p:spPr>
          <a:xfrm>
            <a:off x="11061212" y="7742851"/>
            <a:ext cx="3569188" cy="400110"/>
          </a:xfrm>
          <a:prstGeom prst="rect">
            <a:avLst/>
          </a:prstGeom>
          <a:solidFill>
            <a:schemeClr val="bg1"/>
          </a:solidFill>
        </p:spPr>
        <p:txBody>
          <a:bodyPr wrap="square" rtlCol="0">
            <a:spAutoFit/>
          </a:bodyPr>
          <a:lstStyle/>
          <a:p>
            <a:r>
              <a:rPr lang="en-US" sz="2000">
                <a:solidFill>
                  <a:schemeClr val="tx1">
                    <a:lumMod val="50000"/>
                    <a:lumOff val="50000"/>
                  </a:schemeClr>
                </a:solidFill>
              </a:rPr>
              <a:t>IT22276582 – Yasasvin W.M.Y</a:t>
            </a:r>
          </a:p>
        </p:txBody>
      </p:sp>
      <p:sp>
        <p:nvSpPr>
          <p:cNvPr id="74" name="Text 0">
            <a:extLst>
              <a:ext uri="{FF2B5EF4-FFF2-40B4-BE49-F238E27FC236}">
                <a16:creationId xmlns:a16="http://schemas.microsoft.com/office/drawing/2014/main" id="{D0277A65-D305-403E-AB3B-83097C446A20}"/>
              </a:ext>
            </a:extLst>
          </p:cNvPr>
          <p:cNvSpPr/>
          <p:nvPr/>
        </p:nvSpPr>
        <p:spPr>
          <a:xfrm>
            <a:off x="749022" y="1188065"/>
            <a:ext cx="11430238" cy="607933"/>
          </a:xfrm>
          <a:prstGeom prst="rect">
            <a:avLst/>
          </a:prstGeom>
          <a:noFill/>
          <a:ln/>
        </p:spPr>
        <p:txBody>
          <a:bodyPr wrap="none" lIns="0" tIns="0" rIns="0" bIns="0" rtlCol="0" anchor="t"/>
          <a:lstStyle/>
          <a:p>
            <a:pPr marL="0" indent="0" algn="l">
              <a:lnSpc>
                <a:spcPts val="4750"/>
              </a:lnSpc>
              <a:buNone/>
            </a:pPr>
            <a:r>
              <a:rPr lang="en-US" sz="2400" b="1">
                <a:solidFill>
                  <a:srgbClr val="000000"/>
                </a:solidFill>
                <a:latin typeface="Montserrat Bold" pitchFamily="34" charset="0"/>
                <a:ea typeface="Montserrat Bold" pitchFamily="34" charset="-122"/>
                <a:cs typeface="Montserrat Bold" pitchFamily="34" charset="-120"/>
              </a:rPr>
              <a:t>Chronotype Heatmap &amp; Insightful Recommendation</a:t>
            </a:r>
            <a:endParaRPr lang="en-US" sz="2400"/>
          </a:p>
        </p:txBody>
      </p:sp>
      <p:sp>
        <p:nvSpPr>
          <p:cNvPr id="75" name="Text 1">
            <a:extLst>
              <a:ext uri="{FF2B5EF4-FFF2-40B4-BE49-F238E27FC236}">
                <a16:creationId xmlns:a16="http://schemas.microsoft.com/office/drawing/2014/main" id="{7207A126-338F-4A4C-800A-2A1263CF761E}"/>
              </a:ext>
            </a:extLst>
          </p:cNvPr>
          <p:cNvSpPr/>
          <p:nvPr/>
        </p:nvSpPr>
        <p:spPr>
          <a:xfrm>
            <a:off x="749022" y="1902976"/>
            <a:ext cx="13132356" cy="642223"/>
          </a:xfrm>
          <a:prstGeom prst="rect">
            <a:avLst/>
          </a:prstGeom>
          <a:noFill/>
          <a:ln/>
        </p:spPr>
        <p:txBody>
          <a:bodyPr wrap="square" lIns="0" tIns="0" rIns="0" bIns="0" rtlCol="0" anchor="t"/>
          <a:lstStyle/>
          <a:p>
            <a:pPr marL="0" indent="0" algn="l">
              <a:lnSpc>
                <a:spcPts val="2500"/>
              </a:lnSpc>
              <a:buNone/>
            </a:pPr>
            <a:r>
              <a:rPr lang="en-US" sz="1650">
                <a:solidFill>
                  <a:srgbClr val="000000"/>
                </a:solidFill>
                <a:latin typeface="Source Sans 3" pitchFamily="34" charset="0"/>
                <a:ea typeface="Source Sans 3" pitchFamily="34" charset="-122"/>
                <a:cs typeface="Source Sans 3" pitchFamily="34" charset="-120"/>
              </a:rPr>
              <a:t>Unlocking a student's true learning potential requires more than just dedicated effort; it demands a personalized approach that aligns with their natural biological rhythms. Our solution directly addresses this fundamental challenge.</a:t>
            </a:r>
            <a:endParaRPr lang="en-US" sz="1650"/>
          </a:p>
        </p:txBody>
      </p:sp>
      <p:sp>
        <p:nvSpPr>
          <p:cNvPr id="76" name="Shape 2">
            <a:extLst>
              <a:ext uri="{FF2B5EF4-FFF2-40B4-BE49-F238E27FC236}">
                <a16:creationId xmlns:a16="http://schemas.microsoft.com/office/drawing/2014/main" id="{AAD23BBC-AE92-4F82-9D15-7DDA20F500A3}"/>
              </a:ext>
            </a:extLst>
          </p:cNvPr>
          <p:cNvSpPr/>
          <p:nvPr/>
        </p:nvSpPr>
        <p:spPr>
          <a:xfrm>
            <a:off x="749022" y="3026688"/>
            <a:ext cx="6305193" cy="2291239"/>
          </a:xfrm>
          <a:prstGeom prst="roundRect">
            <a:avLst>
              <a:gd name="adj" fmla="val 1401"/>
            </a:avLst>
          </a:prstGeom>
          <a:solidFill>
            <a:srgbClr val="FFFFFF"/>
          </a:solidFill>
          <a:ln w="30480">
            <a:solidFill>
              <a:srgbClr val="1D1F22"/>
            </a:solidFill>
            <a:prstDash val="solid"/>
          </a:ln>
        </p:spPr>
        <p:txBody>
          <a:bodyPr/>
          <a:lstStyle/>
          <a:p>
            <a:endParaRPr lang="en-US"/>
          </a:p>
        </p:txBody>
      </p:sp>
      <p:sp>
        <p:nvSpPr>
          <p:cNvPr id="77" name="Shape 3">
            <a:extLst>
              <a:ext uri="{FF2B5EF4-FFF2-40B4-BE49-F238E27FC236}">
                <a16:creationId xmlns:a16="http://schemas.microsoft.com/office/drawing/2014/main" id="{84EB9565-C35E-4CC7-92F6-CF4EF2F24CE8}"/>
              </a:ext>
            </a:extLst>
          </p:cNvPr>
          <p:cNvSpPr/>
          <p:nvPr/>
        </p:nvSpPr>
        <p:spPr>
          <a:xfrm>
            <a:off x="749022" y="3026688"/>
            <a:ext cx="121920" cy="2291239"/>
          </a:xfrm>
          <a:prstGeom prst="roundRect">
            <a:avLst>
              <a:gd name="adj" fmla="val 26331"/>
            </a:avLst>
          </a:prstGeom>
          <a:solidFill>
            <a:srgbClr val="1D1F22"/>
          </a:solidFill>
          <a:ln/>
        </p:spPr>
        <p:txBody>
          <a:bodyPr/>
          <a:lstStyle/>
          <a:p>
            <a:endParaRPr lang="en-US"/>
          </a:p>
        </p:txBody>
      </p:sp>
      <p:sp>
        <p:nvSpPr>
          <p:cNvPr id="78" name="Text 4">
            <a:extLst>
              <a:ext uri="{FF2B5EF4-FFF2-40B4-BE49-F238E27FC236}">
                <a16:creationId xmlns:a16="http://schemas.microsoft.com/office/drawing/2014/main" id="{DFB0889A-5B41-4FD7-B56D-634F78FD790C}"/>
              </a:ext>
            </a:extLst>
          </p:cNvPr>
          <p:cNvSpPr/>
          <p:nvPr/>
        </p:nvSpPr>
        <p:spPr>
          <a:xfrm>
            <a:off x="1115378" y="3271123"/>
            <a:ext cx="3423761" cy="303967"/>
          </a:xfrm>
          <a:prstGeom prst="rect">
            <a:avLst/>
          </a:prstGeom>
          <a:noFill/>
          <a:ln/>
        </p:spPr>
        <p:txBody>
          <a:bodyPr wrap="none" lIns="0" tIns="0" rIns="0" bIns="0" rtlCol="0" anchor="t"/>
          <a:lstStyle/>
          <a:p>
            <a:pPr marL="0" indent="0" algn="l">
              <a:lnSpc>
                <a:spcPts val="2350"/>
              </a:lnSpc>
              <a:buNone/>
            </a:pPr>
            <a:r>
              <a:rPr lang="en-US" sz="1900" b="1">
                <a:solidFill>
                  <a:srgbClr val="000000"/>
                </a:solidFill>
                <a:latin typeface="Montserrat Bold" pitchFamily="34" charset="0"/>
                <a:ea typeface="Montserrat Bold" pitchFamily="34" charset="-122"/>
                <a:cs typeface="Montserrat Bold" pitchFamily="34" charset="-120"/>
              </a:rPr>
              <a:t>Knowledge Gap &amp; Problem</a:t>
            </a:r>
            <a:endParaRPr lang="en-US" sz="1900"/>
          </a:p>
        </p:txBody>
      </p:sp>
      <p:sp>
        <p:nvSpPr>
          <p:cNvPr id="79" name="Text 5">
            <a:extLst>
              <a:ext uri="{FF2B5EF4-FFF2-40B4-BE49-F238E27FC236}">
                <a16:creationId xmlns:a16="http://schemas.microsoft.com/office/drawing/2014/main" id="{49180FA0-FEC2-4B06-BD3C-4B5DED01F0BE}"/>
              </a:ext>
            </a:extLst>
          </p:cNvPr>
          <p:cNvSpPr/>
          <p:nvPr/>
        </p:nvSpPr>
        <p:spPr>
          <a:xfrm>
            <a:off x="1115378" y="3789045"/>
            <a:ext cx="5694402" cy="1284446"/>
          </a:xfrm>
          <a:prstGeom prst="rect">
            <a:avLst/>
          </a:prstGeom>
          <a:noFill/>
          <a:ln/>
        </p:spPr>
        <p:txBody>
          <a:bodyPr wrap="square" lIns="0" tIns="0" rIns="0" bIns="0" rtlCol="0" anchor="t"/>
          <a:lstStyle/>
          <a:p>
            <a:pPr marL="0" indent="0" algn="l">
              <a:lnSpc>
                <a:spcPts val="2500"/>
              </a:lnSpc>
              <a:buNone/>
            </a:pPr>
            <a:r>
              <a:rPr lang="en-US" sz="1650">
                <a:solidFill>
                  <a:srgbClr val="000000"/>
                </a:solidFill>
                <a:latin typeface="Source Sans 3" pitchFamily="34" charset="0"/>
                <a:ea typeface="Source Sans 3" pitchFamily="34" charset="-122"/>
                <a:cs typeface="Source Sans 3" pitchFamily="34" charset="-120"/>
              </a:rPr>
              <a:t>Many students struggle to identify their most productive study times, leading to inefficient learning sessions. </a:t>
            </a:r>
          </a:p>
          <a:p>
            <a:pPr marL="0" indent="0" algn="l">
              <a:lnSpc>
                <a:spcPts val="2500"/>
              </a:lnSpc>
              <a:buNone/>
            </a:pPr>
            <a:r>
              <a:rPr lang="en-US" sz="1650">
                <a:solidFill>
                  <a:srgbClr val="000000"/>
                </a:solidFill>
                <a:latin typeface="Source Sans 3" pitchFamily="34" charset="0"/>
                <a:ea typeface="Source Sans 3" pitchFamily="34" charset="-122"/>
                <a:cs typeface="Source Sans 3" pitchFamily="34" charset="-120"/>
              </a:rPr>
              <a:t>Existing tools are often static, lacking personalized insights into individual behavior patterns.</a:t>
            </a:r>
            <a:endParaRPr lang="en-US" sz="1650"/>
          </a:p>
        </p:txBody>
      </p:sp>
      <p:sp>
        <p:nvSpPr>
          <p:cNvPr id="80" name="Shape 6">
            <a:extLst>
              <a:ext uri="{FF2B5EF4-FFF2-40B4-BE49-F238E27FC236}">
                <a16:creationId xmlns:a16="http://schemas.microsoft.com/office/drawing/2014/main" id="{D492E1E6-CE8C-47B4-8CB9-0E4750F9B3DB}"/>
              </a:ext>
            </a:extLst>
          </p:cNvPr>
          <p:cNvSpPr/>
          <p:nvPr/>
        </p:nvSpPr>
        <p:spPr>
          <a:xfrm>
            <a:off x="7583805" y="3026687"/>
            <a:ext cx="6305193" cy="2384409"/>
          </a:xfrm>
          <a:prstGeom prst="roundRect">
            <a:avLst>
              <a:gd name="adj" fmla="val 1629"/>
            </a:avLst>
          </a:prstGeom>
          <a:solidFill>
            <a:srgbClr val="FFFFFF"/>
          </a:solidFill>
          <a:ln w="30480">
            <a:solidFill>
              <a:srgbClr val="1D1F22"/>
            </a:solidFill>
            <a:prstDash val="solid"/>
          </a:ln>
        </p:spPr>
        <p:txBody>
          <a:bodyPr/>
          <a:lstStyle/>
          <a:p>
            <a:endParaRPr lang="en-US"/>
          </a:p>
        </p:txBody>
      </p:sp>
      <p:sp>
        <p:nvSpPr>
          <p:cNvPr id="81" name="Shape 7">
            <a:extLst>
              <a:ext uri="{FF2B5EF4-FFF2-40B4-BE49-F238E27FC236}">
                <a16:creationId xmlns:a16="http://schemas.microsoft.com/office/drawing/2014/main" id="{D3F48076-33FE-4DA2-A081-40098362FD39}"/>
              </a:ext>
            </a:extLst>
          </p:cNvPr>
          <p:cNvSpPr/>
          <p:nvPr/>
        </p:nvSpPr>
        <p:spPr>
          <a:xfrm>
            <a:off x="7583805" y="3026688"/>
            <a:ext cx="121919" cy="2384408"/>
          </a:xfrm>
          <a:prstGeom prst="roundRect">
            <a:avLst>
              <a:gd name="adj" fmla="val 26331"/>
            </a:avLst>
          </a:prstGeom>
          <a:solidFill>
            <a:srgbClr val="1D1F22"/>
          </a:solidFill>
          <a:ln/>
        </p:spPr>
        <p:txBody>
          <a:bodyPr/>
          <a:lstStyle/>
          <a:p>
            <a:endParaRPr lang="en-US"/>
          </a:p>
        </p:txBody>
      </p:sp>
      <p:sp>
        <p:nvSpPr>
          <p:cNvPr id="82" name="Text 8">
            <a:extLst>
              <a:ext uri="{FF2B5EF4-FFF2-40B4-BE49-F238E27FC236}">
                <a16:creationId xmlns:a16="http://schemas.microsoft.com/office/drawing/2014/main" id="{97EEBB06-557E-45C1-9E13-4B042AF45395}"/>
              </a:ext>
            </a:extLst>
          </p:cNvPr>
          <p:cNvSpPr/>
          <p:nvPr/>
        </p:nvSpPr>
        <p:spPr>
          <a:xfrm>
            <a:off x="7950160" y="3271123"/>
            <a:ext cx="4344233" cy="303967"/>
          </a:xfrm>
          <a:prstGeom prst="rect">
            <a:avLst/>
          </a:prstGeom>
          <a:noFill/>
          <a:ln/>
        </p:spPr>
        <p:txBody>
          <a:bodyPr wrap="none" lIns="0" tIns="0" rIns="0" bIns="0" rtlCol="0" anchor="t"/>
          <a:lstStyle/>
          <a:p>
            <a:pPr marL="0" indent="0" algn="l">
              <a:lnSpc>
                <a:spcPts val="2350"/>
              </a:lnSpc>
              <a:buNone/>
            </a:pPr>
            <a:r>
              <a:rPr lang="en-US" sz="1900" b="1">
                <a:solidFill>
                  <a:srgbClr val="000000"/>
                </a:solidFill>
                <a:latin typeface="Montserrat Bold" pitchFamily="34" charset="0"/>
                <a:ea typeface="Montserrat Bold" pitchFamily="34" charset="-122"/>
                <a:cs typeface="Montserrat Bold" pitchFamily="34" charset="-120"/>
              </a:rPr>
              <a:t>Shortcomings of Existing Systems</a:t>
            </a:r>
            <a:endParaRPr lang="en-US" sz="1900"/>
          </a:p>
        </p:txBody>
      </p:sp>
      <p:sp>
        <p:nvSpPr>
          <p:cNvPr id="83" name="Text 9">
            <a:extLst>
              <a:ext uri="{FF2B5EF4-FFF2-40B4-BE49-F238E27FC236}">
                <a16:creationId xmlns:a16="http://schemas.microsoft.com/office/drawing/2014/main" id="{0E65B7D7-7851-43A9-A3CC-0C9388E6CD32}"/>
              </a:ext>
            </a:extLst>
          </p:cNvPr>
          <p:cNvSpPr/>
          <p:nvPr/>
        </p:nvSpPr>
        <p:spPr>
          <a:xfrm>
            <a:off x="7950160" y="3789045"/>
            <a:ext cx="5694402" cy="963335"/>
          </a:xfrm>
          <a:prstGeom prst="rect">
            <a:avLst/>
          </a:prstGeom>
          <a:noFill/>
          <a:ln/>
        </p:spPr>
        <p:txBody>
          <a:bodyPr wrap="square" lIns="0" tIns="0" rIns="0" bIns="0" rtlCol="0" anchor="t"/>
          <a:lstStyle/>
          <a:p>
            <a:pPr marL="0" indent="0" algn="l">
              <a:lnSpc>
                <a:spcPts val="2500"/>
              </a:lnSpc>
              <a:buNone/>
            </a:pPr>
            <a:r>
              <a:rPr lang="en-US" sz="1650">
                <a:solidFill>
                  <a:srgbClr val="000000"/>
                </a:solidFill>
                <a:latin typeface="Source Sans 3" pitchFamily="34" charset="0"/>
                <a:ea typeface="Source Sans 3" pitchFamily="34" charset="-122"/>
                <a:cs typeface="Source Sans 3" pitchFamily="34" charset="-120"/>
              </a:rPr>
              <a:t>Most study timers like </a:t>
            </a:r>
            <a:r>
              <a:rPr lang="en-US" sz="1650" err="1">
                <a:solidFill>
                  <a:srgbClr val="000000"/>
                </a:solidFill>
                <a:latin typeface="Source Sans 3" pitchFamily="34" charset="0"/>
                <a:ea typeface="Source Sans 3" pitchFamily="34" charset="-122"/>
                <a:cs typeface="Source Sans 3" pitchFamily="34" charset="-120"/>
              </a:rPr>
              <a:t>pomdoro</a:t>
            </a:r>
            <a:r>
              <a:rPr lang="en-US" sz="1650">
                <a:solidFill>
                  <a:srgbClr val="000000"/>
                </a:solidFill>
                <a:latin typeface="Source Sans 3" pitchFamily="34" charset="0"/>
                <a:ea typeface="Source Sans 3" pitchFamily="34" charset="-122"/>
                <a:cs typeface="Source Sans 3" pitchFamily="34" charset="-120"/>
              </a:rPr>
              <a:t> timers don't track crucial behavioral data like keystrokes or focus levels.  They offer limited or non optimal study session recommendation, even </a:t>
            </a:r>
            <a:r>
              <a:rPr lang="en-US" sz="1650" err="1">
                <a:solidFill>
                  <a:srgbClr val="000000"/>
                </a:solidFill>
                <a:latin typeface="Source Sans 3" pitchFamily="34" charset="0"/>
                <a:ea typeface="Source Sans 3" pitchFamily="34" charset="-122"/>
                <a:cs typeface="Source Sans 3" pitchFamily="34" charset="-120"/>
              </a:rPr>
              <a:t>cronotype</a:t>
            </a:r>
            <a:r>
              <a:rPr lang="en-US" sz="1650">
                <a:solidFill>
                  <a:srgbClr val="000000"/>
                </a:solidFill>
                <a:latin typeface="Source Sans 3" pitchFamily="34" charset="0"/>
                <a:ea typeface="Source Sans 3" pitchFamily="34" charset="-122"/>
                <a:cs typeface="Source Sans 3" pitchFamily="34" charset="-120"/>
              </a:rPr>
              <a:t> based apps like Good Morning Sunshine app failing to provide truly tailored </a:t>
            </a:r>
            <a:r>
              <a:rPr lang="en-US" sz="1650" err="1">
                <a:solidFill>
                  <a:srgbClr val="000000"/>
                </a:solidFill>
                <a:latin typeface="Source Sans 3" pitchFamily="34" charset="0"/>
                <a:ea typeface="Source Sans 3" pitchFamily="34" charset="-122"/>
                <a:cs typeface="Source Sans 3" pitchFamily="34" charset="-120"/>
              </a:rPr>
              <a:t>cronotype</a:t>
            </a:r>
            <a:r>
              <a:rPr lang="en-US" sz="1650">
                <a:solidFill>
                  <a:srgbClr val="000000"/>
                </a:solidFill>
                <a:latin typeface="Source Sans 3" pitchFamily="34" charset="0"/>
                <a:ea typeface="Source Sans 3" pitchFamily="34" charset="-122"/>
                <a:cs typeface="Source Sans 3" pitchFamily="34" charset="-120"/>
              </a:rPr>
              <a:t> recommendations.</a:t>
            </a:r>
            <a:endParaRPr lang="en-US" sz="1650"/>
          </a:p>
        </p:txBody>
      </p:sp>
      <p:sp>
        <p:nvSpPr>
          <p:cNvPr id="84" name="Shape 10">
            <a:extLst>
              <a:ext uri="{FF2B5EF4-FFF2-40B4-BE49-F238E27FC236}">
                <a16:creationId xmlns:a16="http://schemas.microsoft.com/office/drawing/2014/main" id="{D35DC89D-4D66-4FF7-BE56-546209D710AF}"/>
              </a:ext>
            </a:extLst>
          </p:cNvPr>
          <p:cNvSpPr/>
          <p:nvPr/>
        </p:nvSpPr>
        <p:spPr>
          <a:xfrm>
            <a:off x="749022" y="5531882"/>
            <a:ext cx="13132356" cy="1966534"/>
          </a:xfrm>
          <a:prstGeom prst="roundRect">
            <a:avLst>
              <a:gd name="adj" fmla="val 32859"/>
            </a:avLst>
          </a:prstGeom>
          <a:solidFill>
            <a:srgbClr val="303132"/>
          </a:solidFill>
          <a:ln/>
        </p:spPr>
        <p:txBody>
          <a:bodyPr/>
          <a:lstStyle/>
          <a:p>
            <a:endParaRPr lang="en-US"/>
          </a:p>
        </p:txBody>
      </p:sp>
      <p:sp>
        <p:nvSpPr>
          <p:cNvPr id="85" name="Text 11">
            <a:extLst>
              <a:ext uri="{FF2B5EF4-FFF2-40B4-BE49-F238E27FC236}">
                <a16:creationId xmlns:a16="http://schemas.microsoft.com/office/drawing/2014/main" id="{FA399D7C-FED0-4DB1-8629-C8657D32D611}"/>
              </a:ext>
            </a:extLst>
          </p:cNvPr>
          <p:cNvSpPr/>
          <p:nvPr/>
        </p:nvSpPr>
        <p:spPr>
          <a:xfrm>
            <a:off x="962978" y="5752765"/>
            <a:ext cx="5784175" cy="364688"/>
          </a:xfrm>
          <a:prstGeom prst="rect">
            <a:avLst/>
          </a:prstGeom>
          <a:noFill/>
          <a:ln/>
        </p:spPr>
        <p:txBody>
          <a:bodyPr wrap="none" lIns="0" tIns="0" rIns="0" bIns="0" rtlCol="0" anchor="t"/>
          <a:lstStyle/>
          <a:p>
            <a:pPr marL="0" indent="0" algn="l">
              <a:lnSpc>
                <a:spcPts val="2850"/>
              </a:lnSpc>
              <a:buNone/>
            </a:pPr>
            <a:r>
              <a:rPr lang="en-US" sz="2250" b="1">
                <a:solidFill>
                  <a:srgbClr val="FFFFFF"/>
                </a:solidFill>
                <a:latin typeface="Montserrat Bold" pitchFamily="34" charset="0"/>
                <a:ea typeface="Montserrat Bold" pitchFamily="34" charset="-122"/>
                <a:cs typeface="Montserrat Bold" pitchFamily="34" charset="-120"/>
              </a:rPr>
              <a:t>Proposed Solution: Adaptive Learning</a:t>
            </a:r>
            <a:endParaRPr lang="en-US" sz="2250"/>
          </a:p>
        </p:txBody>
      </p:sp>
      <p:sp>
        <p:nvSpPr>
          <p:cNvPr id="86" name="Text 12">
            <a:extLst>
              <a:ext uri="{FF2B5EF4-FFF2-40B4-BE49-F238E27FC236}">
                <a16:creationId xmlns:a16="http://schemas.microsoft.com/office/drawing/2014/main" id="{C40A85A5-8D70-41DC-A6C7-625DC291DE7E}"/>
              </a:ext>
            </a:extLst>
          </p:cNvPr>
          <p:cNvSpPr/>
          <p:nvPr/>
        </p:nvSpPr>
        <p:spPr>
          <a:xfrm>
            <a:off x="962978" y="6245802"/>
            <a:ext cx="12704445" cy="642223"/>
          </a:xfrm>
          <a:prstGeom prst="rect">
            <a:avLst/>
          </a:prstGeom>
          <a:noFill/>
          <a:ln/>
        </p:spPr>
        <p:txBody>
          <a:bodyPr wrap="square" lIns="0" tIns="0" rIns="0" bIns="0" rtlCol="0" anchor="t"/>
          <a:lstStyle/>
          <a:p>
            <a:pPr marL="0" indent="0" algn="l">
              <a:lnSpc>
                <a:spcPts val="2500"/>
              </a:lnSpc>
              <a:buNone/>
            </a:pPr>
            <a:r>
              <a:rPr lang="en-US" sz="2000">
                <a:solidFill>
                  <a:srgbClr val="FFFFFF"/>
                </a:solidFill>
                <a:latin typeface="Source Sans 3" pitchFamily="34" charset="0"/>
                <a:ea typeface="Source Sans 3" pitchFamily="34" charset="-122"/>
                <a:cs typeface="Source Sans 3" pitchFamily="34" charset="-120"/>
              </a:rPr>
              <a:t>We propose a hybrid system combining a </a:t>
            </a:r>
            <a:r>
              <a:rPr lang="en-US" sz="2000">
                <a:solidFill>
                  <a:srgbClr val="FA95AE"/>
                </a:solidFill>
                <a:latin typeface="Source Sans 3" pitchFamily="34" charset="0"/>
                <a:ea typeface="Source Sans 3" pitchFamily="34" charset="-122"/>
                <a:cs typeface="Source Sans 3" pitchFamily="34" charset="-120"/>
              </a:rPr>
              <a:t>chronotype heatmap</a:t>
            </a:r>
            <a:r>
              <a:rPr lang="en-US" sz="2000">
                <a:solidFill>
                  <a:srgbClr val="FFFFFF"/>
                </a:solidFill>
                <a:latin typeface="Source Sans 3" pitchFamily="34" charset="0"/>
                <a:ea typeface="Source Sans 3" pitchFamily="34" charset="-122"/>
                <a:cs typeface="Source Sans 3" pitchFamily="34" charset="-120"/>
              </a:rPr>
              <a:t> — visualizing focus across the day — with </a:t>
            </a:r>
            <a:r>
              <a:rPr lang="en-US" sz="2000">
                <a:solidFill>
                  <a:srgbClr val="FA95AE"/>
                </a:solidFill>
                <a:latin typeface="Source Sans 3" pitchFamily="34" charset="0"/>
                <a:ea typeface="Source Sans 3" pitchFamily="34" charset="-122"/>
                <a:cs typeface="Source Sans 3" pitchFamily="34" charset="-120"/>
              </a:rPr>
              <a:t>contextual bandit model </a:t>
            </a:r>
            <a:r>
              <a:rPr lang="en-US" sz="2000">
                <a:solidFill>
                  <a:srgbClr val="FFFFFF"/>
                </a:solidFill>
                <a:latin typeface="Source Sans 3" pitchFamily="34" charset="0"/>
                <a:ea typeface="Source Sans 3" pitchFamily="34" charset="-122"/>
                <a:cs typeface="Source Sans 3" pitchFamily="34" charset="-120"/>
              </a:rPr>
              <a:t> for dynamic, personalized session recommendations. study session suggestions and actionable insights.</a:t>
            </a:r>
            <a:endParaRPr lang="en-US" sz="2000"/>
          </a:p>
        </p:txBody>
      </p:sp>
      <p:sp>
        <p:nvSpPr>
          <p:cNvPr id="16" name="Text 0">
            <a:extLst>
              <a:ext uri="{FF2B5EF4-FFF2-40B4-BE49-F238E27FC236}">
                <a16:creationId xmlns:a16="http://schemas.microsoft.com/office/drawing/2014/main" id="{2B523FEB-8B69-4721-BA7E-20C70BB98667}"/>
              </a:ext>
            </a:extLst>
          </p:cNvPr>
          <p:cNvSpPr/>
          <p:nvPr/>
        </p:nvSpPr>
        <p:spPr>
          <a:xfrm>
            <a:off x="749022" y="503834"/>
            <a:ext cx="9470743" cy="607933"/>
          </a:xfrm>
          <a:prstGeom prst="rect">
            <a:avLst/>
          </a:prstGeom>
          <a:noFill/>
          <a:ln/>
        </p:spPr>
        <p:txBody>
          <a:bodyPr wrap="none" lIns="0" tIns="0" rIns="0" bIns="0" rtlCol="0" anchor="t"/>
          <a:lstStyle/>
          <a:p>
            <a:pPr marL="0" indent="0" algn="l">
              <a:lnSpc>
                <a:spcPts val="4750"/>
              </a:lnSpc>
              <a:buNone/>
            </a:pPr>
            <a:r>
              <a:rPr lang="en-US" sz="4000" b="1">
                <a:solidFill>
                  <a:srgbClr val="000000"/>
                </a:solidFill>
                <a:latin typeface="Montserrat Bold" pitchFamily="34" charset="0"/>
                <a:ea typeface="Montserrat Bold" pitchFamily="34" charset="-122"/>
                <a:cs typeface="Montserrat Bold" pitchFamily="34" charset="-120"/>
              </a:rPr>
              <a:t>Research Problem &amp; Novel Solution</a:t>
            </a:r>
            <a:endParaRPr lang="en-US" sz="3800"/>
          </a:p>
        </p:txBody>
      </p:sp>
      <p:sp>
        <p:nvSpPr>
          <p:cNvPr id="19" name="Rectangle 18">
            <a:extLst>
              <a:ext uri="{FF2B5EF4-FFF2-40B4-BE49-F238E27FC236}">
                <a16:creationId xmlns:a16="http://schemas.microsoft.com/office/drawing/2014/main" id="{2FB30FA7-67A5-4106-9A2A-138C901360B5}"/>
              </a:ext>
            </a:extLst>
          </p:cNvPr>
          <p:cNvSpPr/>
          <p:nvPr/>
        </p:nvSpPr>
        <p:spPr>
          <a:xfrm>
            <a:off x="3158922" y="7791449"/>
            <a:ext cx="11471477" cy="438150"/>
          </a:xfrm>
          <a:prstGeom prst="rect">
            <a:avLst/>
          </a:prstGeom>
          <a:solidFill>
            <a:srgbClr val="1D1F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r>
              <a:rPr kumimoji="0" lang="en-US" sz="2160" b="1" i="0" u="none" strike="noStrike" kern="1200" cap="none" spc="0" normalizeH="0" baseline="0" noProof="0">
                <a:ln>
                  <a:noFill/>
                </a:ln>
                <a:solidFill>
                  <a:prstClr val="white"/>
                </a:solidFill>
                <a:effectLst/>
                <a:uLnTx/>
                <a:uFillTx/>
                <a:latin typeface="Cambria"/>
                <a:ea typeface="+mn-ea"/>
                <a:cs typeface="+mn-cs"/>
              </a:rPr>
              <a:t>IT22276582</a:t>
            </a:r>
            <a:r>
              <a:rPr kumimoji="0" lang="en-US" sz="2160" b="0" i="0" u="none" strike="noStrike" kern="1200" cap="none" spc="0" normalizeH="0" baseline="0" noProof="0">
                <a:ln>
                  <a:noFill/>
                </a:ln>
                <a:solidFill>
                  <a:prstClr val="white"/>
                </a:solidFill>
                <a:effectLst/>
                <a:uLnTx/>
                <a:uFillTx/>
                <a:latin typeface="Cambria"/>
                <a:ea typeface="+mn-ea"/>
                <a:cs typeface="+mn-cs"/>
              </a:rPr>
              <a:t>  |  Yasasvin W.M.Y</a:t>
            </a:r>
            <a:r>
              <a:rPr kumimoji="0" lang="en-US" sz="2160" b="1" i="0" u="none" strike="noStrike" kern="1200" cap="none" spc="0" normalizeH="0" baseline="0" noProof="0">
                <a:ln>
                  <a:noFill/>
                </a:ln>
                <a:solidFill>
                  <a:prstClr val="white"/>
                </a:solidFill>
                <a:effectLst/>
                <a:uLnTx/>
                <a:uFillTx/>
                <a:latin typeface="Cambria"/>
                <a:ea typeface="+mn-ea"/>
                <a:cs typeface="+mn-cs"/>
              </a:rPr>
              <a:t>   </a:t>
            </a:r>
            <a:r>
              <a:rPr kumimoji="0" lang="en-US" sz="2160" b="0" i="0" u="none" strike="noStrike" kern="1200" cap="none" spc="0" normalizeH="0" baseline="0" noProof="0">
                <a:ln>
                  <a:noFill/>
                </a:ln>
                <a:solidFill>
                  <a:prstClr val="white"/>
                </a:solidFill>
                <a:effectLst/>
                <a:uLnTx/>
                <a:uFillTx/>
                <a:latin typeface="Cambria"/>
                <a:ea typeface="+mn-ea"/>
                <a:cs typeface="+mn-cs"/>
              </a:rPr>
              <a:t>|   25-26J-458</a:t>
            </a:r>
          </a:p>
        </p:txBody>
      </p:sp>
      <p:pic>
        <p:nvPicPr>
          <p:cNvPr id="20" name="Picture 19">
            <a:extLst>
              <a:ext uri="{FF2B5EF4-FFF2-40B4-BE49-F238E27FC236}">
                <a16:creationId xmlns:a16="http://schemas.microsoft.com/office/drawing/2014/main" id="{0B61A2C9-D59A-49D7-A3FD-582D8FACB60C}"/>
              </a:ext>
            </a:extLst>
          </p:cNvPr>
          <p:cNvPicPr>
            <a:picLocks noChangeAspect="1"/>
          </p:cNvPicPr>
          <p:nvPr/>
        </p:nvPicPr>
        <p:blipFill>
          <a:blip r:embed="rId3"/>
          <a:stretch>
            <a:fillRect/>
          </a:stretch>
        </p:blipFill>
        <p:spPr>
          <a:xfrm>
            <a:off x="82192" y="7692983"/>
            <a:ext cx="3076730" cy="466725"/>
          </a:xfrm>
          <a:prstGeom prst="rect">
            <a:avLst/>
          </a:prstGeom>
        </p:spPr>
      </p:pic>
    </p:spTree>
    <p:extLst>
      <p:ext uri="{BB962C8B-B14F-4D97-AF65-F5344CB8AC3E}">
        <p14:creationId xmlns:p14="http://schemas.microsoft.com/office/powerpoint/2010/main" val="18713150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a:extLst>
              <a:ext uri="{FF2B5EF4-FFF2-40B4-BE49-F238E27FC236}">
                <a16:creationId xmlns:a16="http://schemas.microsoft.com/office/drawing/2014/main" id="{CB1C0A02-D1F5-51D7-B31D-2F6E740B8D47}"/>
              </a:ext>
            </a:extLst>
          </p:cNvPr>
          <p:cNvSpPr txBox="1"/>
          <p:nvPr/>
        </p:nvSpPr>
        <p:spPr>
          <a:xfrm>
            <a:off x="11061212" y="7742851"/>
            <a:ext cx="3569188" cy="400110"/>
          </a:xfrm>
          <a:prstGeom prst="rect">
            <a:avLst/>
          </a:prstGeom>
          <a:solidFill>
            <a:srgbClr val="1D1F22"/>
          </a:solidFill>
        </p:spPr>
        <p:txBody>
          <a:bodyPr wrap="square" rtlCol="0">
            <a:spAutoFit/>
          </a:bodyPr>
          <a:lstStyle/>
          <a:p>
            <a:r>
              <a:rPr lang="en-US" sz="2000">
                <a:solidFill>
                  <a:schemeClr val="tx1">
                    <a:lumMod val="50000"/>
                    <a:lumOff val="50000"/>
                  </a:schemeClr>
                </a:solidFill>
              </a:rPr>
              <a:t>IT22276582 – Yasasvin W.M.Y</a:t>
            </a:r>
          </a:p>
        </p:txBody>
      </p:sp>
      <p:sp>
        <p:nvSpPr>
          <p:cNvPr id="107" name="Text 0">
            <a:extLst>
              <a:ext uri="{FF2B5EF4-FFF2-40B4-BE49-F238E27FC236}">
                <a16:creationId xmlns:a16="http://schemas.microsoft.com/office/drawing/2014/main" id="{13E059CA-DBC4-4DED-A1CC-D0D4C7415285}"/>
              </a:ext>
            </a:extLst>
          </p:cNvPr>
          <p:cNvSpPr/>
          <p:nvPr/>
        </p:nvSpPr>
        <p:spPr>
          <a:xfrm>
            <a:off x="2205990" y="661154"/>
            <a:ext cx="10218301" cy="498396"/>
          </a:xfrm>
          <a:prstGeom prst="rect">
            <a:avLst/>
          </a:prstGeom>
          <a:noFill/>
          <a:ln/>
        </p:spPr>
        <p:txBody>
          <a:bodyPr wrap="none" lIns="0" tIns="0" rIns="0" bIns="0" rtlCol="0" anchor="t"/>
          <a:lstStyle/>
          <a:p>
            <a:pPr marL="0" indent="0" algn="ctr">
              <a:lnSpc>
                <a:spcPts val="3900"/>
              </a:lnSpc>
              <a:buNone/>
            </a:pPr>
            <a:r>
              <a:rPr lang="en-US" sz="3100" b="1">
                <a:solidFill>
                  <a:srgbClr val="FA95AE"/>
                </a:solidFill>
                <a:latin typeface="Montserrat Bold" pitchFamily="34" charset="0"/>
                <a:ea typeface="Montserrat Bold" pitchFamily="34" charset="-122"/>
                <a:cs typeface="Montserrat Bold" pitchFamily="34" charset="-120"/>
              </a:rPr>
              <a:t>System Architecture &amp; Technologies</a:t>
            </a:r>
            <a:endParaRPr lang="en-US" sz="3100"/>
          </a:p>
        </p:txBody>
      </p:sp>
      <p:sp>
        <p:nvSpPr>
          <p:cNvPr id="108" name="Text 1">
            <a:extLst>
              <a:ext uri="{FF2B5EF4-FFF2-40B4-BE49-F238E27FC236}">
                <a16:creationId xmlns:a16="http://schemas.microsoft.com/office/drawing/2014/main" id="{ACE12DE6-D986-47B9-8879-FA1AF29DEE11}"/>
              </a:ext>
            </a:extLst>
          </p:cNvPr>
          <p:cNvSpPr/>
          <p:nvPr/>
        </p:nvSpPr>
        <p:spPr>
          <a:xfrm>
            <a:off x="655320" y="1143635"/>
            <a:ext cx="13402628" cy="526018"/>
          </a:xfrm>
          <a:prstGeom prst="rect">
            <a:avLst/>
          </a:prstGeom>
          <a:noFill/>
          <a:ln/>
        </p:spPr>
        <p:txBody>
          <a:bodyPr wrap="square" lIns="0" tIns="0" rIns="0" bIns="0" rtlCol="0" anchor="t"/>
          <a:lstStyle/>
          <a:p>
            <a:pPr marL="0" indent="0" algn="ctr">
              <a:lnSpc>
                <a:spcPts val="2050"/>
              </a:lnSpc>
              <a:buNone/>
            </a:pPr>
            <a:r>
              <a:rPr lang="en-US" sz="1200">
                <a:solidFill>
                  <a:srgbClr val="E2E6E9"/>
                </a:solidFill>
                <a:latin typeface="Source Sans 3" pitchFamily="34" charset="0"/>
                <a:ea typeface="Source Sans 3" pitchFamily="34" charset="-122"/>
                <a:cs typeface="Source Sans 3" pitchFamily="34" charset="-120"/>
              </a:rPr>
              <a:t>Our system harnesses cutting-edge data science and behavioral psychology to create a truly responsive learning environment. It’s designed to understand, adapt, and optimize the individual learning journey.</a:t>
            </a:r>
            <a:endParaRPr lang="en-US" sz="1200"/>
          </a:p>
        </p:txBody>
      </p:sp>
      <p:sp>
        <p:nvSpPr>
          <p:cNvPr id="109" name="Shape 2">
            <a:extLst>
              <a:ext uri="{FF2B5EF4-FFF2-40B4-BE49-F238E27FC236}">
                <a16:creationId xmlns:a16="http://schemas.microsoft.com/office/drawing/2014/main" id="{2B3D1FF5-E91F-45A1-9954-5CA12EFA1BF3}"/>
              </a:ext>
            </a:extLst>
          </p:cNvPr>
          <p:cNvSpPr/>
          <p:nvPr/>
        </p:nvSpPr>
        <p:spPr>
          <a:xfrm>
            <a:off x="613886" y="1786951"/>
            <a:ext cx="4350544" cy="1780103"/>
          </a:xfrm>
          <a:prstGeom prst="roundRect">
            <a:avLst>
              <a:gd name="adj" fmla="val 6164"/>
            </a:avLst>
          </a:prstGeom>
          <a:solidFill>
            <a:srgbClr val="121212"/>
          </a:solidFill>
          <a:ln/>
        </p:spPr>
        <p:txBody>
          <a:bodyPr/>
          <a:lstStyle/>
          <a:p>
            <a:endParaRPr lang="en-US"/>
          </a:p>
        </p:txBody>
      </p:sp>
      <p:sp>
        <p:nvSpPr>
          <p:cNvPr id="110" name="Shape 3">
            <a:extLst>
              <a:ext uri="{FF2B5EF4-FFF2-40B4-BE49-F238E27FC236}">
                <a16:creationId xmlns:a16="http://schemas.microsoft.com/office/drawing/2014/main" id="{9FA8008D-EB5A-4E3C-A86E-8697E755EFB2}"/>
              </a:ext>
            </a:extLst>
          </p:cNvPr>
          <p:cNvSpPr/>
          <p:nvPr/>
        </p:nvSpPr>
        <p:spPr>
          <a:xfrm>
            <a:off x="613886" y="1764091"/>
            <a:ext cx="4350544" cy="91440"/>
          </a:xfrm>
          <a:prstGeom prst="roundRect">
            <a:avLst>
              <a:gd name="adj" fmla="val 28777"/>
            </a:avLst>
          </a:prstGeom>
          <a:solidFill>
            <a:srgbClr val="FFFFFF"/>
          </a:solidFill>
          <a:ln/>
        </p:spPr>
        <p:txBody>
          <a:bodyPr/>
          <a:lstStyle/>
          <a:p>
            <a:endParaRPr lang="en-US"/>
          </a:p>
        </p:txBody>
      </p:sp>
      <p:sp>
        <p:nvSpPr>
          <p:cNvPr id="111" name="Shape 4">
            <a:extLst>
              <a:ext uri="{FF2B5EF4-FFF2-40B4-BE49-F238E27FC236}">
                <a16:creationId xmlns:a16="http://schemas.microsoft.com/office/drawing/2014/main" id="{B76AE860-959C-4723-A1B3-B5FD53EAA0A8}"/>
              </a:ext>
            </a:extLst>
          </p:cNvPr>
          <p:cNvSpPr/>
          <p:nvPr/>
        </p:nvSpPr>
        <p:spPr>
          <a:xfrm>
            <a:off x="2526030" y="1523823"/>
            <a:ext cx="526256" cy="526256"/>
          </a:xfrm>
          <a:prstGeom prst="roundRect">
            <a:avLst>
              <a:gd name="adj" fmla="val 173756"/>
            </a:avLst>
          </a:prstGeom>
          <a:solidFill>
            <a:srgbClr val="FFFFFF"/>
          </a:solidFill>
          <a:ln/>
        </p:spPr>
        <p:txBody>
          <a:bodyPr/>
          <a:lstStyle/>
          <a:p>
            <a:endParaRPr lang="en-US"/>
          </a:p>
        </p:txBody>
      </p:sp>
      <p:pic>
        <p:nvPicPr>
          <p:cNvPr id="112" name="Image 0" descr="preencoded.png">
            <a:extLst>
              <a:ext uri="{FF2B5EF4-FFF2-40B4-BE49-F238E27FC236}">
                <a16:creationId xmlns:a16="http://schemas.microsoft.com/office/drawing/2014/main" id="{41C82A59-578B-4F90-9C15-7520CB4F144A}"/>
              </a:ext>
            </a:extLst>
          </p:cNvPr>
          <p:cNvPicPr>
            <a:picLocks noChangeAspect="1"/>
          </p:cNvPicPr>
          <p:nvPr/>
        </p:nvPicPr>
        <p:blipFill>
          <a:blip r:embed="rId3"/>
          <a:stretch>
            <a:fillRect/>
          </a:stretch>
        </p:blipFill>
        <p:spPr>
          <a:xfrm>
            <a:off x="2683907" y="1655387"/>
            <a:ext cx="210503" cy="263128"/>
          </a:xfrm>
          <a:prstGeom prst="rect">
            <a:avLst/>
          </a:prstGeom>
        </p:spPr>
      </p:pic>
      <p:sp>
        <p:nvSpPr>
          <p:cNvPr id="113" name="Text 5">
            <a:extLst>
              <a:ext uri="{FF2B5EF4-FFF2-40B4-BE49-F238E27FC236}">
                <a16:creationId xmlns:a16="http://schemas.microsoft.com/office/drawing/2014/main" id="{50DD72D4-BFC7-457C-A442-5CC9514824F9}"/>
              </a:ext>
            </a:extLst>
          </p:cNvPr>
          <p:cNvSpPr/>
          <p:nvPr/>
        </p:nvSpPr>
        <p:spPr>
          <a:xfrm>
            <a:off x="812125" y="2225458"/>
            <a:ext cx="1993344" cy="249079"/>
          </a:xfrm>
          <a:prstGeom prst="rect">
            <a:avLst/>
          </a:prstGeom>
          <a:noFill/>
          <a:ln/>
        </p:spPr>
        <p:txBody>
          <a:bodyPr wrap="none" lIns="0" tIns="0" rIns="0" bIns="0" rtlCol="0" anchor="t"/>
          <a:lstStyle/>
          <a:p>
            <a:pPr marL="0" indent="0" algn="l">
              <a:lnSpc>
                <a:spcPts val="1950"/>
              </a:lnSpc>
              <a:buNone/>
            </a:pPr>
            <a:r>
              <a:rPr lang="en-US" sz="1550" b="1">
                <a:solidFill>
                  <a:srgbClr val="E2E6E9"/>
                </a:solidFill>
                <a:latin typeface="Montserrat Bold" pitchFamily="34" charset="0"/>
                <a:ea typeface="Montserrat Bold" pitchFamily="34" charset="-122"/>
                <a:cs typeface="Montserrat Bold" pitchFamily="34" charset="-120"/>
              </a:rPr>
              <a:t>Machine Learning</a:t>
            </a:r>
            <a:endParaRPr lang="en-US" sz="1550"/>
          </a:p>
        </p:txBody>
      </p:sp>
      <p:sp>
        <p:nvSpPr>
          <p:cNvPr id="114" name="Text 6">
            <a:extLst>
              <a:ext uri="{FF2B5EF4-FFF2-40B4-BE49-F238E27FC236}">
                <a16:creationId xmlns:a16="http://schemas.microsoft.com/office/drawing/2014/main" id="{DE050702-F03F-43F0-94A5-5F2FCD5AF6CC}"/>
              </a:ext>
            </a:extLst>
          </p:cNvPr>
          <p:cNvSpPr/>
          <p:nvPr/>
        </p:nvSpPr>
        <p:spPr>
          <a:xfrm>
            <a:off x="812125" y="2579788"/>
            <a:ext cx="3954066" cy="789027"/>
          </a:xfrm>
          <a:prstGeom prst="rect">
            <a:avLst/>
          </a:prstGeom>
          <a:noFill/>
          <a:ln/>
        </p:spPr>
        <p:txBody>
          <a:bodyPr wrap="square" lIns="0" tIns="0" rIns="0" bIns="0" rtlCol="0" anchor="t"/>
          <a:lstStyle/>
          <a:p>
            <a:pPr marL="0" indent="0" algn="l">
              <a:lnSpc>
                <a:spcPts val="2050"/>
              </a:lnSpc>
              <a:buNone/>
            </a:pPr>
            <a:r>
              <a:rPr lang="en-US" sz="1350">
                <a:solidFill>
                  <a:srgbClr val="E2E6E9"/>
                </a:solidFill>
                <a:latin typeface="Source Sans 3" pitchFamily="34" charset="0"/>
                <a:ea typeface="Source Sans 3" pitchFamily="34" charset="-122"/>
                <a:cs typeface="Source Sans 3" pitchFamily="34" charset="-120"/>
              </a:rPr>
              <a:t>Leveraging </a:t>
            </a:r>
            <a:r>
              <a:rPr lang="en-US" sz="1350" b="1">
                <a:solidFill>
                  <a:srgbClr val="E2E6E9"/>
                </a:solidFill>
                <a:latin typeface="Source Sans 3" pitchFamily="34" charset="0"/>
                <a:ea typeface="Source Sans 3" pitchFamily="34" charset="-122"/>
                <a:cs typeface="Source Sans 3" pitchFamily="34" charset="-120"/>
              </a:rPr>
              <a:t>Contextual Bandit algorithms</a:t>
            </a:r>
            <a:r>
              <a:rPr lang="en-US" sz="1350">
                <a:solidFill>
                  <a:srgbClr val="E2E6E9"/>
                </a:solidFill>
                <a:latin typeface="Source Sans 3" pitchFamily="34" charset="0"/>
                <a:ea typeface="Source Sans 3" pitchFamily="34" charset="-122"/>
                <a:cs typeface="Source Sans 3" pitchFamily="34" charset="-120"/>
              </a:rPr>
              <a:t> to provide  optimal study session recommendations based on user interaction and performance.</a:t>
            </a:r>
            <a:endParaRPr lang="en-US" sz="1350"/>
          </a:p>
        </p:txBody>
      </p:sp>
      <p:sp>
        <p:nvSpPr>
          <p:cNvPr id="115" name="Shape 7">
            <a:extLst>
              <a:ext uri="{FF2B5EF4-FFF2-40B4-BE49-F238E27FC236}">
                <a16:creationId xmlns:a16="http://schemas.microsoft.com/office/drawing/2014/main" id="{8B15B0CD-5DBC-4EC7-A437-9D12473B1424}"/>
              </a:ext>
            </a:extLst>
          </p:cNvPr>
          <p:cNvSpPr/>
          <p:nvPr/>
        </p:nvSpPr>
        <p:spPr>
          <a:xfrm>
            <a:off x="5139809" y="1786951"/>
            <a:ext cx="4350663" cy="1780103"/>
          </a:xfrm>
          <a:prstGeom prst="roundRect">
            <a:avLst>
              <a:gd name="adj" fmla="val 6164"/>
            </a:avLst>
          </a:prstGeom>
          <a:solidFill>
            <a:srgbClr val="121212"/>
          </a:solidFill>
          <a:ln/>
        </p:spPr>
        <p:txBody>
          <a:bodyPr/>
          <a:lstStyle/>
          <a:p>
            <a:endParaRPr lang="en-US"/>
          </a:p>
        </p:txBody>
      </p:sp>
      <p:sp>
        <p:nvSpPr>
          <p:cNvPr id="116" name="Shape 8">
            <a:extLst>
              <a:ext uri="{FF2B5EF4-FFF2-40B4-BE49-F238E27FC236}">
                <a16:creationId xmlns:a16="http://schemas.microsoft.com/office/drawing/2014/main" id="{DABC6D55-2D83-4384-93A4-4F09E5139B9D}"/>
              </a:ext>
            </a:extLst>
          </p:cNvPr>
          <p:cNvSpPr/>
          <p:nvPr/>
        </p:nvSpPr>
        <p:spPr>
          <a:xfrm>
            <a:off x="5139809" y="1764091"/>
            <a:ext cx="4350663" cy="91440"/>
          </a:xfrm>
          <a:prstGeom prst="roundRect">
            <a:avLst>
              <a:gd name="adj" fmla="val 28777"/>
            </a:avLst>
          </a:prstGeom>
          <a:solidFill>
            <a:srgbClr val="FFFFFF"/>
          </a:solidFill>
          <a:ln/>
        </p:spPr>
        <p:txBody>
          <a:bodyPr/>
          <a:lstStyle/>
          <a:p>
            <a:endParaRPr lang="en-US"/>
          </a:p>
        </p:txBody>
      </p:sp>
      <p:sp>
        <p:nvSpPr>
          <p:cNvPr id="117" name="Shape 9">
            <a:extLst>
              <a:ext uri="{FF2B5EF4-FFF2-40B4-BE49-F238E27FC236}">
                <a16:creationId xmlns:a16="http://schemas.microsoft.com/office/drawing/2014/main" id="{82CAF3A6-3B7A-4B8F-9295-26355F2BBC7E}"/>
              </a:ext>
            </a:extLst>
          </p:cNvPr>
          <p:cNvSpPr/>
          <p:nvPr/>
        </p:nvSpPr>
        <p:spPr>
          <a:xfrm>
            <a:off x="7051953" y="1523823"/>
            <a:ext cx="526256" cy="526256"/>
          </a:xfrm>
          <a:prstGeom prst="roundRect">
            <a:avLst>
              <a:gd name="adj" fmla="val 173756"/>
            </a:avLst>
          </a:prstGeom>
          <a:solidFill>
            <a:srgbClr val="FFFFFF"/>
          </a:solidFill>
          <a:ln/>
        </p:spPr>
        <p:txBody>
          <a:bodyPr/>
          <a:lstStyle/>
          <a:p>
            <a:endParaRPr lang="en-US"/>
          </a:p>
        </p:txBody>
      </p:sp>
      <p:pic>
        <p:nvPicPr>
          <p:cNvPr id="118" name="Image 1" descr="preencoded.png">
            <a:extLst>
              <a:ext uri="{FF2B5EF4-FFF2-40B4-BE49-F238E27FC236}">
                <a16:creationId xmlns:a16="http://schemas.microsoft.com/office/drawing/2014/main" id="{0C164521-ABBB-4D04-820C-2E20E1891AEF}"/>
              </a:ext>
            </a:extLst>
          </p:cNvPr>
          <p:cNvPicPr>
            <a:picLocks noChangeAspect="1"/>
          </p:cNvPicPr>
          <p:nvPr/>
        </p:nvPicPr>
        <p:blipFill>
          <a:blip r:embed="rId4"/>
          <a:stretch>
            <a:fillRect/>
          </a:stretch>
        </p:blipFill>
        <p:spPr>
          <a:xfrm>
            <a:off x="7209830" y="1655387"/>
            <a:ext cx="210503" cy="263128"/>
          </a:xfrm>
          <a:prstGeom prst="rect">
            <a:avLst/>
          </a:prstGeom>
        </p:spPr>
      </p:pic>
      <p:sp>
        <p:nvSpPr>
          <p:cNvPr id="119" name="Text 10">
            <a:extLst>
              <a:ext uri="{FF2B5EF4-FFF2-40B4-BE49-F238E27FC236}">
                <a16:creationId xmlns:a16="http://schemas.microsoft.com/office/drawing/2014/main" id="{B29389AE-C840-4F44-9926-2205C331E26D}"/>
              </a:ext>
            </a:extLst>
          </p:cNvPr>
          <p:cNvSpPr/>
          <p:nvPr/>
        </p:nvSpPr>
        <p:spPr>
          <a:xfrm>
            <a:off x="5338048" y="2225458"/>
            <a:ext cx="3099911" cy="249079"/>
          </a:xfrm>
          <a:prstGeom prst="rect">
            <a:avLst/>
          </a:prstGeom>
          <a:noFill/>
          <a:ln/>
        </p:spPr>
        <p:txBody>
          <a:bodyPr wrap="none" lIns="0" tIns="0" rIns="0" bIns="0" rtlCol="0" anchor="t"/>
          <a:lstStyle/>
          <a:p>
            <a:pPr marL="0" indent="0" algn="l">
              <a:lnSpc>
                <a:spcPts val="1950"/>
              </a:lnSpc>
              <a:buNone/>
            </a:pPr>
            <a:r>
              <a:rPr lang="en-US" sz="1550" b="1">
                <a:solidFill>
                  <a:srgbClr val="E2E6E9"/>
                </a:solidFill>
                <a:latin typeface="Montserrat Bold" pitchFamily="34" charset="0"/>
                <a:ea typeface="Montserrat Bold" pitchFamily="34" charset="-122"/>
                <a:cs typeface="Montserrat Bold" pitchFamily="34" charset="-120"/>
              </a:rPr>
              <a:t>Human-Computer Interaction</a:t>
            </a:r>
            <a:endParaRPr lang="en-US" sz="1550"/>
          </a:p>
        </p:txBody>
      </p:sp>
      <p:sp>
        <p:nvSpPr>
          <p:cNvPr id="120" name="Text 11">
            <a:extLst>
              <a:ext uri="{FF2B5EF4-FFF2-40B4-BE49-F238E27FC236}">
                <a16:creationId xmlns:a16="http://schemas.microsoft.com/office/drawing/2014/main" id="{21F0B70C-AEDF-4740-9AD7-FDC0BA5232B8}"/>
              </a:ext>
            </a:extLst>
          </p:cNvPr>
          <p:cNvSpPr/>
          <p:nvPr/>
        </p:nvSpPr>
        <p:spPr>
          <a:xfrm>
            <a:off x="5338048" y="2579788"/>
            <a:ext cx="3954185" cy="789027"/>
          </a:xfrm>
          <a:prstGeom prst="rect">
            <a:avLst/>
          </a:prstGeom>
          <a:noFill/>
          <a:ln/>
        </p:spPr>
        <p:txBody>
          <a:bodyPr wrap="square" lIns="0" tIns="0" rIns="0" bIns="0" rtlCol="0" anchor="t"/>
          <a:lstStyle/>
          <a:p>
            <a:pPr marL="0" indent="0" algn="l">
              <a:lnSpc>
                <a:spcPts val="2050"/>
              </a:lnSpc>
              <a:buNone/>
            </a:pPr>
            <a:r>
              <a:rPr lang="en-US" sz="1350">
                <a:solidFill>
                  <a:srgbClr val="E2E6E9"/>
                </a:solidFill>
                <a:latin typeface="Source Sans 3" pitchFamily="34" charset="0"/>
                <a:ea typeface="Source Sans 3" pitchFamily="34" charset="-122"/>
                <a:cs typeface="Source Sans 3" pitchFamily="34" charset="-120"/>
              </a:rPr>
              <a:t>Integrating behavioral tracking (keystrokes, session lengths) and micro-EMA inputs for nuanced understanding of user state and focus levels.</a:t>
            </a:r>
            <a:endParaRPr lang="en-US" sz="1350"/>
          </a:p>
        </p:txBody>
      </p:sp>
      <p:sp>
        <p:nvSpPr>
          <p:cNvPr id="121" name="Shape 12">
            <a:extLst>
              <a:ext uri="{FF2B5EF4-FFF2-40B4-BE49-F238E27FC236}">
                <a16:creationId xmlns:a16="http://schemas.microsoft.com/office/drawing/2014/main" id="{D6ACFE82-1086-4C9B-878C-A05D92782E2C}"/>
              </a:ext>
            </a:extLst>
          </p:cNvPr>
          <p:cNvSpPr/>
          <p:nvPr/>
        </p:nvSpPr>
        <p:spPr>
          <a:xfrm>
            <a:off x="9665851" y="1786951"/>
            <a:ext cx="4350663" cy="1780103"/>
          </a:xfrm>
          <a:prstGeom prst="roundRect">
            <a:avLst>
              <a:gd name="adj" fmla="val 6164"/>
            </a:avLst>
          </a:prstGeom>
          <a:solidFill>
            <a:srgbClr val="121212"/>
          </a:solidFill>
          <a:ln/>
        </p:spPr>
        <p:txBody>
          <a:bodyPr/>
          <a:lstStyle/>
          <a:p>
            <a:endParaRPr lang="en-US"/>
          </a:p>
        </p:txBody>
      </p:sp>
      <p:sp>
        <p:nvSpPr>
          <p:cNvPr id="122" name="Shape 13">
            <a:extLst>
              <a:ext uri="{FF2B5EF4-FFF2-40B4-BE49-F238E27FC236}">
                <a16:creationId xmlns:a16="http://schemas.microsoft.com/office/drawing/2014/main" id="{4A0D0706-A66F-4BC5-9FE6-EC7FF9707BD7}"/>
              </a:ext>
            </a:extLst>
          </p:cNvPr>
          <p:cNvSpPr/>
          <p:nvPr/>
        </p:nvSpPr>
        <p:spPr>
          <a:xfrm>
            <a:off x="9665851" y="1764091"/>
            <a:ext cx="4350663" cy="91440"/>
          </a:xfrm>
          <a:prstGeom prst="roundRect">
            <a:avLst>
              <a:gd name="adj" fmla="val 28777"/>
            </a:avLst>
          </a:prstGeom>
          <a:solidFill>
            <a:srgbClr val="FFFFFF"/>
          </a:solidFill>
          <a:ln/>
        </p:spPr>
        <p:txBody>
          <a:bodyPr/>
          <a:lstStyle/>
          <a:p>
            <a:endParaRPr lang="en-US"/>
          </a:p>
        </p:txBody>
      </p:sp>
      <p:sp>
        <p:nvSpPr>
          <p:cNvPr id="123" name="Shape 14">
            <a:extLst>
              <a:ext uri="{FF2B5EF4-FFF2-40B4-BE49-F238E27FC236}">
                <a16:creationId xmlns:a16="http://schemas.microsoft.com/office/drawing/2014/main" id="{8C4E69DC-9875-4BE9-B45A-E0282C2EC5B0}"/>
              </a:ext>
            </a:extLst>
          </p:cNvPr>
          <p:cNvSpPr/>
          <p:nvPr/>
        </p:nvSpPr>
        <p:spPr>
          <a:xfrm>
            <a:off x="11577995" y="1523823"/>
            <a:ext cx="526256" cy="526256"/>
          </a:xfrm>
          <a:prstGeom prst="roundRect">
            <a:avLst>
              <a:gd name="adj" fmla="val 173756"/>
            </a:avLst>
          </a:prstGeom>
          <a:solidFill>
            <a:srgbClr val="FFFFFF"/>
          </a:solidFill>
          <a:ln/>
        </p:spPr>
        <p:txBody>
          <a:bodyPr/>
          <a:lstStyle/>
          <a:p>
            <a:endParaRPr lang="en-US"/>
          </a:p>
        </p:txBody>
      </p:sp>
      <p:pic>
        <p:nvPicPr>
          <p:cNvPr id="124" name="Image 2" descr="preencoded.png">
            <a:extLst>
              <a:ext uri="{FF2B5EF4-FFF2-40B4-BE49-F238E27FC236}">
                <a16:creationId xmlns:a16="http://schemas.microsoft.com/office/drawing/2014/main" id="{889EEB18-2DA0-4BDB-90D3-80C93287F354}"/>
              </a:ext>
            </a:extLst>
          </p:cNvPr>
          <p:cNvPicPr>
            <a:picLocks noChangeAspect="1"/>
          </p:cNvPicPr>
          <p:nvPr/>
        </p:nvPicPr>
        <p:blipFill>
          <a:blip r:embed="rId5"/>
          <a:stretch>
            <a:fillRect/>
          </a:stretch>
        </p:blipFill>
        <p:spPr>
          <a:xfrm>
            <a:off x="11735872" y="1655387"/>
            <a:ext cx="210503" cy="263128"/>
          </a:xfrm>
          <a:prstGeom prst="rect">
            <a:avLst/>
          </a:prstGeom>
        </p:spPr>
      </p:pic>
      <p:sp>
        <p:nvSpPr>
          <p:cNvPr id="125" name="Text 15">
            <a:extLst>
              <a:ext uri="{FF2B5EF4-FFF2-40B4-BE49-F238E27FC236}">
                <a16:creationId xmlns:a16="http://schemas.microsoft.com/office/drawing/2014/main" id="{66134EC3-48F8-47CC-B04A-439F363EE817}"/>
              </a:ext>
            </a:extLst>
          </p:cNvPr>
          <p:cNvSpPr/>
          <p:nvPr/>
        </p:nvSpPr>
        <p:spPr>
          <a:xfrm>
            <a:off x="9864090" y="2225458"/>
            <a:ext cx="3111698" cy="249079"/>
          </a:xfrm>
          <a:prstGeom prst="rect">
            <a:avLst/>
          </a:prstGeom>
          <a:noFill/>
          <a:ln/>
        </p:spPr>
        <p:txBody>
          <a:bodyPr wrap="none" lIns="0" tIns="0" rIns="0" bIns="0" rtlCol="0" anchor="t"/>
          <a:lstStyle/>
          <a:p>
            <a:pPr marL="0" indent="0" algn="l">
              <a:lnSpc>
                <a:spcPts val="1950"/>
              </a:lnSpc>
              <a:buNone/>
            </a:pPr>
            <a:r>
              <a:rPr lang="en-US" sz="1550" b="1">
                <a:solidFill>
                  <a:srgbClr val="E2E6E9"/>
                </a:solidFill>
                <a:latin typeface="Montserrat Bold" pitchFamily="34" charset="0"/>
                <a:ea typeface="Montserrat Bold" pitchFamily="34" charset="-122"/>
                <a:cs typeface="Montserrat Bold" pitchFamily="34" charset="-120"/>
              </a:rPr>
              <a:t>Data Analytics &amp; Visualization</a:t>
            </a:r>
            <a:endParaRPr lang="en-US" sz="1550"/>
          </a:p>
        </p:txBody>
      </p:sp>
      <p:sp>
        <p:nvSpPr>
          <p:cNvPr id="126" name="Text 16">
            <a:extLst>
              <a:ext uri="{FF2B5EF4-FFF2-40B4-BE49-F238E27FC236}">
                <a16:creationId xmlns:a16="http://schemas.microsoft.com/office/drawing/2014/main" id="{0C729646-E5E4-4CA5-846B-BC34662EB19C}"/>
              </a:ext>
            </a:extLst>
          </p:cNvPr>
          <p:cNvSpPr/>
          <p:nvPr/>
        </p:nvSpPr>
        <p:spPr>
          <a:xfrm>
            <a:off x="9864090" y="2579788"/>
            <a:ext cx="3954185" cy="789027"/>
          </a:xfrm>
          <a:prstGeom prst="rect">
            <a:avLst/>
          </a:prstGeom>
          <a:noFill/>
          <a:ln/>
        </p:spPr>
        <p:txBody>
          <a:bodyPr wrap="square" lIns="0" tIns="0" rIns="0" bIns="0" rtlCol="0" anchor="t"/>
          <a:lstStyle/>
          <a:p>
            <a:pPr marL="0" indent="0" algn="l">
              <a:lnSpc>
                <a:spcPts val="2050"/>
              </a:lnSpc>
              <a:buNone/>
            </a:pPr>
            <a:r>
              <a:rPr lang="en-US" sz="1350">
                <a:solidFill>
                  <a:srgbClr val="E2E6E9"/>
                </a:solidFill>
                <a:latin typeface="Source Sans 3" pitchFamily="34" charset="0"/>
                <a:ea typeface="Source Sans 3" pitchFamily="34" charset="-122"/>
                <a:cs typeface="Source Sans 3" pitchFamily="34" charset="-120"/>
              </a:rPr>
              <a:t>Generating intuitive chronotype heatmaps and detailed session analyses to visualize productivity patterns and inform recommendations.</a:t>
            </a:r>
            <a:endParaRPr lang="en-US" sz="1350"/>
          </a:p>
        </p:txBody>
      </p:sp>
      <p:sp>
        <p:nvSpPr>
          <p:cNvPr id="127" name="Text 17">
            <a:extLst>
              <a:ext uri="{FF2B5EF4-FFF2-40B4-BE49-F238E27FC236}">
                <a16:creationId xmlns:a16="http://schemas.microsoft.com/office/drawing/2014/main" id="{43A02AC3-00C2-4E64-8A5B-67F5BDF06CDC}"/>
              </a:ext>
            </a:extLst>
          </p:cNvPr>
          <p:cNvSpPr/>
          <p:nvPr/>
        </p:nvSpPr>
        <p:spPr>
          <a:xfrm>
            <a:off x="647701" y="3737670"/>
            <a:ext cx="4285059" cy="398621"/>
          </a:xfrm>
          <a:prstGeom prst="rect">
            <a:avLst/>
          </a:prstGeom>
          <a:noFill/>
          <a:ln/>
        </p:spPr>
        <p:txBody>
          <a:bodyPr wrap="none" lIns="0" tIns="0" rIns="0" bIns="0" rtlCol="0" anchor="t"/>
          <a:lstStyle/>
          <a:p>
            <a:pPr marL="0" indent="0" algn="l">
              <a:lnSpc>
                <a:spcPts val="3100"/>
              </a:lnSpc>
              <a:buNone/>
            </a:pPr>
            <a:r>
              <a:rPr lang="en-US" sz="2500" b="1">
                <a:solidFill>
                  <a:srgbClr val="FFFFFF"/>
                </a:solidFill>
                <a:latin typeface="Montserrat Bold" pitchFamily="34" charset="0"/>
                <a:ea typeface="Montserrat Bold" pitchFamily="34" charset="-122"/>
                <a:cs typeface="Montserrat Bold" pitchFamily="34" charset="-120"/>
              </a:rPr>
              <a:t>Key Technologies Utilized</a:t>
            </a:r>
            <a:endParaRPr lang="en-US" sz="2500"/>
          </a:p>
        </p:txBody>
      </p:sp>
      <p:sp>
        <p:nvSpPr>
          <p:cNvPr id="128" name="Text 18">
            <a:extLst>
              <a:ext uri="{FF2B5EF4-FFF2-40B4-BE49-F238E27FC236}">
                <a16:creationId xmlns:a16="http://schemas.microsoft.com/office/drawing/2014/main" id="{EDA5D3CB-AB27-48BC-B47C-46C31270A3F8}"/>
              </a:ext>
            </a:extLst>
          </p:cNvPr>
          <p:cNvSpPr/>
          <p:nvPr/>
        </p:nvSpPr>
        <p:spPr>
          <a:xfrm>
            <a:off x="647701" y="4311670"/>
            <a:ext cx="6487358" cy="263009"/>
          </a:xfrm>
          <a:prstGeom prst="rect">
            <a:avLst/>
          </a:prstGeom>
          <a:noFill/>
          <a:ln/>
        </p:spPr>
        <p:txBody>
          <a:bodyPr wrap="none" lIns="0" tIns="0" rIns="0" bIns="0" rtlCol="0" anchor="t"/>
          <a:lstStyle/>
          <a:p>
            <a:pPr marL="342900" indent="-342900" algn="l">
              <a:lnSpc>
                <a:spcPts val="2050"/>
              </a:lnSpc>
              <a:buSzPct val="100000"/>
              <a:buChar char="•"/>
            </a:pPr>
            <a:r>
              <a:rPr lang="en-US" sz="1350" b="1">
                <a:solidFill>
                  <a:srgbClr val="E2E6E9"/>
                </a:solidFill>
                <a:latin typeface="Source Sans 3" pitchFamily="34" charset="0"/>
                <a:ea typeface="Source Sans 3" pitchFamily="34" charset="-122"/>
                <a:cs typeface="Source Sans 3" pitchFamily="34" charset="-120"/>
              </a:rPr>
              <a:t>Contextual Bandit Model:</a:t>
            </a:r>
            <a:r>
              <a:rPr lang="en-US" sz="1350">
                <a:solidFill>
                  <a:srgbClr val="E2E6E9"/>
                </a:solidFill>
                <a:latin typeface="Source Sans 3" pitchFamily="34" charset="0"/>
                <a:ea typeface="Source Sans 3" pitchFamily="34" charset="-122"/>
                <a:cs typeface="Source Sans 3" pitchFamily="34" charset="-120"/>
              </a:rPr>
              <a:t> For recommendation and insight engine</a:t>
            </a:r>
            <a:endParaRPr lang="en-US" sz="1350"/>
          </a:p>
        </p:txBody>
      </p:sp>
      <p:sp>
        <p:nvSpPr>
          <p:cNvPr id="129" name="Text 19">
            <a:extLst>
              <a:ext uri="{FF2B5EF4-FFF2-40B4-BE49-F238E27FC236}">
                <a16:creationId xmlns:a16="http://schemas.microsoft.com/office/drawing/2014/main" id="{8F598F46-2687-4486-B1A9-5117ABFE8EE7}"/>
              </a:ext>
            </a:extLst>
          </p:cNvPr>
          <p:cNvSpPr/>
          <p:nvPr/>
        </p:nvSpPr>
        <p:spPr>
          <a:xfrm>
            <a:off x="647701" y="4635996"/>
            <a:ext cx="6487358" cy="526018"/>
          </a:xfrm>
          <a:prstGeom prst="rect">
            <a:avLst/>
          </a:prstGeom>
          <a:noFill/>
          <a:ln/>
        </p:spPr>
        <p:txBody>
          <a:bodyPr wrap="square" lIns="0" tIns="0" rIns="0" bIns="0" rtlCol="0" anchor="t"/>
          <a:lstStyle/>
          <a:p>
            <a:pPr marL="342900" indent="-342900" algn="l">
              <a:lnSpc>
                <a:spcPts val="2050"/>
              </a:lnSpc>
              <a:buSzPct val="100000"/>
              <a:buChar char="•"/>
            </a:pPr>
            <a:r>
              <a:rPr lang="en-US" sz="1350" b="1">
                <a:solidFill>
                  <a:srgbClr val="E2E6E9"/>
                </a:solidFill>
                <a:latin typeface="Source Sans 3" pitchFamily="34" charset="0"/>
                <a:ea typeface="Source Sans 3" pitchFamily="34" charset="-122"/>
                <a:cs typeface="Source Sans 3" pitchFamily="34" charset="-120"/>
              </a:rPr>
              <a:t>Chronotype Heatmap Visualization:</a:t>
            </a:r>
            <a:r>
              <a:rPr lang="en-US" sz="1350">
                <a:solidFill>
                  <a:srgbClr val="E2E6E9"/>
                </a:solidFill>
                <a:latin typeface="Source Sans 3" pitchFamily="34" charset="0"/>
                <a:ea typeface="Source Sans 3" pitchFamily="34" charset="-122"/>
                <a:cs typeface="Source Sans 3" pitchFamily="34" charset="-120"/>
              </a:rPr>
              <a:t> To clearly display individual productivity cycles.</a:t>
            </a:r>
            <a:endParaRPr lang="en-US" sz="1350"/>
          </a:p>
        </p:txBody>
      </p:sp>
      <p:sp>
        <p:nvSpPr>
          <p:cNvPr id="131" name="Text 21">
            <a:extLst>
              <a:ext uri="{FF2B5EF4-FFF2-40B4-BE49-F238E27FC236}">
                <a16:creationId xmlns:a16="http://schemas.microsoft.com/office/drawing/2014/main" id="{BCBAAA60-F756-4CBC-B004-5CE8B8A85B56}"/>
              </a:ext>
            </a:extLst>
          </p:cNvPr>
          <p:cNvSpPr/>
          <p:nvPr/>
        </p:nvSpPr>
        <p:spPr>
          <a:xfrm>
            <a:off x="7570590" y="3737670"/>
            <a:ext cx="4762024" cy="398621"/>
          </a:xfrm>
          <a:prstGeom prst="rect">
            <a:avLst/>
          </a:prstGeom>
          <a:noFill/>
          <a:ln/>
        </p:spPr>
        <p:txBody>
          <a:bodyPr wrap="none" lIns="0" tIns="0" rIns="0" bIns="0" rtlCol="0" anchor="t"/>
          <a:lstStyle/>
          <a:p>
            <a:pPr marL="0" indent="0" algn="l">
              <a:lnSpc>
                <a:spcPts val="3100"/>
              </a:lnSpc>
              <a:buNone/>
            </a:pPr>
            <a:r>
              <a:rPr lang="en-US" sz="2500" b="1">
                <a:solidFill>
                  <a:srgbClr val="FFFFFF"/>
                </a:solidFill>
                <a:latin typeface="Montserrat Bold" pitchFamily="34" charset="0"/>
                <a:ea typeface="Montserrat Bold" pitchFamily="34" charset="-122"/>
                <a:cs typeface="Montserrat Bold" pitchFamily="34" charset="-120"/>
              </a:rPr>
              <a:t>Validation &amp; Success Metrics</a:t>
            </a:r>
            <a:endParaRPr lang="en-US" sz="2500"/>
          </a:p>
        </p:txBody>
      </p:sp>
      <p:sp>
        <p:nvSpPr>
          <p:cNvPr id="132" name="Text 22">
            <a:extLst>
              <a:ext uri="{FF2B5EF4-FFF2-40B4-BE49-F238E27FC236}">
                <a16:creationId xmlns:a16="http://schemas.microsoft.com/office/drawing/2014/main" id="{C492BAA6-5A68-421D-99E5-A0BCACD0EDA1}"/>
              </a:ext>
            </a:extLst>
          </p:cNvPr>
          <p:cNvSpPr/>
          <p:nvPr/>
        </p:nvSpPr>
        <p:spPr>
          <a:xfrm>
            <a:off x="7570590" y="4311670"/>
            <a:ext cx="6487358" cy="263009"/>
          </a:xfrm>
          <a:prstGeom prst="rect">
            <a:avLst/>
          </a:prstGeom>
          <a:noFill/>
          <a:ln/>
        </p:spPr>
        <p:txBody>
          <a:bodyPr wrap="none" lIns="0" tIns="0" rIns="0" bIns="0" rtlCol="0" anchor="t"/>
          <a:lstStyle/>
          <a:p>
            <a:pPr marL="342900" indent="-342900" algn="l">
              <a:lnSpc>
                <a:spcPts val="2050"/>
              </a:lnSpc>
              <a:buSzPct val="100000"/>
              <a:buChar char="•"/>
            </a:pPr>
            <a:r>
              <a:rPr lang="en-US" sz="1350" b="1">
                <a:solidFill>
                  <a:srgbClr val="E2E6E9"/>
                </a:solidFill>
                <a:latin typeface="Source Sans 3" pitchFamily="34" charset="0"/>
                <a:ea typeface="Source Sans 3" pitchFamily="34" charset="-122"/>
                <a:cs typeface="Source Sans 3" pitchFamily="34" charset="-120"/>
              </a:rPr>
              <a:t>Accuracy:</a:t>
            </a:r>
            <a:r>
              <a:rPr lang="en-US" sz="1350">
                <a:solidFill>
                  <a:srgbClr val="E2E6E9"/>
                </a:solidFill>
                <a:latin typeface="Source Sans 3" pitchFamily="34" charset="0"/>
                <a:ea typeface="Source Sans 3" pitchFamily="34" charset="-122"/>
                <a:cs typeface="Source Sans 3" pitchFamily="34" charset="-120"/>
              </a:rPr>
              <a:t> Precisely predicting optimal session </a:t>
            </a:r>
            <a:r>
              <a:rPr lang="en-US" sz="1350" err="1">
                <a:solidFill>
                  <a:srgbClr val="E2E6E9"/>
                </a:solidFill>
                <a:latin typeface="Source Sans 3" pitchFamily="34" charset="0"/>
                <a:ea typeface="Source Sans 3" pitchFamily="34" charset="-122"/>
                <a:cs typeface="Source Sans 3" pitchFamily="34" charset="-120"/>
              </a:rPr>
              <a:t>cronotypes</a:t>
            </a:r>
            <a:endParaRPr lang="en-US" sz="1350"/>
          </a:p>
        </p:txBody>
      </p:sp>
      <p:sp>
        <p:nvSpPr>
          <p:cNvPr id="133" name="Text 23">
            <a:extLst>
              <a:ext uri="{FF2B5EF4-FFF2-40B4-BE49-F238E27FC236}">
                <a16:creationId xmlns:a16="http://schemas.microsoft.com/office/drawing/2014/main" id="{161E98D1-A96F-4BE6-82FA-A2C43F40EBC7}"/>
              </a:ext>
            </a:extLst>
          </p:cNvPr>
          <p:cNvSpPr/>
          <p:nvPr/>
        </p:nvSpPr>
        <p:spPr>
          <a:xfrm>
            <a:off x="7570590" y="4635996"/>
            <a:ext cx="6487358" cy="263009"/>
          </a:xfrm>
          <a:prstGeom prst="rect">
            <a:avLst/>
          </a:prstGeom>
          <a:noFill/>
          <a:ln/>
        </p:spPr>
        <p:txBody>
          <a:bodyPr wrap="none" lIns="0" tIns="0" rIns="0" bIns="0" rtlCol="0" anchor="t"/>
          <a:lstStyle/>
          <a:p>
            <a:pPr marL="342900" indent="-342900" algn="l">
              <a:lnSpc>
                <a:spcPts val="2050"/>
              </a:lnSpc>
              <a:buSzPct val="100000"/>
              <a:buChar char="•"/>
            </a:pPr>
            <a:r>
              <a:rPr lang="en-US" sz="1350" b="1">
                <a:solidFill>
                  <a:srgbClr val="E2E6E9"/>
                </a:solidFill>
                <a:latin typeface="Source Sans 3" pitchFamily="34" charset="0"/>
                <a:ea typeface="Source Sans 3" pitchFamily="34" charset="-122"/>
                <a:cs typeface="Source Sans 3" pitchFamily="34" charset="-120"/>
              </a:rPr>
              <a:t>Productivity Gains:</a:t>
            </a:r>
            <a:r>
              <a:rPr lang="en-US" sz="1350">
                <a:solidFill>
                  <a:srgbClr val="E2E6E9"/>
                </a:solidFill>
                <a:latin typeface="Source Sans 3" pitchFamily="34" charset="0"/>
                <a:ea typeface="Source Sans 3" pitchFamily="34" charset="-122"/>
                <a:cs typeface="Source Sans 3" pitchFamily="34" charset="-120"/>
              </a:rPr>
              <a:t> Quantifiable improvement in focus metrics.</a:t>
            </a:r>
            <a:endParaRPr lang="en-US" sz="1350"/>
          </a:p>
        </p:txBody>
      </p:sp>
      <p:sp>
        <p:nvSpPr>
          <p:cNvPr id="134" name="Text 24">
            <a:extLst>
              <a:ext uri="{FF2B5EF4-FFF2-40B4-BE49-F238E27FC236}">
                <a16:creationId xmlns:a16="http://schemas.microsoft.com/office/drawing/2014/main" id="{EFE8EED6-6D6D-4B1B-B5AF-500CAA53A863}"/>
              </a:ext>
            </a:extLst>
          </p:cNvPr>
          <p:cNvSpPr/>
          <p:nvPr/>
        </p:nvSpPr>
        <p:spPr>
          <a:xfrm>
            <a:off x="7570590" y="4960323"/>
            <a:ext cx="6487358" cy="263009"/>
          </a:xfrm>
          <a:prstGeom prst="rect">
            <a:avLst/>
          </a:prstGeom>
          <a:noFill/>
          <a:ln/>
        </p:spPr>
        <p:txBody>
          <a:bodyPr wrap="none" lIns="0" tIns="0" rIns="0" bIns="0" rtlCol="0" anchor="t"/>
          <a:lstStyle/>
          <a:p>
            <a:pPr marL="342900" indent="-342900" algn="l">
              <a:lnSpc>
                <a:spcPts val="2050"/>
              </a:lnSpc>
              <a:buSzPct val="100000"/>
              <a:buChar char="•"/>
            </a:pPr>
            <a:r>
              <a:rPr lang="en-US" sz="1350" b="1">
                <a:solidFill>
                  <a:srgbClr val="E2E6E9"/>
                </a:solidFill>
                <a:latin typeface="Source Sans 3" pitchFamily="34" charset="0"/>
                <a:ea typeface="Source Sans 3" pitchFamily="34" charset="-122"/>
                <a:cs typeface="Source Sans 3" pitchFamily="34" charset="-120"/>
              </a:rPr>
              <a:t>User Engagement:</a:t>
            </a:r>
            <a:r>
              <a:rPr lang="en-US" sz="1350">
                <a:solidFill>
                  <a:srgbClr val="E2E6E9"/>
                </a:solidFill>
                <a:latin typeface="Source Sans 3" pitchFamily="34" charset="0"/>
                <a:ea typeface="Source Sans 3" pitchFamily="34" charset="-122"/>
                <a:cs typeface="Source Sans 3" pitchFamily="34" charset="-120"/>
              </a:rPr>
              <a:t> High satisfaction, retention, and consistent usage.</a:t>
            </a:r>
            <a:endParaRPr lang="en-US" sz="1350"/>
          </a:p>
        </p:txBody>
      </p:sp>
      <p:sp>
        <p:nvSpPr>
          <p:cNvPr id="135" name="Text 25">
            <a:extLst>
              <a:ext uri="{FF2B5EF4-FFF2-40B4-BE49-F238E27FC236}">
                <a16:creationId xmlns:a16="http://schemas.microsoft.com/office/drawing/2014/main" id="{B84F2380-E8EE-4EC6-9878-9B76178DD56C}"/>
              </a:ext>
            </a:extLst>
          </p:cNvPr>
          <p:cNvSpPr/>
          <p:nvPr/>
        </p:nvSpPr>
        <p:spPr>
          <a:xfrm>
            <a:off x="7578209" y="6257189"/>
            <a:ext cx="3189446" cy="398621"/>
          </a:xfrm>
          <a:prstGeom prst="rect">
            <a:avLst/>
          </a:prstGeom>
          <a:noFill/>
          <a:ln/>
        </p:spPr>
        <p:txBody>
          <a:bodyPr wrap="none" lIns="0" tIns="0" rIns="0" bIns="0" rtlCol="0" anchor="t"/>
          <a:lstStyle/>
          <a:p>
            <a:pPr marL="0" indent="0" algn="l">
              <a:lnSpc>
                <a:spcPts val="3100"/>
              </a:lnSpc>
              <a:buNone/>
            </a:pPr>
            <a:r>
              <a:rPr lang="en-US" sz="2500" b="1">
                <a:solidFill>
                  <a:srgbClr val="FFFFFF"/>
                </a:solidFill>
                <a:latin typeface="Montserrat Bold" pitchFamily="34" charset="0"/>
                <a:ea typeface="Montserrat Bold" pitchFamily="34" charset="-122"/>
                <a:cs typeface="Montserrat Bold" pitchFamily="34" charset="-120"/>
              </a:rPr>
              <a:t>Data &amp; Ethics</a:t>
            </a:r>
            <a:endParaRPr lang="en-US" sz="2500"/>
          </a:p>
        </p:txBody>
      </p:sp>
      <p:sp>
        <p:nvSpPr>
          <p:cNvPr id="136" name="Text 26">
            <a:extLst>
              <a:ext uri="{FF2B5EF4-FFF2-40B4-BE49-F238E27FC236}">
                <a16:creationId xmlns:a16="http://schemas.microsoft.com/office/drawing/2014/main" id="{9BBDE5CC-F680-41FE-946A-0652B64925EC}"/>
              </a:ext>
            </a:extLst>
          </p:cNvPr>
          <p:cNvSpPr/>
          <p:nvPr/>
        </p:nvSpPr>
        <p:spPr>
          <a:xfrm>
            <a:off x="7578209" y="6831189"/>
            <a:ext cx="6487358" cy="526018"/>
          </a:xfrm>
          <a:prstGeom prst="rect">
            <a:avLst/>
          </a:prstGeom>
          <a:noFill/>
          <a:ln/>
        </p:spPr>
        <p:txBody>
          <a:bodyPr wrap="square" lIns="0" tIns="0" rIns="0" bIns="0" rtlCol="0" anchor="t"/>
          <a:lstStyle/>
          <a:p>
            <a:pPr marL="0" indent="0" algn="l">
              <a:lnSpc>
                <a:spcPts val="2050"/>
              </a:lnSpc>
              <a:buNone/>
            </a:pPr>
            <a:r>
              <a:rPr lang="en-US" sz="1350">
                <a:solidFill>
                  <a:srgbClr val="E2E6E9"/>
                </a:solidFill>
                <a:latin typeface="Source Sans 3" pitchFamily="34" charset="0"/>
                <a:ea typeface="Source Sans 3" pitchFamily="34" charset="-122"/>
                <a:cs typeface="Source Sans 3" pitchFamily="34" charset="-120"/>
              </a:rPr>
              <a:t>We ensure robust data privacy, with all user activity data (keystrokes, session timing) collected under strict ethical guidelines and anonymization protocols.</a:t>
            </a:r>
            <a:endParaRPr lang="en-US" sz="1350"/>
          </a:p>
        </p:txBody>
      </p:sp>
      <p:pic>
        <p:nvPicPr>
          <p:cNvPr id="33" name="Picture 32">
            <a:extLst>
              <a:ext uri="{FF2B5EF4-FFF2-40B4-BE49-F238E27FC236}">
                <a16:creationId xmlns:a16="http://schemas.microsoft.com/office/drawing/2014/main" id="{D0AB7BFC-C403-4AAF-B744-E8E38252541F}"/>
              </a:ext>
            </a:extLst>
          </p:cNvPr>
          <p:cNvPicPr/>
          <p:nvPr/>
        </p:nvPicPr>
        <p:blipFill>
          <a:blip r:embed="rId6"/>
          <a:stretch>
            <a:fillRect/>
          </a:stretch>
        </p:blipFill>
        <p:spPr>
          <a:xfrm>
            <a:off x="611420" y="5125303"/>
            <a:ext cx="6703779" cy="2617547"/>
          </a:xfrm>
          <a:prstGeom prst="rect">
            <a:avLst/>
          </a:prstGeom>
        </p:spPr>
      </p:pic>
      <p:sp>
        <p:nvSpPr>
          <p:cNvPr id="37" name="Rectangle 36">
            <a:extLst>
              <a:ext uri="{FF2B5EF4-FFF2-40B4-BE49-F238E27FC236}">
                <a16:creationId xmlns:a16="http://schemas.microsoft.com/office/drawing/2014/main" id="{6AF7E7A1-A5F6-45D0-BE9E-F14E9697CDAC}"/>
              </a:ext>
            </a:extLst>
          </p:cNvPr>
          <p:cNvSpPr/>
          <p:nvPr/>
        </p:nvSpPr>
        <p:spPr>
          <a:xfrm>
            <a:off x="3158922" y="7791449"/>
            <a:ext cx="11471477" cy="438150"/>
          </a:xfrm>
          <a:prstGeom prst="rect">
            <a:avLst/>
          </a:prstGeom>
          <a:solidFill>
            <a:srgbClr val="1D1F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r>
              <a:rPr kumimoji="0" lang="en-US" sz="2160" b="1" i="0" u="none" strike="noStrike" kern="1200" cap="none" spc="0" normalizeH="0" baseline="0" noProof="0">
                <a:ln>
                  <a:noFill/>
                </a:ln>
                <a:solidFill>
                  <a:prstClr val="white"/>
                </a:solidFill>
                <a:effectLst/>
                <a:uLnTx/>
                <a:uFillTx/>
                <a:latin typeface="Cambria"/>
                <a:ea typeface="+mn-ea"/>
                <a:cs typeface="+mn-cs"/>
              </a:rPr>
              <a:t>IT22276582</a:t>
            </a:r>
            <a:r>
              <a:rPr kumimoji="0" lang="en-US" sz="2160" b="0" i="0" u="none" strike="noStrike" kern="1200" cap="none" spc="0" normalizeH="0" baseline="0" noProof="0">
                <a:ln>
                  <a:noFill/>
                </a:ln>
                <a:solidFill>
                  <a:prstClr val="white"/>
                </a:solidFill>
                <a:effectLst/>
                <a:uLnTx/>
                <a:uFillTx/>
                <a:latin typeface="Cambria"/>
                <a:ea typeface="+mn-ea"/>
                <a:cs typeface="+mn-cs"/>
              </a:rPr>
              <a:t>  |  Yasasvin W.M.Y</a:t>
            </a:r>
            <a:r>
              <a:rPr kumimoji="0" lang="en-US" sz="2160" b="1" i="0" u="none" strike="noStrike" kern="1200" cap="none" spc="0" normalizeH="0" baseline="0" noProof="0">
                <a:ln>
                  <a:noFill/>
                </a:ln>
                <a:solidFill>
                  <a:prstClr val="white"/>
                </a:solidFill>
                <a:effectLst/>
                <a:uLnTx/>
                <a:uFillTx/>
                <a:latin typeface="Cambria"/>
                <a:ea typeface="+mn-ea"/>
                <a:cs typeface="+mn-cs"/>
              </a:rPr>
              <a:t>   </a:t>
            </a:r>
            <a:r>
              <a:rPr kumimoji="0" lang="en-US" sz="2160" b="0" i="0" u="none" strike="noStrike" kern="1200" cap="none" spc="0" normalizeH="0" baseline="0" noProof="0">
                <a:ln>
                  <a:noFill/>
                </a:ln>
                <a:solidFill>
                  <a:prstClr val="white"/>
                </a:solidFill>
                <a:effectLst/>
                <a:uLnTx/>
                <a:uFillTx/>
                <a:latin typeface="Cambria"/>
                <a:ea typeface="+mn-ea"/>
                <a:cs typeface="+mn-cs"/>
              </a:rPr>
              <a:t>|   25-26J-458</a:t>
            </a:r>
          </a:p>
        </p:txBody>
      </p:sp>
      <p:pic>
        <p:nvPicPr>
          <p:cNvPr id="38" name="Picture 37">
            <a:extLst>
              <a:ext uri="{FF2B5EF4-FFF2-40B4-BE49-F238E27FC236}">
                <a16:creationId xmlns:a16="http://schemas.microsoft.com/office/drawing/2014/main" id="{1D789370-17AA-4F4D-B4CB-2149B77A8F65}"/>
              </a:ext>
            </a:extLst>
          </p:cNvPr>
          <p:cNvPicPr>
            <a:picLocks noChangeAspect="1"/>
          </p:cNvPicPr>
          <p:nvPr/>
        </p:nvPicPr>
        <p:blipFill>
          <a:blip r:embed="rId7"/>
          <a:stretch>
            <a:fillRect/>
          </a:stretch>
        </p:blipFill>
        <p:spPr>
          <a:xfrm>
            <a:off x="82192" y="7692983"/>
            <a:ext cx="3076730" cy="466725"/>
          </a:xfrm>
          <a:prstGeom prst="rect">
            <a:avLst/>
          </a:prstGeom>
        </p:spPr>
      </p:pic>
    </p:spTree>
    <p:extLst>
      <p:ext uri="{BB962C8B-B14F-4D97-AF65-F5344CB8AC3E}">
        <p14:creationId xmlns:p14="http://schemas.microsoft.com/office/powerpoint/2010/main" val="2896548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29">
            <a:extLst>
              <a:ext uri="{FF2B5EF4-FFF2-40B4-BE49-F238E27FC236}">
                <a16:creationId xmlns:a16="http://schemas.microsoft.com/office/drawing/2014/main" id="{59A1624F-2E39-FF74-7962-7CC3951CCE5D}"/>
              </a:ext>
            </a:extLst>
          </p:cNvPr>
          <p:cNvSpPr txBox="1"/>
          <p:nvPr/>
        </p:nvSpPr>
        <p:spPr>
          <a:xfrm>
            <a:off x="11061212" y="7742851"/>
            <a:ext cx="3569188" cy="400110"/>
          </a:xfrm>
          <a:prstGeom prst="rect">
            <a:avLst/>
          </a:prstGeom>
          <a:solidFill>
            <a:schemeClr val="bg1"/>
          </a:solidFill>
        </p:spPr>
        <p:txBody>
          <a:bodyPr wrap="square" rtlCol="0">
            <a:spAutoFit/>
          </a:bodyPr>
          <a:lstStyle/>
          <a:p>
            <a:r>
              <a:rPr lang="en-US" sz="2000">
                <a:solidFill>
                  <a:schemeClr val="tx1">
                    <a:lumMod val="50000"/>
                    <a:lumOff val="50000"/>
                  </a:schemeClr>
                </a:solidFill>
              </a:rPr>
              <a:t>IT22276582 – Yasasvin W.M.Y</a:t>
            </a:r>
          </a:p>
        </p:txBody>
      </p:sp>
      <p:sp>
        <p:nvSpPr>
          <p:cNvPr id="48" name="Text 0">
            <a:extLst>
              <a:ext uri="{FF2B5EF4-FFF2-40B4-BE49-F238E27FC236}">
                <a16:creationId xmlns:a16="http://schemas.microsoft.com/office/drawing/2014/main" id="{3325C9C1-6ED6-425D-871E-C7786C963B76}"/>
              </a:ext>
            </a:extLst>
          </p:cNvPr>
          <p:cNvSpPr/>
          <p:nvPr/>
        </p:nvSpPr>
        <p:spPr>
          <a:xfrm>
            <a:off x="431840" y="339328"/>
            <a:ext cx="5540931" cy="350639"/>
          </a:xfrm>
          <a:prstGeom prst="rect">
            <a:avLst/>
          </a:prstGeom>
          <a:noFill/>
          <a:ln/>
        </p:spPr>
        <p:txBody>
          <a:bodyPr wrap="none" lIns="0" tIns="0" rIns="0" bIns="0" rtlCol="0" anchor="t"/>
          <a:lstStyle/>
          <a:p>
            <a:pPr marL="0" indent="0" algn="l">
              <a:lnSpc>
                <a:spcPts val="2750"/>
              </a:lnSpc>
              <a:buNone/>
            </a:pPr>
            <a:r>
              <a:rPr lang="en-US" sz="2200" b="1">
                <a:solidFill>
                  <a:srgbClr val="000000"/>
                </a:solidFill>
                <a:latin typeface="Montserrat Bold" pitchFamily="34" charset="0"/>
                <a:ea typeface="Montserrat Bold" pitchFamily="34" charset="-122"/>
                <a:cs typeface="Montserrat Bold" pitchFamily="34" charset="-120"/>
              </a:rPr>
              <a:t>System Overview &amp; Real-World Usage</a:t>
            </a:r>
            <a:endParaRPr lang="en-US" sz="2200"/>
          </a:p>
        </p:txBody>
      </p:sp>
      <p:sp>
        <p:nvSpPr>
          <p:cNvPr id="49" name="Text 1">
            <a:extLst>
              <a:ext uri="{FF2B5EF4-FFF2-40B4-BE49-F238E27FC236}">
                <a16:creationId xmlns:a16="http://schemas.microsoft.com/office/drawing/2014/main" id="{68B12F5A-1330-42A7-9E2C-8DEC41A36AB8}"/>
              </a:ext>
            </a:extLst>
          </p:cNvPr>
          <p:cNvSpPr/>
          <p:nvPr/>
        </p:nvSpPr>
        <p:spPr>
          <a:xfrm>
            <a:off x="431840" y="1517213"/>
            <a:ext cx="13766721" cy="185142"/>
          </a:xfrm>
          <a:prstGeom prst="rect">
            <a:avLst/>
          </a:prstGeom>
          <a:noFill/>
          <a:ln/>
        </p:spPr>
        <p:txBody>
          <a:bodyPr wrap="none" lIns="0" tIns="0" rIns="0" bIns="0" rtlCol="0" anchor="t"/>
          <a:lstStyle/>
          <a:p>
            <a:pPr marL="0" indent="0" algn="l">
              <a:lnSpc>
                <a:spcPts val="1450"/>
              </a:lnSpc>
              <a:buNone/>
            </a:pPr>
            <a:r>
              <a:rPr lang="en-US" sz="950">
                <a:solidFill>
                  <a:srgbClr val="000000"/>
                </a:solidFill>
                <a:latin typeface="Source Sans 3" pitchFamily="34" charset="0"/>
                <a:ea typeface="Source Sans 3" pitchFamily="34" charset="-122"/>
                <a:cs typeface="Source Sans 3" pitchFamily="34" charset="-120"/>
              </a:rPr>
              <a:t>This integrated system empowers students to optimize their learning by aligning study habits with their unique biological rhythms, translating complex data into actionable insights for everyday use.</a:t>
            </a:r>
            <a:endParaRPr lang="en-US" sz="950"/>
          </a:p>
        </p:txBody>
      </p:sp>
      <p:pic>
        <p:nvPicPr>
          <p:cNvPr id="50" name="Image 0" descr="preencoded.png">
            <a:extLst>
              <a:ext uri="{FF2B5EF4-FFF2-40B4-BE49-F238E27FC236}">
                <a16:creationId xmlns:a16="http://schemas.microsoft.com/office/drawing/2014/main" id="{04DFB246-C0EC-4BDA-BE47-46A701E76758}"/>
              </a:ext>
            </a:extLst>
          </p:cNvPr>
          <p:cNvPicPr>
            <a:picLocks noChangeAspect="1"/>
          </p:cNvPicPr>
          <p:nvPr/>
        </p:nvPicPr>
        <p:blipFill>
          <a:blip r:embed="rId3"/>
          <a:stretch>
            <a:fillRect/>
          </a:stretch>
        </p:blipFill>
        <p:spPr>
          <a:xfrm>
            <a:off x="431840" y="1841182"/>
            <a:ext cx="4588907" cy="493633"/>
          </a:xfrm>
          <a:prstGeom prst="rect">
            <a:avLst/>
          </a:prstGeom>
        </p:spPr>
      </p:pic>
      <p:sp>
        <p:nvSpPr>
          <p:cNvPr id="51" name="Text 2">
            <a:extLst>
              <a:ext uri="{FF2B5EF4-FFF2-40B4-BE49-F238E27FC236}">
                <a16:creationId xmlns:a16="http://schemas.microsoft.com/office/drawing/2014/main" id="{C45F6BBC-6283-4101-AF34-DA6E82991F61}"/>
              </a:ext>
            </a:extLst>
          </p:cNvPr>
          <p:cNvSpPr/>
          <p:nvPr/>
        </p:nvSpPr>
        <p:spPr>
          <a:xfrm>
            <a:off x="555188" y="2458164"/>
            <a:ext cx="1682829" cy="210264"/>
          </a:xfrm>
          <a:prstGeom prst="rect">
            <a:avLst/>
          </a:prstGeom>
          <a:noFill/>
          <a:ln/>
        </p:spPr>
        <p:txBody>
          <a:bodyPr wrap="none" lIns="0" tIns="0" rIns="0" bIns="0" rtlCol="0" anchor="t"/>
          <a:lstStyle/>
          <a:p>
            <a:pPr marL="0" indent="0" algn="l">
              <a:lnSpc>
                <a:spcPts val="1650"/>
              </a:lnSpc>
              <a:buNone/>
            </a:pPr>
            <a:r>
              <a:rPr lang="en-US" sz="1300" b="1">
                <a:solidFill>
                  <a:srgbClr val="000000"/>
                </a:solidFill>
                <a:latin typeface="Montserrat Bold" pitchFamily="34" charset="0"/>
                <a:ea typeface="Montserrat Bold" pitchFamily="34" charset="-122"/>
                <a:cs typeface="Montserrat Bold" pitchFamily="34" charset="-120"/>
              </a:rPr>
              <a:t>Data Collection</a:t>
            </a:r>
            <a:endParaRPr lang="en-US" sz="1300"/>
          </a:p>
        </p:txBody>
      </p:sp>
      <p:sp>
        <p:nvSpPr>
          <p:cNvPr id="52" name="Text 3">
            <a:extLst>
              <a:ext uri="{FF2B5EF4-FFF2-40B4-BE49-F238E27FC236}">
                <a16:creationId xmlns:a16="http://schemas.microsoft.com/office/drawing/2014/main" id="{E193A223-829C-44E2-8723-AB0B16C36667}"/>
              </a:ext>
            </a:extLst>
          </p:cNvPr>
          <p:cNvSpPr/>
          <p:nvPr/>
        </p:nvSpPr>
        <p:spPr>
          <a:xfrm>
            <a:off x="555188" y="2742366"/>
            <a:ext cx="4342209" cy="185142"/>
          </a:xfrm>
          <a:prstGeom prst="rect">
            <a:avLst/>
          </a:prstGeom>
          <a:noFill/>
          <a:ln/>
        </p:spPr>
        <p:txBody>
          <a:bodyPr wrap="none" lIns="0" tIns="0" rIns="0" bIns="0" rtlCol="0" anchor="t"/>
          <a:lstStyle/>
          <a:p>
            <a:pPr marL="0" indent="0" algn="l">
              <a:lnSpc>
                <a:spcPts val="1450"/>
              </a:lnSpc>
              <a:buNone/>
            </a:pPr>
            <a:r>
              <a:rPr lang="en-US" sz="950">
                <a:solidFill>
                  <a:srgbClr val="000000"/>
                </a:solidFill>
                <a:latin typeface="Source Sans 3" pitchFamily="34" charset="0"/>
                <a:ea typeface="Source Sans 3" pitchFamily="34" charset="-122"/>
                <a:cs typeface="Source Sans 3" pitchFamily="34" charset="-120"/>
              </a:rPr>
              <a:t>Collects keystrokes, session timings, and micro-EMA feedback during study.</a:t>
            </a:r>
            <a:endParaRPr lang="en-US" sz="950"/>
          </a:p>
        </p:txBody>
      </p:sp>
      <p:pic>
        <p:nvPicPr>
          <p:cNvPr id="53" name="Image 1" descr="preencoded.png">
            <a:extLst>
              <a:ext uri="{FF2B5EF4-FFF2-40B4-BE49-F238E27FC236}">
                <a16:creationId xmlns:a16="http://schemas.microsoft.com/office/drawing/2014/main" id="{CBC86DE5-F1A8-4849-94FA-973049936FAE}"/>
              </a:ext>
            </a:extLst>
          </p:cNvPr>
          <p:cNvPicPr>
            <a:picLocks noChangeAspect="1"/>
          </p:cNvPicPr>
          <p:nvPr/>
        </p:nvPicPr>
        <p:blipFill>
          <a:blip r:embed="rId4"/>
          <a:stretch>
            <a:fillRect/>
          </a:stretch>
        </p:blipFill>
        <p:spPr>
          <a:xfrm>
            <a:off x="5020747" y="1841182"/>
            <a:ext cx="4588907" cy="493633"/>
          </a:xfrm>
          <a:prstGeom prst="rect">
            <a:avLst/>
          </a:prstGeom>
        </p:spPr>
      </p:pic>
      <p:sp>
        <p:nvSpPr>
          <p:cNvPr id="54" name="Text 4">
            <a:extLst>
              <a:ext uri="{FF2B5EF4-FFF2-40B4-BE49-F238E27FC236}">
                <a16:creationId xmlns:a16="http://schemas.microsoft.com/office/drawing/2014/main" id="{E3B88AFF-4226-4D72-9D2C-B95D2715D1FB}"/>
              </a:ext>
            </a:extLst>
          </p:cNvPr>
          <p:cNvSpPr/>
          <p:nvPr/>
        </p:nvSpPr>
        <p:spPr>
          <a:xfrm>
            <a:off x="5144095" y="2458164"/>
            <a:ext cx="1839516" cy="210264"/>
          </a:xfrm>
          <a:prstGeom prst="rect">
            <a:avLst/>
          </a:prstGeom>
          <a:noFill/>
          <a:ln/>
        </p:spPr>
        <p:txBody>
          <a:bodyPr wrap="none" lIns="0" tIns="0" rIns="0" bIns="0" rtlCol="0" anchor="t"/>
          <a:lstStyle/>
          <a:p>
            <a:pPr marL="0" indent="0" algn="l">
              <a:lnSpc>
                <a:spcPts val="1650"/>
              </a:lnSpc>
              <a:buNone/>
            </a:pPr>
            <a:r>
              <a:rPr lang="en-US" sz="1300" b="1">
                <a:solidFill>
                  <a:srgbClr val="000000"/>
                </a:solidFill>
                <a:latin typeface="Montserrat Bold" pitchFamily="34" charset="0"/>
                <a:ea typeface="Montserrat Bold" pitchFamily="34" charset="-122"/>
                <a:cs typeface="Montserrat Bold" pitchFamily="34" charset="-120"/>
              </a:rPr>
              <a:t>Heatmap Generation and ml model process</a:t>
            </a:r>
            <a:endParaRPr lang="en-US" sz="1300"/>
          </a:p>
        </p:txBody>
      </p:sp>
      <p:sp>
        <p:nvSpPr>
          <p:cNvPr id="55" name="Text 5">
            <a:extLst>
              <a:ext uri="{FF2B5EF4-FFF2-40B4-BE49-F238E27FC236}">
                <a16:creationId xmlns:a16="http://schemas.microsoft.com/office/drawing/2014/main" id="{A797727B-CD00-4696-B719-84D1D11C5C9B}"/>
              </a:ext>
            </a:extLst>
          </p:cNvPr>
          <p:cNvSpPr/>
          <p:nvPr/>
        </p:nvSpPr>
        <p:spPr>
          <a:xfrm>
            <a:off x="5144095" y="2742366"/>
            <a:ext cx="4342209" cy="185142"/>
          </a:xfrm>
          <a:prstGeom prst="rect">
            <a:avLst/>
          </a:prstGeom>
          <a:noFill/>
          <a:ln/>
        </p:spPr>
        <p:txBody>
          <a:bodyPr wrap="none" lIns="0" tIns="0" rIns="0" bIns="0" rtlCol="0" anchor="t"/>
          <a:lstStyle/>
          <a:p>
            <a:pPr marL="0" indent="0" algn="l">
              <a:lnSpc>
                <a:spcPts val="1450"/>
              </a:lnSpc>
              <a:buNone/>
            </a:pPr>
            <a:r>
              <a:rPr lang="en-US" sz="950">
                <a:solidFill>
                  <a:srgbClr val="000000"/>
                </a:solidFill>
                <a:latin typeface="Source Sans 3" pitchFamily="34" charset="0"/>
                <a:ea typeface="Source Sans 3" pitchFamily="34" charset="-122"/>
                <a:cs typeface="Source Sans 3" pitchFamily="34" charset="-120"/>
              </a:rPr>
              <a:t>Generates a chronotype heatmap visualizing individual focus patterns over time.</a:t>
            </a:r>
            <a:endParaRPr lang="en-US" sz="950"/>
          </a:p>
        </p:txBody>
      </p:sp>
      <p:pic>
        <p:nvPicPr>
          <p:cNvPr id="56" name="Image 2" descr="preencoded.png">
            <a:extLst>
              <a:ext uri="{FF2B5EF4-FFF2-40B4-BE49-F238E27FC236}">
                <a16:creationId xmlns:a16="http://schemas.microsoft.com/office/drawing/2014/main" id="{A6C59C87-CA25-4C02-8731-02CCBD90B4CF}"/>
              </a:ext>
            </a:extLst>
          </p:cNvPr>
          <p:cNvPicPr>
            <a:picLocks noChangeAspect="1"/>
          </p:cNvPicPr>
          <p:nvPr/>
        </p:nvPicPr>
        <p:blipFill>
          <a:blip r:embed="rId5"/>
          <a:stretch>
            <a:fillRect/>
          </a:stretch>
        </p:blipFill>
        <p:spPr>
          <a:xfrm>
            <a:off x="9609653" y="1841182"/>
            <a:ext cx="4588907" cy="493633"/>
          </a:xfrm>
          <a:prstGeom prst="rect">
            <a:avLst/>
          </a:prstGeom>
        </p:spPr>
      </p:pic>
      <p:sp>
        <p:nvSpPr>
          <p:cNvPr id="57" name="Text 6">
            <a:extLst>
              <a:ext uri="{FF2B5EF4-FFF2-40B4-BE49-F238E27FC236}">
                <a16:creationId xmlns:a16="http://schemas.microsoft.com/office/drawing/2014/main" id="{FCF21A48-09E0-4850-B6BA-DE2D95C1E960}"/>
              </a:ext>
            </a:extLst>
          </p:cNvPr>
          <p:cNvSpPr/>
          <p:nvPr/>
        </p:nvSpPr>
        <p:spPr>
          <a:xfrm>
            <a:off x="9733002" y="2458164"/>
            <a:ext cx="1895356" cy="210264"/>
          </a:xfrm>
          <a:prstGeom prst="rect">
            <a:avLst/>
          </a:prstGeom>
          <a:noFill/>
          <a:ln/>
        </p:spPr>
        <p:txBody>
          <a:bodyPr wrap="none" lIns="0" tIns="0" rIns="0" bIns="0" rtlCol="0" anchor="t"/>
          <a:lstStyle/>
          <a:p>
            <a:pPr marL="0" indent="0" algn="l">
              <a:lnSpc>
                <a:spcPts val="1650"/>
              </a:lnSpc>
              <a:buNone/>
            </a:pPr>
            <a:r>
              <a:rPr lang="en-US" sz="1300" b="1">
                <a:solidFill>
                  <a:srgbClr val="000000"/>
                </a:solidFill>
                <a:latin typeface="Montserrat Bold" pitchFamily="34" charset="0"/>
                <a:ea typeface="Montserrat Bold" pitchFamily="34" charset="-122"/>
                <a:cs typeface="Montserrat Bold" pitchFamily="34" charset="-120"/>
              </a:rPr>
              <a:t>ML Recommendation</a:t>
            </a:r>
            <a:endParaRPr lang="en-US" sz="1300"/>
          </a:p>
        </p:txBody>
      </p:sp>
      <p:sp>
        <p:nvSpPr>
          <p:cNvPr id="58" name="Text 7">
            <a:extLst>
              <a:ext uri="{FF2B5EF4-FFF2-40B4-BE49-F238E27FC236}">
                <a16:creationId xmlns:a16="http://schemas.microsoft.com/office/drawing/2014/main" id="{2F345DAE-6DC0-477F-BA12-B1ADCAC5CB08}"/>
              </a:ext>
            </a:extLst>
          </p:cNvPr>
          <p:cNvSpPr/>
          <p:nvPr/>
        </p:nvSpPr>
        <p:spPr>
          <a:xfrm>
            <a:off x="9733002" y="2742366"/>
            <a:ext cx="4342209" cy="185142"/>
          </a:xfrm>
          <a:prstGeom prst="rect">
            <a:avLst/>
          </a:prstGeom>
          <a:noFill/>
          <a:ln/>
        </p:spPr>
        <p:txBody>
          <a:bodyPr wrap="none" lIns="0" tIns="0" rIns="0" bIns="0" rtlCol="0" anchor="t"/>
          <a:lstStyle/>
          <a:p>
            <a:pPr marL="0" indent="0" algn="l">
              <a:lnSpc>
                <a:spcPts val="1450"/>
              </a:lnSpc>
              <a:buNone/>
            </a:pPr>
            <a:r>
              <a:rPr lang="en-US" sz="950">
                <a:solidFill>
                  <a:srgbClr val="000000"/>
                </a:solidFill>
                <a:latin typeface="Source Sans 3" pitchFamily="34" charset="0"/>
                <a:ea typeface="Source Sans 3" pitchFamily="34" charset="-122"/>
                <a:cs typeface="Source Sans 3" pitchFamily="34" charset="-120"/>
              </a:rPr>
              <a:t>Contextual Bandit model recommends optimal study sessions.</a:t>
            </a:r>
            <a:endParaRPr lang="en-US" sz="950"/>
          </a:p>
        </p:txBody>
      </p:sp>
      <p:sp>
        <p:nvSpPr>
          <p:cNvPr id="59" name="Text 8">
            <a:extLst>
              <a:ext uri="{FF2B5EF4-FFF2-40B4-BE49-F238E27FC236}">
                <a16:creationId xmlns:a16="http://schemas.microsoft.com/office/drawing/2014/main" id="{37BA4DF5-7BA0-40D4-9C64-6A60202C4F6C}"/>
              </a:ext>
            </a:extLst>
          </p:cNvPr>
          <p:cNvSpPr/>
          <p:nvPr/>
        </p:nvSpPr>
        <p:spPr>
          <a:xfrm>
            <a:off x="555188" y="3640963"/>
            <a:ext cx="3149918" cy="280511"/>
          </a:xfrm>
          <a:prstGeom prst="rect">
            <a:avLst/>
          </a:prstGeom>
          <a:noFill/>
          <a:ln/>
        </p:spPr>
        <p:txBody>
          <a:bodyPr wrap="none" lIns="0" tIns="0" rIns="0" bIns="0" rtlCol="0" anchor="t"/>
          <a:lstStyle/>
          <a:p>
            <a:pPr marL="0" indent="0" algn="l">
              <a:lnSpc>
                <a:spcPts val="2200"/>
              </a:lnSpc>
              <a:buNone/>
            </a:pPr>
            <a:r>
              <a:rPr lang="en-US" sz="1750" b="1">
                <a:solidFill>
                  <a:srgbClr val="FA95AE"/>
                </a:solidFill>
                <a:latin typeface="Montserrat Bold" pitchFamily="34" charset="0"/>
                <a:ea typeface="Montserrat Bold" pitchFamily="34" charset="-122"/>
                <a:cs typeface="Montserrat Bold" pitchFamily="34" charset="-120"/>
              </a:rPr>
              <a:t>Transforming</a:t>
            </a:r>
            <a:r>
              <a:rPr lang="en-US" sz="1750" b="1">
                <a:solidFill>
                  <a:srgbClr val="000000"/>
                </a:solidFill>
                <a:latin typeface="Montserrat Bold" pitchFamily="34" charset="0"/>
                <a:ea typeface="Montserrat Bold" pitchFamily="34" charset="-122"/>
                <a:cs typeface="Montserrat Bold" pitchFamily="34" charset="-120"/>
              </a:rPr>
              <a:t> Study Habits</a:t>
            </a:r>
            <a:endParaRPr lang="en-US" sz="1750"/>
          </a:p>
        </p:txBody>
      </p:sp>
      <p:sp>
        <p:nvSpPr>
          <p:cNvPr id="60" name="Text 9">
            <a:extLst>
              <a:ext uri="{FF2B5EF4-FFF2-40B4-BE49-F238E27FC236}">
                <a16:creationId xmlns:a16="http://schemas.microsoft.com/office/drawing/2014/main" id="{1CE4CC62-249B-4193-A4A1-E8DB31D45252}"/>
              </a:ext>
            </a:extLst>
          </p:cNvPr>
          <p:cNvSpPr/>
          <p:nvPr/>
        </p:nvSpPr>
        <p:spPr>
          <a:xfrm>
            <a:off x="555188" y="4044823"/>
            <a:ext cx="6732865" cy="370284"/>
          </a:xfrm>
          <a:prstGeom prst="rect">
            <a:avLst/>
          </a:prstGeom>
          <a:noFill/>
          <a:ln/>
        </p:spPr>
        <p:txBody>
          <a:bodyPr wrap="square" lIns="0" tIns="0" rIns="0" bIns="0" rtlCol="0" anchor="t"/>
          <a:lstStyle/>
          <a:p>
            <a:pPr marL="0" indent="0" algn="l">
              <a:lnSpc>
                <a:spcPts val="1450"/>
              </a:lnSpc>
              <a:buNone/>
            </a:pPr>
            <a:r>
              <a:rPr lang="en-US" sz="950">
                <a:solidFill>
                  <a:srgbClr val="000000"/>
                </a:solidFill>
                <a:latin typeface="Source Sans 3" pitchFamily="34" charset="0"/>
                <a:ea typeface="Source Sans 3" pitchFamily="34" charset="-122"/>
                <a:cs typeface="Source Sans 3" pitchFamily="34" charset="-120"/>
              </a:rPr>
              <a:t>Students simply open the app and log their study sessions. The system then provides dynamic recommendations based on their prior behavior and real-time input. This leads to profound changes in learning efficiency.</a:t>
            </a:r>
            <a:endParaRPr lang="en-US" sz="950"/>
          </a:p>
        </p:txBody>
      </p:sp>
      <p:sp>
        <p:nvSpPr>
          <p:cNvPr id="61" name="Text 10">
            <a:extLst>
              <a:ext uri="{FF2B5EF4-FFF2-40B4-BE49-F238E27FC236}">
                <a16:creationId xmlns:a16="http://schemas.microsoft.com/office/drawing/2014/main" id="{F80A404A-61F7-4FB9-B23F-82A0A5DD885E}"/>
              </a:ext>
            </a:extLst>
          </p:cNvPr>
          <p:cNvSpPr/>
          <p:nvPr/>
        </p:nvSpPr>
        <p:spPr>
          <a:xfrm>
            <a:off x="740211" y="4553935"/>
            <a:ext cx="6547842" cy="185142"/>
          </a:xfrm>
          <a:prstGeom prst="rect">
            <a:avLst/>
          </a:prstGeom>
          <a:noFill/>
          <a:ln/>
        </p:spPr>
        <p:txBody>
          <a:bodyPr wrap="none" lIns="0" tIns="0" rIns="0" bIns="0" rtlCol="0" anchor="t"/>
          <a:lstStyle/>
          <a:p>
            <a:pPr marL="0" indent="0" algn="l">
              <a:lnSpc>
                <a:spcPts val="1450"/>
              </a:lnSpc>
              <a:buNone/>
            </a:pPr>
            <a:r>
              <a:rPr lang="en-US" sz="950" b="1">
                <a:solidFill>
                  <a:srgbClr val="FA95AE"/>
                </a:solidFill>
                <a:latin typeface="Source Sans 3" pitchFamily="34" charset="0"/>
                <a:ea typeface="Source Sans 3" pitchFamily="34" charset="-122"/>
                <a:cs typeface="Source Sans 3" pitchFamily="34" charset="-120"/>
              </a:rPr>
              <a:t>Insight:</a:t>
            </a:r>
            <a:r>
              <a:rPr lang="en-US" sz="950">
                <a:solidFill>
                  <a:srgbClr val="000000"/>
                </a:solidFill>
                <a:latin typeface="Source Sans 3" pitchFamily="34" charset="0"/>
                <a:ea typeface="Source Sans 3" pitchFamily="34" charset="-122"/>
                <a:cs typeface="Source Sans 3" pitchFamily="34" charset="-120"/>
              </a:rPr>
              <a:t> "Your best 50-minute focused session today was from </a:t>
            </a:r>
            <a:r>
              <a:rPr lang="en-US" sz="950">
                <a:solidFill>
                  <a:srgbClr val="FA95AE"/>
                </a:solidFill>
                <a:latin typeface="Source Sans 3" pitchFamily="34" charset="0"/>
                <a:ea typeface="Source Sans 3" pitchFamily="34" charset="-122"/>
                <a:cs typeface="Source Sans 3" pitchFamily="34" charset="-120"/>
              </a:rPr>
              <a:t>4:00 PM - 4:50 PM</a:t>
            </a:r>
            <a:r>
              <a:rPr lang="en-US" sz="950">
                <a:solidFill>
                  <a:srgbClr val="000000"/>
                </a:solidFill>
                <a:latin typeface="Source Sans 3" pitchFamily="34" charset="0"/>
                <a:ea typeface="Source Sans 3" pitchFamily="34" charset="-122"/>
                <a:cs typeface="Source Sans 3" pitchFamily="34" charset="-120"/>
              </a:rPr>
              <a:t>. Consider that time tomorrow!"</a:t>
            </a:r>
            <a:endParaRPr lang="en-US" sz="950"/>
          </a:p>
        </p:txBody>
      </p:sp>
      <p:sp>
        <p:nvSpPr>
          <p:cNvPr id="62" name="Text 11">
            <a:extLst>
              <a:ext uri="{FF2B5EF4-FFF2-40B4-BE49-F238E27FC236}">
                <a16:creationId xmlns:a16="http://schemas.microsoft.com/office/drawing/2014/main" id="{B0A77FC6-9D6A-4F50-9CA6-9514AD31494D}"/>
              </a:ext>
            </a:extLst>
          </p:cNvPr>
          <p:cNvSpPr/>
          <p:nvPr/>
        </p:nvSpPr>
        <p:spPr>
          <a:xfrm>
            <a:off x="740211" y="4850043"/>
            <a:ext cx="6547842" cy="185142"/>
          </a:xfrm>
          <a:prstGeom prst="rect">
            <a:avLst/>
          </a:prstGeom>
          <a:noFill/>
          <a:ln/>
        </p:spPr>
        <p:txBody>
          <a:bodyPr wrap="none" lIns="0" tIns="0" rIns="0" bIns="0" rtlCol="0" anchor="t"/>
          <a:lstStyle/>
          <a:p>
            <a:pPr marL="0" indent="0" algn="l">
              <a:lnSpc>
                <a:spcPts val="1450"/>
              </a:lnSpc>
              <a:buNone/>
            </a:pPr>
            <a:r>
              <a:rPr lang="en-US" sz="950" b="1">
                <a:solidFill>
                  <a:srgbClr val="FA95AE"/>
                </a:solidFill>
                <a:latin typeface="Source Sans 3" pitchFamily="34" charset="0"/>
                <a:ea typeface="Source Sans 3" pitchFamily="34" charset="-122"/>
                <a:cs typeface="Source Sans 3" pitchFamily="34" charset="-120"/>
              </a:rPr>
              <a:t>Warning:</a:t>
            </a:r>
            <a:r>
              <a:rPr lang="en-US" sz="950">
                <a:solidFill>
                  <a:srgbClr val="000000"/>
                </a:solidFill>
                <a:latin typeface="Source Sans 3" pitchFamily="34" charset="0"/>
                <a:ea typeface="Source Sans 3" pitchFamily="34" charset="-122"/>
                <a:cs typeface="Source Sans 3" pitchFamily="34" charset="-120"/>
              </a:rPr>
              <a:t> "Avoid studying after </a:t>
            </a:r>
            <a:r>
              <a:rPr lang="en-US" sz="950">
                <a:solidFill>
                  <a:srgbClr val="FA95AE"/>
                </a:solidFill>
                <a:latin typeface="Source Sans 3" pitchFamily="34" charset="0"/>
                <a:ea typeface="Source Sans 3" pitchFamily="34" charset="-122"/>
                <a:cs typeface="Source Sans 3" pitchFamily="34" charset="-120"/>
              </a:rPr>
              <a:t>10:00 PM</a:t>
            </a:r>
            <a:r>
              <a:rPr lang="en-US" sz="950">
                <a:solidFill>
                  <a:srgbClr val="000000"/>
                </a:solidFill>
                <a:latin typeface="Source Sans 3" pitchFamily="34" charset="0"/>
                <a:ea typeface="Source Sans 3" pitchFamily="34" charset="-122"/>
                <a:cs typeface="Source Sans 3" pitchFamily="34" charset="-120"/>
              </a:rPr>
              <a:t>, your focus consistently dips during this period."</a:t>
            </a:r>
            <a:endParaRPr lang="en-US" sz="950"/>
          </a:p>
        </p:txBody>
      </p:sp>
      <p:sp>
        <p:nvSpPr>
          <p:cNvPr id="63" name="Shape 12">
            <a:extLst>
              <a:ext uri="{FF2B5EF4-FFF2-40B4-BE49-F238E27FC236}">
                <a16:creationId xmlns:a16="http://schemas.microsoft.com/office/drawing/2014/main" id="{8EBAB40E-5190-4F73-BC4F-78FC73514AE7}"/>
              </a:ext>
            </a:extLst>
          </p:cNvPr>
          <p:cNvSpPr/>
          <p:nvPr/>
        </p:nvSpPr>
        <p:spPr>
          <a:xfrm>
            <a:off x="555188" y="4553935"/>
            <a:ext cx="15240" cy="481251"/>
          </a:xfrm>
          <a:prstGeom prst="rect">
            <a:avLst/>
          </a:prstGeom>
          <a:solidFill>
            <a:srgbClr val="FFFFFF"/>
          </a:solidFill>
          <a:ln/>
        </p:spPr>
        <p:txBody>
          <a:bodyPr/>
          <a:lstStyle/>
          <a:p>
            <a:endParaRPr lang="en-US"/>
          </a:p>
        </p:txBody>
      </p:sp>
      <p:pic>
        <p:nvPicPr>
          <p:cNvPr id="64" name="Image 3" descr="preencoded.png">
            <a:extLst>
              <a:ext uri="{FF2B5EF4-FFF2-40B4-BE49-F238E27FC236}">
                <a16:creationId xmlns:a16="http://schemas.microsoft.com/office/drawing/2014/main" id="{E5C4143E-C07A-4936-9294-F888C3BA4CD2}"/>
              </a:ext>
            </a:extLst>
          </p:cNvPr>
          <p:cNvPicPr>
            <a:picLocks noChangeAspect="1"/>
          </p:cNvPicPr>
          <p:nvPr/>
        </p:nvPicPr>
        <p:blipFill>
          <a:blip r:embed="rId6"/>
          <a:stretch>
            <a:fillRect/>
          </a:stretch>
        </p:blipFill>
        <p:spPr>
          <a:xfrm>
            <a:off x="9759744" y="3317165"/>
            <a:ext cx="4166606" cy="4166606"/>
          </a:xfrm>
          <a:prstGeom prst="rect">
            <a:avLst/>
          </a:prstGeom>
        </p:spPr>
      </p:pic>
      <p:sp>
        <p:nvSpPr>
          <p:cNvPr id="20" name="Text 10">
            <a:extLst>
              <a:ext uri="{FF2B5EF4-FFF2-40B4-BE49-F238E27FC236}">
                <a16:creationId xmlns:a16="http://schemas.microsoft.com/office/drawing/2014/main" id="{43BF75CF-1126-4871-B711-591507769547}"/>
              </a:ext>
            </a:extLst>
          </p:cNvPr>
          <p:cNvSpPr/>
          <p:nvPr/>
        </p:nvSpPr>
        <p:spPr>
          <a:xfrm>
            <a:off x="2390114" y="5045427"/>
            <a:ext cx="4425672" cy="237530"/>
          </a:xfrm>
          <a:prstGeom prst="rect">
            <a:avLst/>
          </a:prstGeom>
          <a:noFill/>
          <a:ln/>
        </p:spPr>
        <p:txBody>
          <a:bodyPr wrap="none" lIns="0" tIns="0" rIns="0" bIns="0" rtlCol="0" anchor="t"/>
          <a:lstStyle/>
          <a:p>
            <a:pPr marL="0" indent="0" algn="ctr">
              <a:lnSpc>
                <a:spcPts val="1850"/>
              </a:lnSpc>
              <a:buNone/>
            </a:pPr>
            <a:r>
              <a:rPr lang="en-US" sz="1450" b="1">
                <a:solidFill>
                  <a:srgbClr val="FFFFFF"/>
                </a:solidFill>
                <a:latin typeface="Montserrat Bold" pitchFamily="34" charset="0"/>
                <a:ea typeface="Montserrat Bold" pitchFamily="34" charset="-122"/>
                <a:cs typeface="Montserrat Bold" pitchFamily="34" charset="-120"/>
              </a:rPr>
              <a:t>Seamless Integration for Enhanced Learning</a:t>
            </a:r>
            <a:endParaRPr lang="en-US" sz="1450"/>
          </a:p>
        </p:txBody>
      </p:sp>
      <p:sp>
        <p:nvSpPr>
          <p:cNvPr id="23" name="Rectangle 22">
            <a:extLst>
              <a:ext uri="{FF2B5EF4-FFF2-40B4-BE49-F238E27FC236}">
                <a16:creationId xmlns:a16="http://schemas.microsoft.com/office/drawing/2014/main" id="{EDCCD971-E344-417D-BC96-46BC5532CB7B}"/>
              </a:ext>
            </a:extLst>
          </p:cNvPr>
          <p:cNvSpPr/>
          <p:nvPr/>
        </p:nvSpPr>
        <p:spPr>
          <a:xfrm>
            <a:off x="3158922" y="7791449"/>
            <a:ext cx="11471477" cy="438150"/>
          </a:xfrm>
          <a:prstGeom prst="rect">
            <a:avLst/>
          </a:prstGeom>
          <a:solidFill>
            <a:srgbClr val="1D1F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r>
              <a:rPr kumimoji="0" lang="en-US" sz="2160" b="1" i="0" u="none" strike="noStrike" kern="1200" cap="none" spc="0" normalizeH="0" baseline="0" noProof="0">
                <a:ln>
                  <a:noFill/>
                </a:ln>
                <a:solidFill>
                  <a:prstClr val="white"/>
                </a:solidFill>
                <a:effectLst/>
                <a:uLnTx/>
                <a:uFillTx/>
                <a:latin typeface="Cambria"/>
                <a:ea typeface="+mn-ea"/>
                <a:cs typeface="+mn-cs"/>
              </a:rPr>
              <a:t>IT22276582</a:t>
            </a:r>
            <a:r>
              <a:rPr kumimoji="0" lang="en-US" sz="2160" b="0" i="0" u="none" strike="noStrike" kern="1200" cap="none" spc="0" normalizeH="0" baseline="0" noProof="0">
                <a:ln>
                  <a:noFill/>
                </a:ln>
                <a:solidFill>
                  <a:prstClr val="white"/>
                </a:solidFill>
                <a:effectLst/>
                <a:uLnTx/>
                <a:uFillTx/>
                <a:latin typeface="Cambria"/>
                <a:ea typeface="+mn-ea"/>
                <a:cs typeface="+mn-cs"/>
              </a:rPr>
              <a:t>  |  Yasasvin W.M.Y</a:t>
            </a:r>
            <a:r>
              <a:rPr kumimoji="0" lang="en-US" sz="2160" b="1" i="0" u="none" strike="noStrike" kern="1200" cap="none" spc="0" normalizeH="0" baseline="0" noProof="0">
                <a:ln>
                  <a:noFill/>
                </a:ln>
                <a:solidFill>
                  <a:prstClr val="white"/>
                </a:solidFill>
                <a:effectLst/>
                <a:uLnTx/>
                <a:uFillTx/>
                <a:latin typeface="Cambria"/>
                <a:ea typeface="+mn-ea"/>
                <a:cs typeface="+mn-cs"/>
              </a:rPr>
              <a:t>   </a:t>
            </a:r>
            <a:r>
              <a:rPr kumimoji="0" lang="en-US" sz="2160" b="0" i="0" u="none" strike="noStrike" kern="1200" cap="none" spc="0" normalizeH="0" baseline="0" noProof="0">
                <a:ln>
                  <a:noFill/>
                </a:ln>
                <a:solidFill>
                  <a:prstClr val="white"/>
                </a:solidFill>
                <a:effectLst/>
                <a:uLnTx/>
                <a:uFillTx/>
                <a:latin typeface="Cambria"/>
                <a:ea typeface="+mn-ea"/>
                <a:cs typeface="+mn-cs"/>
              </a:rPr>
              <a:t>|   25-26J-458</a:t>
            </a:r>
          </a:p>
        </p:txBody>
      </p:sp>
      <p:pic>
        <p:nvPicPr>
          <p:cNvPr id="24" name="Picture 23">
            <a:extLst>
              <a:ext uri="{FF2B5EF4-FFF2-40B4-BE49-F238E27FC236}">
                <a16:creationId xmlns:a16="http://schemas.microsoft.com/office/drawing/2014/main" id="{192A7608-5FC8-4737-A257-3754F151C912}"/>
              </a:ext>
            </a:extLst>
          </p:cNvPr>
          <p:cNvPicPr>
            <a:picLocks noChangeAspect="1"/>
          </p:cNvPicPr>
          <p:nvPr/>
        </p:nvPicPr>
        <p:blipFill>
          <a:blip r:embed="rId7"/>
          <a:stretch>
            <a:fillRect/>
          </a:stretch>
        </p:blipFill>
        <p:spPr>
          <a:xfrm>
            <a:off x="82192" y="7692983"/>
            <a:ext cx="3076730" cy="466725"/>
          </a:xfrm>
          <a:prstGeom prst="rect">
            <a:avLst/>
          </a:prstGeom>
        </p:spPr>
      </p:pic>
    </p:spTree>
    <p:extLst>
      <p:ext uri="{BB962C8B-B14F-4D97-AF65-F5344CB8AC3E}">
        <p14:creationId xmlns:p14="http://schemas.microsoft.com/office/powerpoint/2010/main" val="3769162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D5DFE9E-C43D-4EBF-A646-8C80759C8A63}"/>
              </a:ext>
            </a:extLst>
          </p:cNvPr>
          <p:cNvSpPr/>
          <p:nvPr/>
        </p:nvSpPr>
        <p:spPr>
          <a:xfrm>
            <a:off x="431840" y="339328"/>
            <a:ext cx="7767757" cy="350639"/>
          </a:xfrm>
          <a:prstGeom prst="rect">
            <a:avLst/>
          </a:prstGeom>
          <a:noFill/>
          <a:ln/>
        </p:spPr>
        <p:txBody>
          <a:bodyPr wrap="none" lIns="0" tIns="0" rIns="0" bIns="0" rtlCol="0" anchor="t"/>
          <a:lstStyle/>
          <a:p>
            <a:pPr marL="0" indent="0" algn="l">
              <a:lnSpc>
                <a:spcPts val="2750"/>
              </a:lnSpc>
              <a:buNone/>
            </a:pPr>
            <a:r>
              <a:rPr lang="en-US" sz="2200" b="1">
                <a:solidFill>
                  <a:srgbClr val="FFFFFF"/>
                </a:solidFill>
                <a:latin typeface="Montserrat Bold" pitchFamily="34" charset="0"/>
                <a:ea typeface="Montserrat Bold" pitchFamily="34" charset="-122"/>
                <a:cs typeface="Montserrat Bold" pitchFamily="34" charset="-120"/>
              </a:rPr>
              <a:t>Smart Study Scheduler: Commercialization &amp; Growth</a:t>
            </a:r>
            <a:endParaRPr lang="en-US" sz="2200"/>
          </a:p>
        </p:txBody>
      </p:sp>
      <p:sp>
        <p:nvSpPr>
          <p:cNvPr id="3" name="Text 1">
            <a:extLst>
              <a:ext uri="{FF2B5EF4-FFF2-40B4-BE49-F238E27FC236}">
                <a16:creationId xmlns:a16="http://schemas.microsoft.com/office/drawing/2014/main" id="{DFAFDA55-FB24-4DD6-A319-9823E4916ED7}"/>
              </a:ext>
            </a:extLst>
          </p:cNvPr>
          <p:cNvSpPr/>
          <p:nvPr/>
        </p:nvSpPr>
        <p:spPr>
          <a:xfrm>
            <a:off x="431840" y="936784"/>
            <a:ext cx="13766721" cy="185142"/>
          </a:xfrm>
          <a:prstGeom prst="rect">
            <a:avLst/>
          </a:prstGeom>
          <a:noFill/>
          <a:ln/>
        </p:spPr>
        <p:txBody>
          <a:bodyPr wrap="none" lIns="0" tIns="0" rIns="0" bIns="0" rtlCol="0" anchor="t"/>
          <a:lstStyle/>
          <a:p>
            <a:pPr marL="0" indent="0" algn="l">
              <a:lnSpc>
                <a:spcPts val="1450"/>
              </a:lnSpc>
              <a:buNone/>
            </a:pPr>
            <a:r>
              <a:rPr lang="en-US" sz="950">
                <a:solidFill>
                  <a:srgbClr val="E2E6E9"/>
                </a:solidFill>
                <a:latin typeface="Source Sans 3" pitchFamily="34" charset="0"/>
                <a:ea typeface="Source Sans 3" pitchFamily="34" charset="-122"/>
                <a:cs typeface="Source Sans 3" pitchFamily="34" charset="-120"/>
              </a:rPr>
              <a:t>This AI-driven solution offers significant market potential, providing personalized learning benefits across diverse educational sectors and fostering academic success.</a:t>
            </a:r>
            <a:endParaRPr lang="en-US" sz="950"/>
          </a:p>
        </p:txBody>
      </p:sp>
      <p:sp>
        <p:nvSpPr>
          <p:cNvPr id="4" name="Text 2">
            <a:extLst>
              <a:ext uri="{FF2B5EF4-FFF2-40B4-BE49-F238E27FC236}">
                <a16:creationId xmlns:a16="http://schemas.microsoft.com/office/drawing/2014/main" id="{55B810DE-0A12-4D28-BEE6-BFC09326EB2B}"/>
              </a:ext>
            </a:extLst>
          </p:cNvPr>
          <p:cNvSpPr/>
          <p:nvPr/>
        </p:nvSpPr>
        <p:spPr>
          <a:xfrm>
            <a:off x="372337" y="1913649"/>
            <a:ext cx="2614136" cy="210264"/>
          </a:xfrm>
          <a:prstGeom prst="rect">
            <a:avLst/>
          </a:prstGeom>
          <a:noFill/>
          <a:ln/>
        </p:spPr>
        <p:txBody>
          <a:bodyPr wrap="none" lIns="0" tIns="0" rIns="0" bIns="0" rtlCol="0" anchor="t"/>
          <a:lstStyle/>
          <a:p>
            <a:pPr marL="0" indent="0" algn="l">
              <a:lnSpc>
                <a:spcPts val="1650"/>
              </a:lnSpc>
              <a:buNone/>
            </a:pPr>
            <a:r>
              <a:rPr lang="en-US" sz="1300" b="1">
                <a:solidFill>
                  <a:srgbClr val="FFFFFF"/>
                </a:solidFill>
                <a:latin typeface="Montserrat Bold" pitchFamily="34" charset="0"/>
                <a:ea typeface="Montserrat Bold" pitchFamily="34" charset="-122"/>
                <a:cs typeface="Montserrat Bold" pitchFamily="34" charset="-120"/>
              </a:rPr>
              <a:t>Market Opportunities &amp; Value</a:t>
            </a:r>
            <a:endParaRPr lang="en-US" sz="1300"/>
          </a:p>
        </p:txBody>
      </p:sp>
      <p:sp>
        <p:nvSpPr>
          <p:cNvPr id="5" name="Text 3">
            <a:extLst>
              <a:ext uri="{FF2B5EF4-FFF2-40B4-BE49-F238E27FC236}">
                <a16:creationId xmlns:a16="http://schemas.microsoft.com/office/drawing/2014/main" id="{A36D386E-367D-47AE-BAE9-4591212E00D5}"/>
              </a:ext>
            </a:extLst>
          </p:cNvPr>
          <p:cNvSpPr/>
          <p:nvPr/>
        </p:nvSpPr>
        <p:spPr>
          <a:xfrm>
            <a:off x="372337" y="2247262"/>
            <a:ext cx="7436168" cy="370284"/>
          </a:xfrm>
          <a:prstGeom prst="rect">
            <a:avLst/>
          </a:prstGeom>
          <a:noFill/>
          <a:ln/>
        </p:spPr>
        <p:txBody>
          <a:bodyPr wrap="square" lIns="0" tIns="0" rIns="0" bIns="0" rtlCol="0" anchor="t"/>
          <a:lstStyle/>
          <a:p>
            <a:pPr marL="0" indent="0" algn="l">
              <a:lnSpc>
                <a:spcPts val="1450"/>
              </a:lnSpc>
              <a:buNone/>
            </a:pPr>
            <a:r>
              <a:rPr lang="en-US" sz="950">
                <a:solidFill>
                  <a:srgbClr val="E2E6E9"/>
                </a:solidFill>
                <a:latin typeface="Source Sans 3" pitchFamily="34" charset="0"/>
                <a:ea typeface="Source Sans 3" pitchFamily="34" charset="-122"/>
                <a:cs typeface="Source Sans 3" pitchFamily="34" charset="-120"/>
              </a:rPr>
              <a:t>Our unique, adaptive scheduling can transform productivity for students and institutions. It's a lightweight tool, delivering measurable academic improvements by aligning study times with peak cognitive states.</a:t>
            </a:r>
            <a:endParaRPr lang="en-US" sz="950"/>
          </a:p>
        </p:txBody>
      </p:sp>
      <p:sp>
        <p:nvSpPr>
          <p:cNvPr id="6" name="Shape 4">
            <a:extLst>
              <a:ext uri="{FF2B5EF4-FFF2-40B4-BE49-F238E27FC236}">
                <a16:creationId xmlns:a16="http://schemas.microsoft.com/office/drawing/2014/main" id="{DE230144-90BB-441F-847F-8C400EA67D60}"/>
              </a:ext>
            </a:extLst>
          </p:cNvPr>
          <p:cNvSpPr/>
          <p:nvPr/>
        </p:nvSpPr>
        <p:spPr>
          <a:xfrm>
            <a:off x="442048" y="2818064"/>
            <a:ext cx="7436168" cy="22979"/>
          </a:xfrm>
          <a:prstGeom prst="rect">
            <a:avLst/>
          </a:prstGeom>
          <a:solidFill>
            <a:srgbClr val="E2E6E9">
              <a:alpha val="50000"/>
            </a:srgbClr>
          </a:solidFill>
          <a:ln/>
        </p:spPr>
        <p:txBody>
          <a:bodyPr/>
          <a:lstStyle/>
          <a:p>
            <a:endParaRPr lang="en-US"/>
          </a:p>
        </p:txBody>
      </p:sp>
      <p:pic>
        <p:nvPicPr>
          <p:cNvPr id="7" name="Image 1" descr="preencoded.png">
            <a:extLst>
              <a:ext uri="{FF2B5EF4-FFF2-40B4-BE49-F238E27FC236}">
                <a16:creationId xmlns:a16="http://schemas.microsoft.com/office/drawing/2014/main" id="{47D724F8-FD5D-46C8-B849-21AE75CC2CE0}"/>
              </a:ext>
            </a:extLst>
          </p:cNvPr>
          <p:cNvPicPr>
            <a:picLocks noChangeAspect="1"/>
          </p:cNvPicPr>
          <p:nvPr/>
        </p:nvPicPr>
        <p:blipFill>
          <a:blip r:embed="rId2"/>
          <a:stretch>
            <a:fillRect/>
          </a:stretch>
        </p:blipFill>
        <p:spPr>
          <a:xfrm>
            <a:off x="8099405" y="1430417"/>
            <a:ext cx="6029444" cy="4125397"/>
          </a:xfrm>
          <a:prstGeom prst="rect">
            <a:avLst/>
          </a:prstGeom>
        </p:spPr>
      </p:pic>
      <p:sp>
        <p:nvSpPr>
          <p:cNvPr id="8" name="Shape 11">
            <a:extLst>
              <a:ext uri="{FF2B5EF4-FFF2-40B4-BE49-F238E27FC236}">
                <a16:creationId xmlns:a16="http://schemas.microsoft.com/office/drawing/2014/main" id="{FAE74669-B2DB-404C-B667-230C390E1595}"/>
              </a:ext>
            </a:extLst>
          </p:cNvPr>
          <p:cNvSpPr/>
          <p:nvPr/>
        </p:nvSpPr>
        <p:spPr>
          <a:xfrm>
            <a:off x="372337" y="3188272"/>
            <a:ext cx="6029444" cy="2031564"/>
          </a:xfrm>
          <a:prstGeom prst="roundRect">
            <a:avLst>
              <a:gd name="adj" fmla="val 631"/>
            </a:avLst>
          </a:prstGeom>
          <a:solidFill>
            <a:srgbClr val="303132"/>
          </a:solidFill>
          <a:ln/>
        </p:spPr>
        <p:txBody>
          <a:bodyPr/>
          <a:lstStyle/>
          <a:p>
            <a:endParaRPr lang="en-US"/>
          </a:p>
        </p:txBody>
      </p:sp>
      <p:sp>
        <p:nvSpPr>
          <p:cNvPr id="9" name="Shape 12">
            <a:extLst>
              <a:ext uri="{FF2B5EF4-FFF2-40B4-BE49-F238E27FC236}">
                <a16:creationId xmlns:a16="http://schemas.microsoft.com/office/drawing/2014/main" id="{A1A49083-FCEE-4359-9BC4-13B9DD7413EB}"/>
              </a:ext>
            </a:extLst>
          </p:cNvPr>
          <p:cNvSpPr/>
          <p:nvPr/>
        </p:nvSpPr>
        <p:spPr>
          <a:xfrm>
            <a:off x="372337" y="3188272"/>
            <a:ext cx="6029444" cy="915591"/>
          </a:xfrm>
          <a:prstGeom prst="roundRect">
            <a:avLst>
              <a:gd name="adj" fmla="val 2022"/>
            </a:avLst>
          </a:prstGeom>
          <a:solidFill>
            <a:srgbClr val="AFCBF8"/>
          </a:solidFill>
          <a:ln/>
        </p:spPr>
        <p:txBody>
          <a:bodyPr/>
          <a:lstStyle/>
          <a:p>
            <a:endParaRPr lang="en-US"/>
          </a:p>
        </p:txBody>
      </p:sp>
      <p:sp>
        <p:nvSpPr>
          <p:cNvPr id="10" name="Text 13">
            <a:extLst>
              <a:ext uri="{FF2B5EF4-FFF2-40B4-BE49-F238E27FC236}">
                <a16:creationId xmlns:a16="http://schemas.microsoft.com/office/drawing/2014/main" id="{D9C11ECE-6906-461B-83FF-A1957F943E82}"/>
              </a:ext>
            </a:extLst>
          </p:cNvPr>
          <p:cNvSpPr/>
          <p:nvPr/>
        </p:nvSpPr>
        <p:spPr>
          <a:xfrm>
            <a:off x="495686" y="3311621"/>
            <a:ext cx="1402437" cy="175260"/>
          </a:xfrm>
          <a:prstGeom prst="rect">
            <a:avLst/>
          </a:prstGeom>
          <a:noFill/>
          <a:ln/>
        </p:spPr>
        <p:txBody>
          <a:bodyPr wrap="none" lIns="0" tIns="0" rIns="0" bIns="0" rtlCol="0" anchor="t"/>
          <a:lstStyle/>
          <a:p>
            <a:pPr marL="0" indent="0" algn="l">
              <a:lnSpc>
                <a:spcPts val="1350"/>
              </a:lnSpc>
              <a:buNone/>
            </a:pPr>
            <a:r>
              <a:rPr lang="en-US" sz="1100" b="1">
                <a:solidFill>
                  <a:srgbClr val="000000"/>
                </a:solidFill>
                <a:latin typeface="Montserrat Bold" pitchFamily="34" charset="0"/>
                <a:ea typeface="Montserrat Bold" pitchFamily="34" charset="-122"/>
                <a:cs typeface="Montserrat Bold" pitchFamily="34" charset="-120"/>
              </a:rPr>
              <a:t>Target: Students</a:t>
            </a:r>
            <a:endParaRPr lang="en-US" sz="1100"/>
          </a:p>
        </p:txBody>
      </p:sp>
      <p:sp>
        <p:nvSpPr>
          <p:cNvPr id="11" name="Text 14">
            <a:extLst>
              <a:ext uri="{FF2B5EF4-FFF2-40B4-BE49-F238E27FC236}">
                <a16:creationId xmlns:a16="http://schemas.microsoft.com/office/drawing/2014/main" id="{C4DDEE40-AA19-4345-97A9-B73AEB3318E5}"/>
              </a:ext>
            </a:extLst>
          </p:cNvPr>
          <p:cNvSpPr/>
          <p:nvPr/>
        </p:nvSpPr>
        <p:spPr>
          <a:xfrm>
            <a:off x="495686" y="3610230"/>
            <a:ext cx="5782747" cy="185142"/>
          </a:xfrm>
          <a:prstGeom prst="rect">
            <a:avLst/>
          </a:prstGeom>
          <a:noFill/>
          <a:ln/>
        </p:spPr>
        <p:txBody>
          <a:bodyPr wrap="none" lIns="0" tIns="0" rIns="0" bIns="0" rtlCol="0" anchor="t"/>
          <a:lstStyle/>
          <a:p>
            <a:pPr marL="0" indent="0" algn="l">
              <a:lnSpc>
                <a:spcPts val="1450"/>
              </a:lnSpc>
              <a:buNone/>
            </a:pPr>
            <a:r>
              <a:rPr lang="en-US" sz="950">
                <a:solidFill>
                  <a:srgbClr val="000000"/>
                </a:solidFill>
                <a:latin typeface="Source Sans 3" pitchFamily="34" charset="0"/>
                <a:ea typeface="Source Sans 3" pitchFamily="34" charset="-122"/>
                <a:cs typeface="Source Sans 3" pitchFamily="34" charset="-120"/>
              </a:rPr>
              <a:t>Enhancing individual academic performance and well-being.</a:t>
            </a:r>
            <a:endParaRPr lang="en-US" sz="950"/>
          </a:p>
        </p:txBody>
      </p:sp>
      <p:sp>
        <p:nvSpPr>
          <p:cNvPr id="12" name="Shape 15">
            <a:extLst>
              <a:ext uri="{FF2B5EF4-FFF2-40B4-BE49-F238E27FC236}">
                <a16:creationId xmlns:a16="http://schemas.microsoft.com/office/drawing/2014/main" id="{5455C340-B2AE-4398-9583-3A728ADA1016}"/>
              </a:ext>
            </a:extLst>
          </p:cNvPr>
          <p:cNvSpPr/>
          <p:nvPr/>
        </p:nvSpPr>
        <p:spPr>
          <a:xfrm>
            <a:off x="372337" y="4103863"/>
            <a:ext cx="6029444" cy="1100733"/>
          </a:xfrm>
          <a:prstGeom prst="rect">
            <a:avLst/>
          </a:prstGeom>
          <a:solidFill>
            <a:srgbClr val="AFCBF8"/>
          </a:solidFill>
          <a:ln/>
        </p:spPr>
        <p:txBody>
          <a:bodyPr/>
          <a:lstStyle/>
          <a:p>
            <a:endParaRPr lang="en-US"/>
          </a:p>
        </p:txBody>
      </p:sp>
      <p:sp>
        <p:nvSpPr>
          <p:cNvPr id="13" name="Shape 16">
            <a:extLst>
              <a:ext uri="{FF2B5EF4-FFF2-40B4-BE49-F238E27FC236}">
                <a16:creationId xmlns:a16="http://schemas.microsoft.com/office/drawing/2014/main" id="{99A779E8-BB01-4E92-9BBF-8F5757FD4EE4}"/>
              </a:ext>
            </a:extLst>
          </p:cNvPr>
          <p:cNvSpPr/>
          <p:nvPr/>
        </p:nvSpPr>
        <p:spPr>
          <a:xfrm>
            <a:off x="372337" y="4103863"/>
            <a:ext cx="6029444" cy="15240"/>
          </a:xfrm>
          <a:prstGeom prst="roundRect">
            <a:avLst>
              <a:gd name="adj" fmla="val 121472"/>
            </a:avLst>
          </a:prstGeom>
          <a:solidFill>
            <a:srgbClr val="95B1DE"/>
          </a:solidFill>
          <a:ln/>
        </p:spPr>
        <p:txBody>
          <a:bodyPr/>
          <a:lstStyle/>
          <a:p>
            <a:endParaRPr lang="en-US"/>
          </a:p>
        </p:txBody>
      </p:sp>
      <p:sp>
        <p:nvSpPr>
          <p:cNvPr id="14" name="Shape 17">
            <a:extLst>
              <a:ext uri="{FF2B5EF4-FFF2-40B4-BE49-F238E27FC236}">
                <a16:creationId xmlns:a16="http://schemas.microsoft.com/office/drawing/2014/main" id="{2A434BF6-A6BB-44DF-A0F1-1EE0120281A8}"/>
              </a:ext>
            </a:extLst>
          </p:cNvPr>
          <p:cNvSpPr/>
          <p:nvPr/>
        </p:nvSpPr>
        <p:spPr>
          <a:xfrm>
            <a:off x="3232695" y="3957237"/>
            <a:ext cx="308491" cy="308491"/>
          </a:xfrm>
          <a:prstGeom prst="roundRect">
            <a:avLst>
              <a:gd name="adj" fmla="val 6001"/>
            </a:avLst>
          </a:prstGeom>
          <a:solidFill>
            <a:srgbClr val="111213"/>
          </a:solidFill>
          <a:ln w="15240">
            <a:solidFill>
              <a:srgbClr val="95B1DE"/>
            </a:solidFill>
            <a:prstDash val="solid"/>
          </a:ln>
        </p:spPr>
        <p:txBody>
          <a:bodyPr/>
          <a:lstStyle/>
          <a:p>
            <a:endParaRPr lang="en-US"/>
          </a:p>
        </p:txBody>
      </p:sp>
      <p:pic>
        <p:nvPicPr>
          <p:cNvPr id="15" name="Image 2" descr="preencoded.png">
            <a:extLst>
              <a:ext uri="{FF2B5EF4-FFF2-40B4-BE49-F238E27FC236}">
                <a16:creationId xmlns:a16="http://schemas.microsoft.com/office/drawing/2014/main" id="{2D88F451-2C48-4482-BE98-F3E24DBEB783}"/>
              </a:ext>
            </a:extLst>
          </p:cNvPr>
          <p:cNvPicPr>
            <a:picLocks noChangeAspect="1"/>
          </p:cNvPicPr>
          <p:nvPr/>
        </p:nvPicPr>
        <p:blipFill>
          <a:blip r:embed="rId3"/>
          <a:stretch>
            <a:fillRect/>
          </a:stretch>
        </p:blipFill>
        <p:spPr>
          <a:xfrm>
            <a:off x="3309847" y="4015102"/>
            <a:ext cx="154186" cy="192762"/>
          </a:xfrm>
          <a:prstGeom prst="rect">
            <a:avLst/>
          </a:prstGeom>
        </p:spPr>
      </p:pic>
      <p:sp>
        <p:nvSpPr>
          <p:cNvPr id="16" name="Text 18">
            <a:extLst>
              <a:ext uri="{FF2B5EF4-FFF2-40B4-BE49-F238E27FC236}">
                <a16:creationId xmlns:a16="http://schemas.microsoft.com/office/drawing/2014/main" id="{D2538D5B-44D7-4D38-8982-DB7B124A3A06}"/>
              </a:ext>
            </a:extLst>
          </p:cNvPr>
          <p:cNvSpPr/>
          <p:nvPr/>
        </p:nvSpPr>
        <p:spPr>
          <a:xfrm>
            <a:off x="495686" y="4412354"/>
            <a:ext cx="1402437" cy="175260"/>
          </a:xfrm>
          <a:prstGeom prst="rect">
            <a:avLst/>
          </a:prstGeom>
          <a:noFill/>
          <a:ln/>
        </p:spPr>
        <p:txBody>
          <a:bodyPr wrap="none" lIns="0" tIns="0" rIns="0" bIns="0" rtlCol="0" anchor="t"/>
          <a:lstStyle/>
          <a:p>
            <a:pPr marL="0" indent="0" algn="l">
              <a:lnSpc>
                <a:spcPts val="1350"/>
              </a:lnSpc>
              <a:buNone/>
            </a:pPr>
            <a:r>
              <a:rPr lang="en-US" sz="1100" b="1">
                <a:solidFill>
                  <a:srgbClr val="000000"/>
                </a:solidFill>
                <a:latin typeface="Montserrat Bold" pitchFamily="34" charset="0"/>
                <a:ea typeface="Montserrat Bold" pitchFamily="34" charset="-122"/>
                <a:cs typeface="Montserrat Bold" pitchFamily="34" charset="-120"/>
              </a:rPr>
              <a:t>Target: Institutions</a:t>
            </a:r>
            <a:endParaRPr lang="en-US" sz="1100"/>
          </a:p>
        </p:txBody>
      </p:sp>
      <p:sp>
        <p:nvSpPr>
          <p:cNvPr id="17" name="Text 19">
            <a:extLst>
              <a:ext uri="{FF2B5EF4-FFF2-40B4-BE49-F238E27FC236}">
                <a16:creationId xmlns:a16="http://schemas.microsoft.com/office/drawing/2014/main" id="{0E3016CE-5E1C-41AF-8489-EEE351715891}"/>
              </a:ext>
            </a:extLst>
          </p:cNvPr>
          <p:cNvSpPr/>
          <p:nvPr/>
        </p:nvSpPr>
        <p:spPr>
          <a:xfrm>
            <a:off x="495686" y="4710962"/>
            <a:ext cx="5782747" cy="185142"/>
          </a:xfrm>
          <a:prstGeom prst="rect">
            <a:avLst/>
          </a:prstGeom>
          <a:noFill/>
          <a:ln/>
        </p:spPr>
        <p:txBody>
          <a:bodyPr wrap="none" lIns="0" tIns="0" rIns="0" bIns="0" rtlCol="0" anchor="t"/>
          <a:lstStyle/>
          <a:p>
            <a:pPr marL="0" indent="0" algn="l">
              <a:lnSpc>
                <a:spcPts val="1450"/>
              </a:lnSpc>
              <a:buNone/>
            </a:pPr>
            <a:r>
              <a:rPr lang="en-US" sz="950">
                <a:solidFill>
                  <a:srgbClr val="000000"/>
                </a:solidFill>
                <a:latin typeface="Source Sans 3" pitchFamily="34" charset="0"/>
                <a:ea typeface="Source Sans 3" pitchFamily="34" charset="-122"/>
                <a:cs typeface="Source Sans 3" pitchFamily="34" charset="-120"/>
              </a:rPr>
              <a:t>Bulk licensing for improved student retention and success rates.</a:t>
            </a:r>
            <a:endParaRPr lang="en-US" sz="950"/>
          </a:p>
        </p:txBody>
      </p:sp>
      <p:sp>
        <p:nvSpPr>
          <p:cNvPr id="19" name="Shape 21">
            <a:extLst>
              <a:ext uri="{FF2B5EF4-FFF2-40B4-BE49-F238E27FC236}">
                <a16:creationId xmlns:a16="http://schemas.microsoft.com/office/drawing/2014/main" id="{712E5965-F840-48A1-871E-79E48F66668B}"/>
              </a:ext>
            </a:extLst>
          </p:cNvPr>
          <p:cNvSpPr/>
          <p:nvPr/>
        </p:nvSpPr>
        <p:spPr>
          <a:xfrm>
            <a:off x="372337" y="5204596"/>
            <a:ext cx="6029444" cy="15240"/>
          </a:xfrm>
          <a:prstGeom prst="roundRect">
            <a:avLst>
              <a:gd name="adj" fmla="val 121472"/>
            </a:avLst>
          </a:prstGeom>
          <a:solidFill>
            <a:srgbClr val="95B1DE"/>
          </a:solidFill>
          <a:ln/>
        </p:spPr>
        <p:txBody>
          <a:bodyPr/>
          <a:lstStyle/>
          <a:p>
            <a:endParaRPr lang="en-US"/>
          </a:p>
        </p:txBody>
      </p:sp>
      <p:sp>
        <p:nvSpPr>
          <p:cNvPr id="20" name="Shape 22">
            <a:extLst>
              <a:ext uri="{FF2B5EF4-FFF2-40B4-BE49-F238E27FC236}">
                <a16:creationId xmlns:a16="http://schemas.microsoft.com/office/drawing/2014/main" id="{A1EAAF9B-9D8D-4EF7-99BB-CCABC446850E}"/>
              </a:ext>
            </a:extLst>
          </p:cNvPr>
          <p:cNvSpPr/>
          <p:nvPr/>
        </p:nvSpPr>
        <p:spPr>
          <a:xfrm>
            <a:off x="3232695" y="5057970"/>
            <a:ext cx="308491" cy="308491"/>
          </a:xfrm>
          <a:prstGeom prst="roundRect">
            <a:avLst>
              <a:gd name="adj" fmla="val 6001"/>
            </a:avLst>
          </a:prstGeom>
          <a:solidFill>
            <a:srgbClr val="111213"/>
          </a:solidFill>
          <a:ln w="15240">
            <a:solidFill>
              <a:srgbClr val="95B1DE"/>
            </a:solidFill>
            <a:prstDash val="solid"/>
          </a:ln>
        </p:spPr>
        <p:txBody>
          <a:bodyPr/>
          <a:lstStyle/>
          <a:p>
            <a:endParaRPr lang="en-US"/>
          </a:p>
        </p:txBody>
      </p:sp>
      <p:pic>
        <p:nvPicPr>
          <p:cNvPr id="21" name="Image 3" descr="preencoded.png">
            <a:extLst>
              <a:ext uri="{FF2B5EF4-FFF2-40B4-BE49-F238E27FC236}">
                <a16:creationId xmlns:a16="http://schemas.microsoft.com/office/drawing/2014/main" id="{A68840DC-4034-41F3-8C00-F42C4D209057}"/>
              </a:ext>
            </a:extLst>
          </p:cNvPr>
          <p:cNvPicPr>
            <a:picLocks noChangeAspect="1"/>
          </p:cNvPicPr>
          <p:nvPr/>
        </p:nvPicPr>
        <p:blipFill>
          <a:blip r:embed="rId4"/>
          <a:stretch>
            <a:fillRect/>
          </a:stretch>
        </p:blipFill>
        <p:spPr>
          <a:xfrm>
            <a:off x="3309847" y="5115834"/>
            <a:ext cx="154186" cy="192762"/>
          </a:xfrm>
          <a:prstGeom prst="rect">
            <a:avLst/>
          </a:prstGeom>
        </p:spPr>
      </p:pic>
      <p:sp>
        <p:nvSpPr>
          <p:cNvPr id="24" name="Rectangle 23">
            <a:extLst>
              <a:ext uri="{FF2B5EF4-FFF2-40B4-BE49-F238E27FC236}">
                <a16:creationId xmlns:a16="http://schemas.microsoft.com/office/drawing/2014/main" id="{A893330F-51A8-4D0F-8070-566EAF56DCAF}"/>
              </a:ext>
            </a:extLst>
          </p:cNvPr>
          <p:cNvSpPr/>
          <p:nvPr/>
        </p:nvSpPr>
        <p:spPr>
          <a:xfrm>
            <a:off x="3158922" y="7791449"/>
            <a:ext cx="11471477" cy="438150"/>
          </a:xfrm>
          <a:prstGeom prst="rect">
            <a:avLst/>
          </a:prstGeom>
          <a:solidFill>
            <a:srgbClr val="1D1F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r>
              <a:rPr kumimoji="0" lang="en-US" sz="2160" b="1" i="0" u="none" strike="noStrike" kern="1200" cap="none" spc="0" normalizeH="0" baseline="0" noProof="0">
                <a:ln>
                  <a:noFill/>
                </a:ln>
                <a:solidFill>
                  <a:prstClr val="white"/>
                </a:solidFill>
                <a:effectLst/>
                <a:uLnTx/>
                <a:uFillTx/>
                <a:latin typeface="Cambria"/>
                <a:ea typeface="+mn-ea"/>
                <a:cs typeface="+mn-cs"/>
              </a:rPr>
              <a:t>IT22276582</a:t>
            </a:r>
            <a:r>
              <a:rPr kumimoji="0" lang="en-US" sz="2160" b="0" i="0" u="none" strike="noStrike" kern="1200" cap="none" spc="0" normalizeH="0" baseline="0" noProof="0">
                <a:ln>
                  <a:noFill/>
                </a:ln>
                <a:solidFill>
                  <a:prstClr val="white"/>
                </a:solidFill>
                <a:effectLst/>
                <a:uLnTx/>
                <a:uFillTx/>
                <a:latin typeface="Cambria"/>
                <a:ea typeface="+mn-ea"/>
                <a:cs typeface="+mn-cs"/>
              </a:rPr>
              <a:t>  |  </a:t>
            </a:r>
            <a:r>
              <a:rPr kumimoji="0" lang="en-US" sz="2160" b="0" i="0" u="none" strike="noStrike" kern="1200" cap="none" spc="0" normalizeH="0" baseline="0" noProof="0" err="1">
                <a:ln>
                  <a:noFill/>
                </a:ln>
                <a:solidFill>
                  <a:prstClr val="white"/>
                </a:solidFill>
                <a:effectLst/>
                <a:uLnTx/>
                <a:uFillTx/>
                <a:latin typeface="Cambria"/>
                <a:ea typeface="+mn-ea"/>
                <a:cs typeface="+mn-cs"/>
              </a:rPr>
              <a:t>Yasasvin</a:t>
            </a:r>
            <a:r>
              <a:rPr kumimoji="0" lang="en-US" sz="2160" b="0" i="0" u="none" strike="noStrike" kern="1200" cap="none" spc="0" normalizeH="0" baseline="0" noProof="0">
                <a:ln>
                  <a:noFill/>
                </a:ln>
                <a:solidFill>
                  <a:prstClr val="white"/>
                </a:solidFill>
                <a:effectLst/>
                <a:uLnTx/>
                <a:uFillTx/>
                <a:latin typeface="Cambria"/>
                <a:ea typeface="+mn-ea"/>
                <a:cs typeface="+mn-cs"/>
              </a:rPr>
              <a:t> W.M.Y</a:t>
            </a:r>
            <a:r>
              <a:rPr kumimoji="0" lang="en-US" sz="2160" b="1" i="0" u="none" strike="noStrike" kern="1200" cap="none" spc="0" normalizeH="0" baseline="0" noProof="0">
                <a:ln>
                  <a:noFill/>
                </a:ln>
                <a:solidFill>
                  <a:prstClr val="white"/>
                </a:solidFill>
                <a:effectLst/>
                <a:uLnTx/>
                <a:uFillTx/>
                <a:latin typeface="Cambria"/>
                <a:ea typeface="+mn-ea"/>
                <a:cs typeface="+mn-cs"/>
              </a:rPr>
              <a:t>   </a:t>
            </a:r>
            <a:r>
              <a:rPr kumimoji="0" lang="en-US" sz="2160" b="0" i="0" u="none" strike="noStrike" kern="1200" cap="none" spc="0" normalizeH="0" baseline="0" noProof="0">
                <a:ln>
                  <a:noFill/>
                </a:ln>
                <a:solidFill>
                  <a:prstClr val="white"/>
                </a:solidFill>
                <a:effectLst/>
                <a:uLnTx/>
                <a:uFillTx/>
                <a:latin typeface="Cambria"/>
                <a:ea typeface="+mn-ea"/>
                <a:cs typeface="+mn-cs"/>
              </a:rPr>
              <a:t>|   25-26J-458</a:t>
            </a:r>
          </a:p>
        </p:txBody>
      </p:sp>
      <p:pic>
        <p:nvPicPr>
          <p:cNvPr id="25" name="Picture 24">
            <a:extLst>
              <a:ext uri="{FF2B5EF4-FFF2-40B4-BE49-F238E27FC236}">
                <a16:creationId xmlns:a16="http://schemas.microsoft.com/office/drawing/2014/main" id="{76814CA1-D37E-44A0-81F0-8B3CD339626B}"/>
              </a:ext>
            </a:extLst>
          </p:cNvPr>
          <p:cNvPicPr>
            <a:picLocks noChangeAspect="1"/>
          </p:cNvPicPr>
          <p:nvPr/>
        </p:nvPicPr>
        <p:blipFill>
          <a:blip r:embed="rId5"/>
          <a:stretch>
            <a:fillRect/>
          </a:stretch>
        </p:blipFill>
        <p:spPr>
          <a:xfrm>
            <a:off x="82192" y="7692983"/>
            <a:ext cx="3076730" cy="466725"/>
          </a:xfrm>
          <a:prstGeom prst="rect">
            <a:avLst/>
          </a:prstGeom>
        </p:spPr>
      </p:pic>
    </p:spTree>
    <p:extLst>
      <p:ext uri="{BB962C8B-B14F-4D97-AF65-F5344CB8AC3E}">
        <p14:creationId xmlns:p14="http://schemas.microsoft.com/office/powerpoint/2010/main" val="3591675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9E0B8-2BC2-4186-3597-4B132CA561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6B36CF0-F722-649D-0ED0-405D7BF81986}"/>
              </a:ext>
            </a:extLst>
          </p:cNvPr>
          <p:cNvSpPr>
            <a:spLocks noGrp="1"/>
          </p:cNvSpPr>
          <p:nvPr>
            <p:ph type="title"/>
          </p:nvPr>
        </p:nvSpPr>
        <p:spPr/>
        <p:txBody>
          <a:bodyPr/>
          <a:lstStyle/>
          <a:p>
            <a:pPr algn="ctr"/>
            <a:r>
              <a:rPr lang="en-US">
                <a:latin typeface="Adobe Devanagari"/>
              </a:rPr>
              <a:t>RAJENDRAM P.A.    --   IT22087874</a:t>
            </a:r>
          </a:p>
        </p:txBody>
      </p:sp>
      <p:sp>
        <p:nvSpPr>
          <p:cNvPr id="6" name="Text Placeholder 5">
            <a:extLst>
              <a:ext uri="{FF2B5EF4-FFF2-40B4-BE49-F238E27FC236}">
                <a16:creationId xmlns:a16="http://schemas.microsoft.com/office/drawing/2014/main" id="{7524920D-D4E7-41EE-F38F-630203F205A1}"/>
              </a:ext>
            </a:extLst>
          </p:cNvPr>
          <p:cNvSpPr>
            <a:spLocks noGrp="1"/>
          </p:cNvSpPr>
          <p:nvPr>
            <p:ph type="body" idx="1"/>
          </p:nvPr>
        </p:nvSpPr>
        <p:spPr/>
        <p:txBody>
          <a:bodyPr/>
          <a:lstStyle/>
          <a:p>
            <a:pPr algn="ctr"/>
            <a:r>
              <a:rPr lang="en-US"/>
              <a:t>B.Sc. (Hons) Degree in Information Technology Specializing in software engineering </a:t>
            </a:r>
          </a:p>
        </p:txBody>
      </p:sp>
      <p:sp>
        <p:nvSpPr>
          <p:cNvPr id="4" name="Rectangle 3">
            <a:extLst>
              <a:ext uri="{FF2B5EF4-FFF2-40B4-BE49-F238E27FC236}">
                <a16:creationId xmlns:a16="http://schemas.microsoft.com/office/drawing/2014/main" id="{E9A09474-1243-5BAB-71FF-C768244DCB34}"/>
              </a:ext>
            </a:extLst>
          </p:cNvPr>
          <p:cNvSpPr/>
          <p:nvPr/>
        </p:nvSpPr>
        <p:spPr>
          <a:xfrm>
            <a:off x="3158922" y="7791449"/>
            <a:ext cx="11471477" cy="4381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defTabSz="1097280">
              <a:defRPr/>
            </a:pPr>
            <a:r>
              <a:rPr lang="en-US" sz="2150" b="1">
                <a:solidFill>
                  <a:prstClr val="black"/>
                </a:solidFill>
                <a:latin typeface="Cambria"/>
              </a:rPr>
              <a:t>IT22087874 </a:t>
            </a:r>
            <a:r>
              <a:rPr kumimoji="0" lang="en-US" sz="2150" b="0" i="0" u="none" strike="noStrike" kern="1200" cap="none" spc="0" normalizeH="0" baseline="0" noProof="0">
                <a:ln>
                  <a:noFill/>
                </a:ln>
                <a:solidFill>
                  <a:prstClr val="black"/>
                </a:solidFill>
                <a:effectLst/>
                <a:uLnTx/>
                <a:uFillTx/>
                <a:latin typeface="Cambria"/>
                <a:ea typeface="+mn-ea"/>
                <a:cs typeface="+mn-cs"/>
              </a:rPr>
              <a:t>|   </a:t>
            </a:r>
            <a:r>
              <a:rPr lang="en-US" sz="2150">
                <a:solidFill>
                  <a:prstClr val="black"/>
                </a:solidFill>
                <a:latin typeface="Cambria"/>
              </a:rPr>
              <a:t>RAJENDRAM</a:t>
            </a:r>
            <a:r>
              <a:rPr kumimoji="0" lang="en-US" sz="2150" i="0" u="none" strike="noStrike" kern="1200" cap="none" spc="0" normalizeH="0" baseline="0" noProof="0">
                <a:ln>
                  <a:noFill/>
                </a:ln>
                <a:solidFill>
                  <a:prstClr val="black"/>
                </a:solidFill>
                <a:effectLst/>
                <a:uLnTx/>
                <a:uFillTx/>
                <a:latin typeface="Cambria"/>
                <a:ea typeface="+mn-ea"/>
                <a:cs typeface="+mn-cs"/>
              </a:rPr>
              <a:t> </a:t>
            </a:r>
            <a:r>
              <a:rPr lang="en-US" sz="2150">
                <a:solidFill>
                  <a:prstClr val="black"/>
                </a:solidFill>
                <a:latin typeface="Cambria"/>
              </a:rPr>
              <a:t>P.A.</a:t>
            </a:r>
            <a:r>
              <a:rPr kumimoji="0" lang="en-US" sz="2150" b="1" i="0" u="none" strike="noStrike" kern="1200" cap="none" spc="0" normalizeH="0" baseline="0" noProof="0">
                <a:ln>
                  <a:noFill/>
                </a:ln>
                <a:solidFill>
                  <a:prstClr val="black"/>
                </a:solidFill>
                <a:effectLst/>
                <a:uLnTx/>
                <a:uFillTx/>
                <a:latin typeface="Cambria"/>
                <a:ea typeface="+mn-ea"/>
                <a:cs typeface="+mn-cs"/>
              </a:rPr>
              <a:t>  </a:t>
            </a:r>
            <a:r>
              <a:rPr lang="en-US" sz="2150" b="1">
                <a:solidFill>
                  <a:prstClr val="black"/>
                </a:solidFill>
                <a:latin typeface="Cambria"/>
              </a:rPr>
              <a:t> </a:t>
            </a:r>
            <a:r>
              <a:rPr kumimoji="0" lang="en-US" sz="2150" b="0" i="0" u="none" strike="noStrike" kern="1200" cap="none" spc="0" normalizeH="0" baseline="0" noProof="0">
                <a:ln>
                  <a:noFill/>
                </a:ln>
                <a:solidFill>
                  <a:prstClr val="black"/>
                </a:solidFill>
                <a:effectLst/>
                <a:uLnTx/>
                <a:uFillTx/>
                <a:latin typeface="Cambria"/>
                <a:ea typeface="+mn-ea"/>
                <a:cs typeface="+mn-cs"/>
              </a:rPr>
              <a:t>|   25-26J-458</a:t>
            </a:r>
          </a:p>
        </p:txBody>
      </p:sp>
      <p:pic>
        <p:nvPicPr>
          <p:cNvPr id="3" name="Picture 2" descr="A person with a beard and mustache&#10;&#10;AI-generated content may be incorrect.">
            <a:extLst>
              <a:ext uri="{FF2B5EF4-FFF2-40B4-BE49-F238E27FC236}">
                <a16:creationId xmlns:a16="http://schemas.microsoft.com/office/drawing/2014/main" id="{A721D7FF-A0FB-5C91-03E9-F7C201173682}"/>
              </a:ext>
            </a:extLst>
          </p:cNvPr>
          <p:cNvPicPr>
            <a:picLocks noChangeAspect="1"/>
          </p:cNvPicPr>
          <p:nvPr/>
        </p:nvPicPr>
        <p:blipFill>
          <a:blip r:embed="rId2"/>
          <a:stretch>
            <a:fillRect/>
          </a:stretch>
        </p:blipFill>
        <p:spPr>
          <a:xfrm>
            <a:off x="11836429" y="115726"/>
            <a:ext cx="2603601" cy="2874810"/>
          </a:xfrm>
          <a:prstGeom prst="rect">
            <a:avLst/>
          </a:prstGeom>
        </p:spPr>
      </p:pic>
    </p:spTree>
    <p:extLst>
      <p:ext uri="{BB962C8B-B14F-4D97-AF65-F5344CB8AC3E}">
        <p14:creationId xmlns:p14="http://schemas.microsoft.com/office/powerpoint/2010/main" val="16808966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3057287" y="742117"/>
            <a:ext cx="8515826" cy="666155"/>
          </a:xfrm>
          <a:prstGeom prst="rect">
            <a:avLst/>
          </a:prstGeom>
          <a:noFill/>
          <a:ln/>
        </p:spPr>
        <p:txBody>
          <a:bodyPr wrap="none" lIns="0" tIns="0" rIns="0" bIns="0" rtlCol="0" anchor="t"/>
          <a:lstStyle/>
          <a:p>
            <a:pPr marL="0" indent="0" algn="ctr">
              <a:lnSpc>
                <a:spcPts val="5200"/>
              </a:lnSpc>
              <a:buNone/>
            </a:pPr>
            <a:r>
              <a:rPr lang="en-US" sz="4150" b="1">
                <a:solidFill>
                  <a:srgbClr val="FFFFFF"/>
                </a:solidFill>
                <a:latin typeface="Montserrat Bold" pitchFamily="34" charset="0"/>
                <a:ea typeface="Montserrat Bold" pitchFamily="34" charset="-122"/>
                <a:cs typeface="Montserrat Bold" pitchFamily="34" charset="-120"/>
              </a:rPr>
              <a:t>Proven Gap / Creative Solution</a:t>
            </a:r>
            <a:endParaRPr lang="en-US" sz="4150"/>
          </a:p>
        </p:txBody>
      </p:sp>
      <p:sp>
        <p:nvSpPr>
          <p:cNvPr id="3" name="Text 1"/>
          <p:cNvSpPr/>
          <p:nvPr/>
        </p:nvSpPr>
        <p:spPr>
          <a:xfrm>
            <a:off x="863798" y="1994416"/>
            <a:ext cx="4625340" cy="333018"/>
          </a:xfrm>
          <a:prstGeom prst="rect">
            <a:avLst/>
          </a:prstGeom>
          <a:noFill/>
          <a:ln/>
        </p:spPr>
        <p:txBody>
          <a:bodyPr wrap="none" lIns="0" tIns="0" rIns="0" bIns="0" rtlCol="0" anchor="t"/>
          <a:lstStyle/>
          <a:p>
            <a:pPr marL="0" indent="0" algn="l">
              <a:lnSpc>
                <a:spcPts val="2600"/>
              </a:lnSpc>
              <a:buNone/>
            </a:pPr>
            <a:r>
              <a:rPr lang="en-US" sz="2050" b="1">
                <a:solidFill>
                  <a:srgbClr val="FFFFFF"/>
                </a:solidFill>
                <a:latin typeface="Montserrat Bold" pitchFamily="34" charset="0"/>
                <a:ea typeface="Montserrat Bold" pitchFamily="34" charset="-122"/>
                <a:cs typeface="Montserrat Bold" pitchFamily="34" charset="-120"/>
              </a:rPr>
              <a:t>The Problem: Flawed Focus Apps</a:t>
            </a:r>
            <a:endParaRPr lang="en-US" sz="2050"/>
          </a:p>
        </p:txBody>
      </p:sp>
      <p:sp>
        <p:nvSpPr>
          <p:cNvPr id="4" name="Text 2"/>
          <p:cNvSpPr/>
          <p:nvPr/>
        </p:nvSpPr>
        <p:spPr>
          <a:xfrm>
            <a:off x="863798" y="2561868"/>
            <a:ext cx="6165413" cy="1054775"/>
          </a:xfrm>
          <a:prstGeom prst="rect">
            <a:avLst/>
          </a:prstGeom>
          <a:noFill/>
          <a:ln/>
        </p:spPr>
        <p:txBody>
          <a:bodyPr wrap="square" lIns="0" tIns="0" rIns="0" bIns="0" rtlCol="0" anchor="t"/>
          <a:lstStyle/>
          <a:p>
            <a:pPr marL="0" indent="0" algn="l">
              <a:lnSpc>
                <a:spcPts val="2750"/>
              </a:lnSpc>
              <a:buNone/>
            </a:pPr>
            <a:r>
              <a:rPr lang="en-US" sz="1800">
                <a:solidFill>
                  <a:srgbClr val="E2E6E9"/>
                </a:solidFill>
                <a:latin typeface="Source Sans 3" pitchFamily="34" charset="0"/>
                <a:ea typeface="Source Sans 3" pitchFamily="34" charset="-122"/>
                <a:cs typeface="Source Sans 3" pitchFamily="34" charset="-120"/>
              </a:rPr>
              <a:t>Existing focus apps are either too rigid or too permissive. Users disengage impulsively due to boredom or habit, lacking reflection mechanisms.</a:t>
            </a:r>
            <a:endParaRPr lang="en-US" sz="1800"/>
          </a:p>
        </p:txBody>
      </p:sp>
      <p:sp>
        <p:nvSpPr>
          <p:cNvPr id="5" name="Shape 3"/>
          <p:cNvSpPr/>
          <p:nvPr/>
        </p:nvSpPr>
        <p:spPr>
          <a:xfrm>
            <a:off x="863798" y="3997643"/>
            <a:ext cx="117157" cy="117158"/>
          </a:xfrm>
          <a:prstGeom prst="roundRect">
            <a:avLst>
              <a:gd name="adj" fmla="val 390246"/>
            </a:avLst>
          </a:prstGeom>
          <a:solidFill>
            <a:srgbClr val="FFFFFF"/>
          </a:solidFill>
          <a:ln/>
        </p:spPr>
        <p:txBody>
          <a:bodyPr/>
          <a:lstStyle/>
          <a:p>
            <a:endParaRPr lang="en-US"/>
          </a:p>
        </p:txBody>
      </p:sp>
      <p:sp>
        <p:nvSpPr>
          <p:cNvPr id="6" name="Text 4"/>
          <p:cNvSpPr/>
          <p:nvPr/>
        </p:nvSpPr>
        <p:spPr>
          <a:xfrm>
            <a:off x="1215390" y="3880366"/>
            <a:ext cx="5813822" cy="351592"/>
          </a:xfrm>
          <a:prstGeom prst="rect">
            <a:avLst/>
          </a:prstGeom>
          <a:noFill/>
          <a:ln/>
        </p:spPr>
        <p:txBody>
          <a:bodyPr wrap="none" lIns="0" tIns="0" rIns="0" bIns="0" rtlCol="0" anchor="t"/>
          <a:lstStyle/>
          <a:p>
            <a:pPr marL="0" indent="0" algn="l">
              <a:lnSpc>
                <a:spcPts val="2750"/>
              </a:lnSpc>
              <a:buNone/>
            </a:pPr>
            <a:r>
              <a:rPr lang="en-US" sz="1800">
                <a:solidFill>
                  <a:srgbClr val="E2E6E9"/>
                </a:solidFill>
                <a:latin typeface="Source Sans 3" pitchFamily="34" charset="0"/>
                <a:ea typeface="Source Sans 3" pitchFamily="34" charset="-122"/>
                <a:cs typeface="Source Sans 3" pitchFamily="34" charset="-120"/>
              </a:rPr>
              <a:t>Rigid blockers cause frustration.</a:t>
            </a:r>
            <a:endParaRPr lang="en-US" sz="1800"/>
          </a:p>
        </p:txBody>
      </p:sp>
      <p:sp>
        <p:nvSpPr>
          <p:cNvPr id="7" name="Shape 5"/>
          <p:cNvSpPr/>
          <p:nvPr/>
        </p:nvSpPr>
        <p:spPr>
          <a:xfrm>
            <a:off x="863798" y="4818102"/>
            <a:ext cx="117157" cy="117158"/>
          </a:xfrm>
          <a:prstGeom prst="roundRect">
            <a:avLst>
              <a:gd name="adj" fmla="val 390246"/>
            </a:avLst>
          </a:prstGeom>
          <a:solidFill>
            <a:srgbClr val="FFFFFF"/>
          </a:solidFill>
          <a:ln/>
        </p:spPr>
        <p:txBody>
          <a:bodyPr/>
          <a:lstStyle/>
          <a:p>
            <a:endParaRPr lang="en-US"/>
          </a:p>
        </p:txBody>
      </p:sp>
      <p:sp>
        <p:nvSpPr>
          <p:cNvPr id="8" name="Text 6"/>
          <p:cNvSpPr/>
          <p:nvPr/>
        </p:nvSpPr>
        <p:spPr>
          <a:xfrm>
            <a:off x="1215390" y="4700826"/>
            <a:ext cx="5813822" cy="351592"/>
          </a:xfrm>
          <a:prstGeom prst="rect">
            <a:avLst/>
          </a:prstGeom>
          <a:noFill/>
          <a:ln/>
        </p:spPr>
        <p:txBody>
          <a:bodyPr wrap="none" lIns="0" tIns="0" rIns="0" bIns="0" rtlCol="0" anchor="t"/>
          <a:lstStyle/>
          <a:p>
            <a:pPr marL="0" indent="0" algn="l">
              <a:lnSpc>
                <a:spcPts val="2750"/>
              </a:lnSpc>
              <a:buNone/>
            </a:pPr>
            <a:r>
              <a:rPr lang="en-US" sz="1800">
                <a:solidFill>
                  <a:srgbClr val="E2E6E9"/>
                </a:solidFill>
                <a:latin typeface="Source Sans 3" pitchFamily="34" charset="0"/>
                <a:ea typeface="Source Sans 3" pitchFamily="34" charset="-122"/>
                <a:cs typeface="Source Sans 3" pitchFamily="34" charset="-120"/>
              </a:rPr>
              <a:t>Permissive timers fail to prevent.</a:t>
            </a:r>
            <a:endParaRPr lang="en-US" sz="1800"/>
          </a:p>
        </p:txBody>
      </p:sp>
      <p:sp>
        <p:nvSpPr>
          <p:cNvPr id="9" name="Shape 7"/>
          <p:cNvSpPr/>
          <p:nvPr/>
        </p:nvSpPr>
        <p:spPr>
          <a:xfrm>
            <a:off x="863798" y="5638562"/>
            <a:ext cx="117157" cy="117158"/>
          </a:xfrm>
          <a:prstGeom prst="roundRect">
            <a:avLst>
              <a:gd name="adj" fmla="val 390246"/>
            </a:avLst>
          </a:prstGeom>
          <a:solidFill>
            <a:srgbClr val="FFFFFF"/>
          </a:solidFill>
          <a:ln/>
        </p:spPr>
        <p:txBody>
          <a:bodyPr/>
          <a:lstStyle/>
          <a:p>
            <a:endParaRPr lang="en-US"/>
          </a:p>
        </p:txBody>
      </p:sp>
      <p:sp>
        <p:nvSpPr>
          <p:cNvPr id="10" name="Text 8"/>
          <p:cNvSpPr/>
          <p:nvPr/>
        </p:nvSpPr>
        <p:spPr>
          <a:xfrm>
            <a:off x="1215390" y="5521285"/>
            <a:ext cx="5813822" cy="351592"/>
          </a:xfrm>
          <a:prstGeom prst="rect">
            <a:avLst/>
          </a:prstGeom>
          <a:noFill/>
          <a:ln/>
        </p:spPr>
        <p:txBody>
          <a:bodyPr wrap="none" lIns="0" tIns="0" rIns="0" bIns="0" rtlCol="0" anchor="t"/>
          <a:lstStyle/>
          <a:p>
            <a:pPr marL="0" indent="0" algn="l">
              <a:lnSpc>
                <a:spcPts val="2750"/>
              </a:lnSpc>
              <a:buNone/>
            </a:pPr>
            <a:r>
              <a:rPr lang="en-US" sz="1800">
                <a:solidFill>
                  <a:srgbClr val="E2E6E9"/>
                </a:solidFill>
                <a:latin typeface="Source Sans 3" pitchFamily="34" charset="0"/>
                <a:ea typeface="Source Sans 3" pitchFamily="34" charset="-122"/>
                <a:cs typeface="Source Sans 3" pitchFamily="34" charset="-120"/>
              </a:rPr>
              <a:t>No personalization or reflection.</a:t>
            </a:r>
            <a:endParaRPr lang="en-US" sz="1800"/>
          </a:p>
        </p:txBody>
      </p:sp>
      <p:sp>
        <p:nvSpPr>
          <p:cNvPr id="11" name="Text 9"/>
          <p:cNvSpPr/>
          <p:nvPr/>
        </p:nvSpPr>
        <p:spPr>
          <a:xfrm>
            <a:off x="7608808" y="1994416"/>
            <a:ext cx="4659749" cy="333018"/>
          </a:xfrm>
          <a:prstGeom prst="rect">
            <a:avLst/>
          </a:prstGeom>
          <a:noFill/>
          <a:ln/>
        </p:spPr>
        <p:txBody>
          <a:bodyPr wrap="none" lIns="0" tIns="0" rIns="0" bIns="0" rtlCol="0" anchor="t"/>
          <a:lstStyle/>
          <a:p>
            <a:pPr marL="0" indent="0" algn="l">
              <a:lnSpc>
                <a:spcPts val="2600"/>
              </a:lnSpc>
              <a:buNone/>
            </a:pPr>
            <a:r>
              <a:rPr lang="en-US" sz="2050" b="1">
                <a:solidFill>
                  <a:srgbClr val="FFFFFF"/>
                </a:solidFill>
                <a:latin typeface="Montserrat Bold" pitchFamily="34" charset="0"/>
                <a:ea typeface="Montserrat Bold" pitchFamily="34" charset="-122"/>
                <a:cs typeface="Montserrat Bold" pitchFamily="34" charset="-120"/>
              </a:rPr>
              <a:t>Our Solution: Intent-Lock Overlay</a:t>
            </a:r>
            <a:endParaRPr lang="en-US" sz="2050"/>
          </a:p>
        </p:txBody>
      </p:sp>
      <p:sp>
        <p:nvSpPr>
          <p:cNvPr id="12" name="Shape 10"/>
          <p:cNvSpPr/>
          <p:nvPr/>
        </p:nvSpPr>
        <p:spPr>
          <a:xfrm>
            <a:off x="7608808" y="2591157"/>
            <a:ext cx="6165413" cy="1387912"/>
          </a:xfrm>
          <a:prstGeom prst="roundRect">
            <a:avLst>
              <a:gd name="adj" fmla="val 2534"/>
            </a:avLst>
          </a:prstGeom>
          <a:solidFill>
            <a:srgbClr val="5E98F1"/>
          </a:solidFill>
          <a:ln/>
        </p:spPr>
        <p:txBody>
          <a:bodyPr/>
          <a:lstStyle/>
          <a:p>
            <a:endParaRPr lang="en-US"/>
          </a:p>
        </p:txBody>
      </p:sp>
      <p:sp>
        <p:nvSpPr>
          <p:cNvPr id="13" name="Text 11"/>
          <p:cNvSpPr/>
          <p:nvPr/>
        </p:nvSpPr>
        <p:spPr>
          <a:xfrm>
            <a:off x="7843242" y="2825591"/>
            <a:ext cx="2664619" cy="333018"/>
          </a:xfrm>
          <a:prstGeom prst="rect">
            <a:avLst/>
          </a:prstGeom>
          <a:noFill/>
          <a:ln/>
        </p:spPr>
        <p:txBody>
          <a:bodyPr wrap="none" lIns="0" tIns="0" rIns="0" bIns="0" rtlCol="0" anchor="t"/>
          <a:lstStyle/>
          <a:p>
            <a:pPr marL="0" indent="0" algn="l">
              <a:lnSpc>
                <a:spcPts val="2600"/>
              </a:lnSpc>
              <a:buNone/>
            </a:pPr>
            <a:r>
              <a:rPr lang="en-US" sz="2050" b="1">
                <a:solidFill>
                  <a:srgbClr val="000000"/>
                </a:solidFill>
                <a:latin typeface="Montserrat Bold" pitchFamily="34" charset="0"/>
                <a:ea typeface="Montserrat Bold" pitchFamily="34" charset="-122"/>
                <a:cs typeface="Montserrat Bold" pitchFamily="34" charset="-120"/>
              </a:rPr>
              <a:t>Graduated Friction</a:t>
            </a:r>
            <a:endParaRPr lang="en-US" sz="2050"/>
          </a:p>
        </p:txBody>
      </p:sp>
      <p:sp>
        <p:nvSpPr>
          <p:cNvPr id="14" name="Text 12"/>
          <p:cNvSpPr/>
          <p:nvPr/>
        </p:nvSpPr>
        <p:spPr>
          <a:xfrm>
            <a:off x="7843242" y="3393043"/>
            <a:ext cx="5696545" cy="351592"/>
          </a:xfrm>
          <a:prstGeom prst="rect">
            <a:avLst/>
          </a:prstGeom>
          <a:noFill/>
          <a:ln/>
        </p:spPr>
        <p:txBody>
          <a:bodyPr wrap="none" lIns="0" tIns="0" rIns="0" bIns="0" rtlCol="0" anchor="t"/>
          <a:lstStyle/>
          <a:p>
            <a:pPr marL="0" indent="0" algn="l">
              <a:lnSpc>
                <a:spcPts val="2750"/>
              </a:lnSpc>
              <a:buNone/>
            </a:pPr>
            <a:r>
              <a:rPr lang="en-US" sz="1800">
                <a:solidFill>
                  <a:srgbClr val="000000"/>
                </a:solidFill>
                <a:latin typeface="Source Sans 3" pitchFamily="34" charset="0"/>
                <a:ea typeface="Source Sans 3" pitchFamily="34" charset="-122"/>
                <a:cs typeface="Source Sans 3" pitchFamily="34" charset="-120"/>
              </a:rPr>
              <a:t>Adaptive nudges prevent impulsive exits.</a:t>
            </a:r>
            <a:endParaRPr lang="en-US" sz="1800"/>
          </a:p>
        </p:txBody>
      </p:sp>
      <p:sp>
        <p:nvSpPr>
          <p:cNvPr id="15" name="Shape 13"/>
          <p:cNvSpPr/>
          <p:nvPr/>
        </p:nvSpPr>
        <p:spPr>
          <a:xfrm>
            <a:off x="7608808" y="4213503"/>
            <a:ext cx="6165413" cy="1387912"/>
          </a:xfrm>
          <a:prstGeom prst="roundRect">
            <a:avLst>
              <a:gd name="adj" fmla="val 2534"/>
            </a:avLst>
          </a:prstGeom>
          <a:solidFill>
            <a:srgbClr val="5E98F1"/>
          </a:solidFill>
          <a:ln/>
        </p:spPr>
        <p:txBody>
          <a:bodyPr/>
          <a:lstStyle/>
          <a:p>
            <a:endParaRPr lang="en-US"/>
          </a:p>
        </p:txBody>
      </p:sp>
      <p:sp>
        <p:nvSpPr>
          <p:cNvPr id="16" name="Text 14"/>
          <p:cNvSpPr/>
          <p:nvPr/>
        </p:nvSpPr>
        <p:spPr>
          <a:xfrm>
            <a:off x="7843242" y="4447937"/>
            <a:ext cx="2664619" cy="333018"/>
          </a:xfrm>
          <a:prstGeom prst="rect">
            <a:avLst/>
          </a:prstGeom>
          <a:noFill/>
          <a:ln/>
        </p:spPr>
        <p:txBody>
          <a:bodyPr wrap="none" lIns="0" tIns="0" rIns="0" bIns="0" rtlCol="0" anchor="t"/>
          <a:lstStyle/>
          <a:p>
            <a:pPr marL="0" indent="0" algn="l">
              <a:lnSpc>
                <a:spcPts val="2600"/>
              </a:lnSpc>
              <a:buNone/>
            </a:pPr>
            <a:r>
              <a:rPr lang="en-US" sz="2050" b="1">
                <a:solidFill>
                  <a:srgbClr val="000000"/>
                </a:solidFill>
                <a:latin typeface="Montserrat Bold" pitchFamily="34" charset="0"/>
                <a:ea typeface="Montserrat Bold" pitchFamily="34" charset="-122"/>
                <a:cs typeface="Montserrat Bold" pitchFamily="34" charset="-120"/>
              </a:rPr>
              <a:t>Predictive Model</a:t>
            </a:r>
            <a:endParaRPr lang="en-US" sz="2050"/>
          </a:p>
        </p:txBody>
      </p:sp>
      <p:sp>
        <p:nvSpPr>
          <p:cNvPr id="17" name="Text 15"/>
          <p:cNvSpPr/>
          <p:nvPr/>
        </p:nvSpPr>
        <p:spPr>
          <a:xfrm>
            <a:off x="7843242" y="5015389"/>
            <a:ext cx="5696545" cy="351592"/>
          </a:xfrm>
          <a:prstGeom prst="rect">
            <a:avLst/>
          </a:prstGeom>
          <a:noFill/>
          <a:ln/>
        </p:spPr>
        <p:txBody>
          <a:bodyPr wrap="none" lIns="0" tIns="0" rIns="0" bIns="0" rtlCol="0" anchor="t"/>
          <a:lstStyle/>
          <a:p>
            <a:pPr marL="0" indent="0" algn="l">
              <a:lnSpc>
                <a:spcPts val="2750"/>
              </a:lnSpc>
              <a:buNone/>
            </a:pPr>
            <a:r>
              <a:rPr lang="en-US" sz="1800">
                <a:solidFill>
                  <a:srgbClr val="000000"/>
                </a:solidFill>
                <a:latin typeface="Source Sans 3" pitchFamily="34" charset="0"/>
                <a:ea typeface="Source Sans 3" pitchFamily="34" charset="-122"/>
                <a:cs typeface="Source Sans 3" pitchFamily="34" charset="-120"/>
              </a:rPr>
              <a:t>Classifies exits to tailor interventions.</a:t>
            </a:r>
            <a:endParaRPr lang="en-US" sz="1800"/>
          </a:p>
        </p:txBody>
      </p:sp>
      <p:sp>
        <p:nvSpPr>
          <p:cNvPr id="18" name="Shape 16"/>
          <p:cNvSpPr/>
          <p:nvPr/>
        </p:nvSpPr>
        <p:spPr>
          <a:xfrm>
            <a:off x="7608808" y="5835848"/>
            <a:ext cx="6165413" cy="1387912"/>
          </a:xfrm>
          <a:prstGeom prst="roundRect">
            <a:avLst>
              <a:gd name="adj" fmla="val 2534"/>
            </a:avLst>
          </a:prstGeom>
          <a:solidFill>
            <a:srgbClr val="5E98F1"/>
          </a:solidFill>
          <a:ln/>
        </p:spPr>
        <p:txBody>
          <a:bodyPr/>
          <a:lstStyle/>
          <a:p>
            <a:endParaRPr lang="en-US"/>
          </a:p>
        </p:txBody>
      </p:sp>
      <p:sp>
        <p:nvSpPr>
          <p:cNvPr id="19" name="Text 17"/>
          <p:cNvSpPr/>
          <p:nvPr/>
        </p:nvSpPr>
        <p:spPr>
          <a:xfrm>
            <a:off x="7843242" y="6070283"/>
            <a:ext cx="2664619" cy="333018"/>
          </a:xfrm>
          <a:prstGeom prst="rect">
            <a:avLst/>
          </a:prstGeom>
          <a:noFill/>
          <a:ln/>
        </p:spPr>
        <p:txBody>
          <a:bodyPr wrap="none" lIns="0" tIns="0" rIns="0" bIns="0" rtlCol="0" anchor="t"/>
          <a:lstStyle/>
          <a:p>
            <a:pPr marL="0" indent="0" algn="l">
              <a:lnSpc>
                <a:spcPts val="2600"/>
              </a:lnSpc>
              <a:buNone/>
            </a:pPr>
            <a:r>
              <a:rPr lang="en-US" sz="2050" b="1">
                <a:solidFill>
                  <a:srgbClr val="000000"/>
                </a:solidFill>
                <a:latin typeface="Montserrat Bold" pitchFamily="34" charset="0"/>
                <a:ea typeface="Montserrat Bold" pitchFamily="34" charset="-122"/>
                <a:cs typeface="Montserrat Bold" pitchFamily="34" charset="-120"/>
              </a:rPr>
              <a:t>Reflection Logging</a:t>
            </a:r>
            <a:endParaRPr lang="en-US" sz="2050"/>
          </a:p>
        </p:txBody>
      </p:sp>
      <p:sp>
        <p:nvSpPr>
          <p:cNvPr id="20" name="Text 18"/>
          <p:cNvSpPr/>
          <p:nvPr/>
        </p:nvSpPr>
        <p:spPr>
          <a:xfrm>
            <a:off x="7843242" y="6637734"/>
            <a:ext cx="5696545" cy="351592"/>
          </a:xfrm>
          <a:prstGeom prst="rect">
            <a:avLst/>
          </a:prstGeom>
          <a:noFill/>
          <a:ln/>
        </p:spPr>
        <p:txBody>
          <a:bodyPr wrap="none" lIns="0" tIns="0" rIns="0" bIns="0" rtlCol="0" anchor="t"/>
          <a:lstStyle/>
          <a:p>
            <a:pPr marL="0" indent="0" algn="l">
              <a:lnSpc>
                <a:spcPts val="2750"/>
              </a:lnSpc>
              <a:buNone/>
            </a:pPr>
            <a:r>
              <a:rPr lang="en-US" sz="1800">
                <a:solidFill>
                  <a:srgbClr val="000000"/>
                </a:solidFill>
                <a:latin typeface="Source Sans 3" pitchFamily="34" charset="0"/>
                <a:ea typeface="Source Sans 3" pitchFamily="34" charset="-122"/>
                <a:cs typeface="Source Sans 3" pitchFamily="34" charset="-120"/>
              </a:rPr>
              <a:t>Builds distraction profiles for mindful habits.</a:t>
            </a:r>
            <a:endParaRPr lang="en-US" sz="1800"/>
          </a:p>
        </p:txBody>
      </p:sp>
      <p:sp>
        <p:nvSpPr>
          <p:cNvPr id="21" name="Rectangle 20">
            <a:extLst>
              <a:ext uri="{FF2B5EF4-FFF2-40B4-BE49-F238E27FC236}">
                <a16:creationId xmlns:a16="http://schemas.microsoft.com/office/drawing/2014/main" id="{7D0C12B5-FF2D-53D3-B597-A190AF87826F}"/>
              </a:ext>
            </a:extLst>
          </p:cNvPr>
          <p:cNvSpPr/>
          <p:nvPr/>
        </p:nvSpPr>
        <p:spPr>
          <a:xfrm>
            <a:off x="12790449" y="7750098"/>
            <a:ext cx="1739590" cy="390292"/>
          </a:xfrm>
          <a:prstGeom prst="rect">
            <a:avLst/>
          </a:prstGeom>
          <a:solidFill>
            <a:srgbClr val="1D1F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240100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3798" y="1083826"/>
            <a:ext cx="12549664" cy="701278"/>
          </a:xfrm>
          <a:prstGeom prst="rect">
            <a:avLst/>
          </a:prstGeom>
          <a:noFill/>
          <a:ln/>
        </p:spPr>
        <p:txBody>
          <a:bodyPr wrap="none" lIns="0" tIns="0" rIns="0" bIns="0" rtlCol="0" anchor="t"/>
          <a:lstStyle/>
          <a:p>
            <a:pPr marL="0" indent="0" algn="l">
              <a:lnSpc>
                <a:spcPts val="5500"/>
              </a:lnSpc>
              <a:buNone/>
            </a:pPr>
            <a:r>
              <a:rPr lang="en-US" sz="4400" b="1">
                <a:solidFill>
                  <a:srgbClr val="FFFFFF"/>
                </a:solidFill>
                <a:latin typeface="Montserrat Bold" pitchFamily="34" charset="0"/>
                <a:ea typeface="Montserrat Bold" pitchFamily="34" charset="-122"/>
                <a:cs typeface="Montserrat Bold" pitchFamily="34" charset="-120"/>
              </a:rPr>
              <a:t>Specialized Knowledge Application (Part 1)</a:t>
            </a:r>
            <a:endParaRPr lang="en-US" sz="4400"/>
          </a:p>
        </p:txBody>
      </p:sp>
      <p:sp>
        <p:nvSpPr>
          <p:cNvPr id="3" name="Text 1"/>
          <p:cNvSpPr/>
          <p:nvPr/>
        </p:nvSpPr>
        <p:spPr>
          <a:xfrm>
            <a:off x="863798" y="2155269"/>
            <a:ext cx="3757732" cy="420648"/>
          </a:xfrm>
          <a:prstGeom prst="rect">
            <a:avLst/>
          </a:prstGeom>
          <a:noFill/>
          <a:ln/>
        </p:spPr>
        <p:txBody>
          <a:bodyPr wrap="none" lIns="0" tIns="0" rIns="0" bIns="0" rtlCol="0" anchor="t"/>
          <a:lstStyle/>
          <a:p>
            <a:pPr marL="0" indent="0" algn="l">
              <a:lnSpc>
                <a:spcPts val="3300"/>
              </a:lnSpc>
              <a:buNone/>
            </a:pPr>
            <a:r>
              <a:rPr lang="en-US" sz="2650" b="1">
                <a:solidFill>
                  <a:srgbClr val="FFFFFF"/>
                </a:solidFill>
                <a:latin typeface="Montserrat Bold" pitchFamily="34" charset="0"/>
                <a:ea typeface="Montserrat Bold" pitchFamily="34" charset="-122"/>
                <a:cs typeface="Montserrat Bold" pitchFamily="34" charset="-120"/>
              </a:rPr>
              <a:t>Key Domains Utilized</a:t>
            </a:r>
            <a:endParaRPr lang="en-US" sz="2650"/>
          </a:p>
        </p:txBody>
      </p:sp>
      <p:pic>
        <p:nvPicPr>
          <p:cNvPr id="4" name="Image 0" descr="preencoded.png"/>
          <p:cNvPicPr>
            <a:picLocks noChangeAspect="1"/>
          </p:cNvPicPr>
          <p:nvPr/>
        </p:nvPicPr>
        <p:blipFill>
          <a:blip r:embed="rId3"/>
          <a:stretch>
            <a:fillRect/>
          </a:stretch>
        </p:blipFill>
        <p:spPr>
          <a:xfrm>
            <a:off x="863798" y="2946083"/>
            <a:ext cx="616982" cy="616982"/>
          </a:xfrm>
          <a:prstGeom prst="rect">
            <a:avLst/>
          </a:prstGeom>
        </p:spPr>
      </p:pic>
      <p:sp>
        <p:nvSpPr>
          <p:cNvPr id="5" name="Text 2"/>
          <p:cNvSpPr/>
          <p:nvPr/>
        </p:nvSpPr>
        <p:spPr>
          <a:xfrm>
            <a:off x="1789271" y="3092529"/>
            <a:ext cx="2804874" cy="350639"/>
          </a:xfrm>
          <a:prstGeom prst="rect">
            <a:avLst/>
          </a:prstGeom>
          <a:noFill/>
          <a:ln/>
        </p:spPr>
        <p:txBody>
          <a:bodyPr wrap="none" lIns="0" tIns="0" rIns="0" bIns="0" rtlCol="0" anchor="t"/>
          <a:lstStyle/>
          <a:p>
            <a:pPr marL="0" indent="0" algn="l">
              <a:lnSpc>
                <a:spcPts val="2750"/>
              </a:lnSpc>
              <a:buNone/>
            </a:pPr>
            <a:r>
              <a:rPr lang="en-US" sz="2200" b="1">
                <a:solidFill>
                  <a:srgbClr val="E2E6E9"/>
                </a:solidFill>
                <a:latin typeface="Montserrat Bold" pitchFamily="34" charset="0"/>
                <a:ea typeface="Montserrat Bold" pitchFamily="34" charset="-122"/>
                <a:cs typeface="Montserrat Bold" pitchFamily="34" charset="-120"/>
              </a:rPr>
              <a:t>HCI</a:t>
            </a:r>
            <a:endParaRPr lang="en-US" sz="2200"/>
          </a:p>
        </p:txBody>
      </p:sp>
      <p:sp>
        <p:nvSpPr>
          <p:cNvPr id="6" name="Text 3"/>
          <p:cNvSpPr/>
          <p:nvPr/>
        </p:nvSpPr>
        <p:spPr>
          <a:xfrm>
            <a:off x="1789271" y="3591163"/>
            <a:ext cx="3169801" cy="1110496"/>
          </a:xfrm>
          <a:prstGeom prst="rect">
            <a:avLst/>
          </a:prstGeom>
          <a:noFill/>
          <a:ln/>
        </p:spPr>
        <p:txBody>
          <a:bodyPr wrap="square" lIns="0" tIns="0" rIns="0" bIns="0" rtlCol="0" anchor="t"/>
          <a:lstStyle/>
          <a:p>
            <a:pPr marL="0" indent="0" algn="l">
              <a:lnSpc>
                <a:spcPts val="2900"/>
              </a:lnSpc>
              <a:buNone/>
            </a:pPr>
            <a:r>
              <a:rPr lang="en-US" sz="1900">
                <a:solidFill>
                  <a:srgbClr val="E2E6E9"/>
                </a:solidFill>
                <a:latin typeface="Source Sans 3" pitchFamily="34" charset="0"/>
                <a:ea typeface="Source Sans 3" pitchFamily="34" charset="-122"/>
                <a:cs typeface="Source Sans 3" pitchFamily="34" charset="-120"/>
              </a:rPr>
              <a:t>Designing friction nudges and reflection prompts for user engagement.</a:t>
            </a:r>
            <a:endParaRPr lang="en-US" sz="1900"/>
          </a:p>
        </p:txBody>
      </p:sp>
      <p:pic>
        <p:nvPicPr>
          <p:cNvPr id="7" name="Image 1" descr="preencoded.png"/>
          <p:cNvPicPr>
            <a:picLocks noChangeAspect="1"/>
          </p:cNvPicPr>
          <p:nvPr/>
        </p:nvPicPr>
        <p:blipFill>
          <a:blip r:embed="rId4"/>
          <a:stretch>
            <a:fillRect/>
          </a:stretch>
        </p:blipFill>
        <p:spPr>
          <a:xfrm>
            <a:off x="5267563" y="2946083"/>
            <a:ext cx="616982" cy="616982"/>
          </a:xfrm>
          <a:prstGeom prst="rect">
            <a:avLst/>
          </a:prstGeom>
        </p:spPr>
      </p:pic>
      <p:sp>
        <p:nvSpPr>
          <p:cNvPr id="8" name="Text 4"/>
          <p:cNvSpPr/>
          <p:nvPr/>
        </p:nvSpPr>
        <p:spPr>
          <a:xfrm>
            <a:off x="6193036" y="3092529"/>
            <a:ext cx="2804874" cy="350639"/>
          </a:xfrm>
          <a:prstGeom prst="rect">
            <a:avLst/>
          </a:prstGeom>
          <a:noFill/>
          <a:ln/>
        </p:spPr>
        <p:txBody>
          <a:bodyPr wrap="none" lIns="0" tIns="0" rIns="0" bIns="0" rtlCol="0" anchor="t"/>
          <a:lstStyle/>
          <a:p>
            <a:pPr marL="0" indent="0" algn="l">
              <a:lnSpc>
                <a:spcPts val="2750"/>
              </a:lnSpc>
              <a:buNone/>
            </a:pPr>
            <a:r>
              <a:rPr lang="en-US" sz="2200" b="1">
                <a:solidFill>
                  <a:srgbClr val="E2E6E9"/>
                </a:solidFill>
                <a:latin typeface="Montserrat Bold" pitchFamily="34" charset="0"/>
                <a:ea typeface="Montserrat Bold" pitchFamily="34" charset="-122"/>
                <a:cs typeface="Montserrat Bold" pitchFamily="34" charset="-120"/>
              </a:rPr>
              <a:t>Machine Learning</a:t>
            </a:r>
            <a:endParaRPr lang="en-US" sz="2200"/>
          </a:p>
        </p:txBody>
      </p:sp>
      <p:sp>
        <p:nvSpPr>
          <p:cNvPr id="9" name="Text 5"/>
          <p:cNvSpPr/>
          <p:nvPr/>
        </p:nvSpPr>
        <p:spPr>
          <a:xfrm>
            <a:off x="6193036" y="3591163"/>
            <a:ext cx="3169801" cy="740331"/>
          </a:xfrm>
          <a:prstGeom prst="rect">
            <a:avLst/>
          </a:prstGeom>
          <a:noFill/>
          <a:ln/>
        </p:spPr>
        <p:txBody>
          <a:bodyPr wrap="square" lIns="0" tIns="0" rIns="0" bIns="0" rtlCol="0" anchor="t"/>
          <a:lstStyle/>
          <a:p>
            <a:pPr marL="0" indent="0" algn="l">
              <a:lnSpc>
                <a:spcPts val="2900"/>
              </a:lnSpc>
              <a:buNone/>
            </a:pPr>
            <a:r>
              <a:rPr lang="en-US" sz="1900">
                <a:solidFill>
                  <a:srgbClr val="E2E6E9"/>
                </a:solidFill>
                <a:latin typeface="Source Sans 3" pitchFamily="34" charset="0"/>
                <a:ea typeface="Source Sans 3" pitchFamily="34" charset="-122"/>
                <a:cs typeface="Source Sans 3" pitchFamily="34" charset="-120"/>
              </a:rPr>
              <a:t>Predictive exit classification using contextual features.</a:t>
            </a:r>
            <a:endParaRPr lang="en-US" sz="1900"/>
          </a:p>
        </p:txBody>
      </p:sp>
      <p:pic>
        <p:nvPicPr>
          <p:cNvPr id="10" name="Image 2" descr="preencoded.png"/>
          <p:cNvPicPr>
            <a:picLocks noChangeAspect="1"/>
          </p:cNvPicPr>
          <p:nvPr/>
        </p:nvPicPr>
        <p:blipFill>
          <a:blip r:embed="rId5"/>
          <a:stretch>
            <a:fillRect/>
          </a:stretch>
        </p:blipFill>
        <p:spPr>
          <a:xfrm>
            <a:off x="9671328" y="2946083"/>
            <a:ext cx="616982" cy="616982"/>
          </a:xfrm>
          <a:prstGeom prst="rect">
            <a:avLst/>
          </a:prstGeom>
        </p:spPr>
      </p:pic>
      <p:sp>
        <p:nvSpPr>
          <p:cNvPr id="11" name="Text 6"/>
          <p:cNvSpPr/>
          <p:nvPr/>
        </p:nvSpPr>
        <p:spPr>
          <a:xfrm>
            <a:off x="10596801" y="3092529"/>
            <a:ext cx="3169801" cy="701278"/>
          </a:xfrm>
          <a:prstGeom prst="rect">
            <a:avLst/>
          </a:prstGeom>
          <a:noFill/>
          <a:ln/>
        </p:spPr>
        <p:txBody>
          <a:bodyPr wrap="square" lIns="0" tIns="0" rIns="0" bIns="0" rtlCol="0" anchor="t"/>
          <a:lstStyle/>
          <a:p>
            <a:pPr marL="0" indent="0" algn="l">
              <a:lnSpc>
                <a:spcPts val="2750"/>
              </a:lnSpc>
              <a:buNone/>
            </a:pPr>
            <a:r>
              <a:rPr lang="en-US" sz="2200" b="1">
                <a:solidFill>
                  <a:srgbClr val="E2E6E9"/>
                </a:solidFill>
                <a:latin typeface="Montserrat Bold" pitchFamily="34" charset="0"/>
                <a:ea typeface="Montserrat Bold" pitchFamily="34" charset="-122"/>
                <a:cs typeface="Montserrat Bold" pitchFamily="34" charset="-120"/>
              </a:rPr>
              <a:t>Behavioral Psychology</a:t>
            </a:r>
            <a:endParaRPr lang="en-US" sz="2200"/>
          </a:p>
        </p:txBody>
      </p:sp>
      <p:sp>
        <p:nvSpPr>
          <p:cNvPr id="12" name="Text 7"/>
          <p:cNvSpPr/>
          <p:nvPr/>
        </p:nvSpPr>
        <p:spPr>
          <a:xfrm>
            <a:off x="10596801" y="3941802"/>
            <a:ext cx="3169801" cy="740331"/>
          </a:xfrm>
          <a:prstGeom prst="rect">
            <a:avLst/>
          </a:prstGeom>
          <a:noFill/>
          <a:ln/>
        </p:spPr>
        <p:txBody>
          <a:bodyPr wrap="square" lIns="0" tIns="0" rIns="0" bIns="0" rtlCol="0" anchor="t"/>
          <a:lstStyle/>
          <a:p>
            <a:pPr marL="0" indent="0" algn="l">
              <a:lnSpc>
                <a:spcPts val="2900"/>
              </a:lnSpc>
              <a:buNone/>
            </a:pPr>
            <a:r>
              <a:rPr lang="en-US" sz="1900">
                <a:solidFill>
                  <a:srgbClr val="E2E6E9"/>
                </a:solidFill>
                <a:latin typeface="Source Sans 3" pitchFamily="34" charset="0"/>
                <a:ea typeface="Source Sans 3" pitchFamily="34" charset="-122"/>
                <a:cs typeface="Source Sans 3" pitchFamily="34" charset="-120"/>
              </a:rPr>
              <a:t>Interventions to reduce impulsive task-switching.</a:t>
            </a:r>
            <a:endParaRPr lang="en-US" sz="1900"/>
          </a:p>
        </p:txBody>
      </p:sp>
      <p:sp>
        <p:nvSpPr>
          <p:cNvPr id="13" name="Text 8"/>
          <p:cNvSpPr/>
          <p:nvPr/>
        </p:nvSpPr>
        <p:spPr>
          <a:xfrm>
            <a:off x="863798" y="5071824"/>
            <a:ext cx="4701183" cy="420648"/>
          </a:xfrm>
          <a:prstGeom prst="rect">
            <a:avLst/>
          </a:prstGeom>
          <a:noFill/>
          <a:ln/>
        </p:spPr>
        <p:txBody>
          <a:bodyPr wrap="none" lIns="0" tIns="0" rIns="0" bIns="0" rtlCol="0" anchor="t"/>
          <a:lstStyle/>
          <a:p>
            <a:pPr marL="0" indent="0" algn="l">
              <a:lnSpc>
                <a:spcPts val="3300"/>
              </a:lnSpc>
              <a:buNone/>
            </a:pPr>
            <a:r>
              <a:rPr lang="en-US" sz="2650" b="1">
                <a:solidFill>
                  <a:srgbClr val="FFFFFF"/>
                </a:solidFill>
                <a:latin typeface="Montserrat Bold" pitchFamily="34" charset="0"/>
                <a:ea typeface="Montserrat Bold" pitchFamily="34" charset="-122"/>
                <a:cs typeface="Montserrat Bold" pitchFamily="34" charset="-120"/>
              </a:rPr>
              <a:t>Latest Technologies in Use</a:t>
            </a:r>
            <a:endParaRPr lang="en-US" sz="2650"/>
          </a:p>
        </p:txBody>
      </p:sp>
      <p:sp>
        <p:nvSpPr>
          <p:cNvPr id="14" name="Text 9"/>
          <p:cNvSpPr/>
          <p:nvPr/>
        </p:nvSpPr>
        <p:spPr>
          <a:xfrm>
            <a:off x="863798" y="5862637"/>
            <a:ext cx="12902803" cy="370165"/>
          </a:xfrm>
          <a:prstGeom prst="rect">
            <a:avLst/>
          </a:prstGeom>
          <a:noFill/>
          <a:ln/>
        </p:spPr>
        <p:txBody>
          <a:bodyPr wrap="none" lIns="0" tIns="0" rIns="0" bIns="0" rtlCol="0" anchor="t"/>
          <a:lstStyle/>
          <a:p>
            <a:pPr marL="342900" indent="-342900" algn="l">
              <a:lnSpc>
                <a:spcPts val="2900"/>
              </a:lnSpc>
              <a:buSzPct val="100000"/>
              <a:buChar char="•"/>
            </a:pPr>
            <a:r>
              <a:rPr lang="en-US" sz="1900">
                <a:solidFill>
                  <a:srgbClr val="E2E6E9"/>
                </a:solidFill>
                <a:latin typeface="Source Sans 3" pitchFamily="34" charset="0"/>
                <a:ea typeface="Source Sans 3" pitchFamily="34" charset="-122"/>
                <a:cs typeface="Source Sans 3" pitchFamily="34" charset="-120"/>
              </a:rPr>
              <a:t>Lightweight ML models (Logistic Regression, Decision Trees).</a:t>
            </a:r>
            <a:endParaRPr lang="en-US" sz="1900"/>
          </a:p>
        </p:txBody>
      </p:sp>
      <p:sp>
        <p:nvSpPr>
          <p:cNvPr id="15" name="Text 10"/>
          <p:cNvSpPr/>
          <p:nvPr/>
        </p:nvSpPr>
        <p:spPr>
          <a:xfrm>
            <a:off x="863798" y="6319123"/>
            <a:ext cx="12902803" cy="370165"/>
          </a:xfrm>
          <a:prstGeom prst="rect">
            <a:avLst/>
          </a:prstGeom>
          <a:noFill/>
          <a:ln/>
        </p:spPr>
        <p:txBody>
          <a:bodyPr wrap="none" lIns="0" tIns="0" rIns="0" bIns="0" rtlCol="0" anchor="t"/>
          <a:lstStyle/>
          <a:p>
            <a:pPr marL="342900" indent="-342900" algn="l">
              <a:lnSpc>
                <a:spcPts val="2900"/>
              </a:lnSpc>
              <a:buSzPct val="100000"/>
              <a:buChar char="•"/>
            </a:pPr>
            <a:r>
              <a:rPr lang="en-US" sz="1900">
                <a:solidFill>
                  <a:srgbClr val="E2E6E9"/>
                </a:solidFill>
                <a:latin typeface="Source Sans 3" pitchFamily="34" charset="0"/>
                <a:ea typeface="Source Sans 3" pitchFamily="34" charset="-122"/>
                <a:cs typeface="Source Sans 3" pitchFamily="34" charset="-120"/>
              </a:rPr>
              <a:t>Front-end overlay frameworks for study apps.</a:t>
            </a:r>
            <a:endParaRPr lang="en-US" sz="1900"/>
          </a:p>
        </p:txBody>
      </p:sp>
      <p:sp>
        <p:nvSpPr>
          <p:cNvPr id="16" name="Text 11"/>
          <p:cNvSpPr/>
          <p:nvPr/>
        </p:nvSpPr>
        <p:spPr>
          <a:xfrm>
            <a:off x="863798" y="6775609"/>
            <a:ext cx="12902803" cy="370165"/>
          </a:xfrm>
          <a:prstGeom prst="rect">
            <a:avLst/>
          </a:prstGeom>
          <a:noFill/>
          <a:ln/>
        </p:spPr>
        <p:txBody>
          <a:bodyPr wrap="none" lIns="0" tIns="0" rIns="0" bIns="0" rtlCol="0" anchor="t"/>
          <a:lstStyle/>
          <a:p>
            <a:pPr marL="342900" indent="-342900" algn="l">
              <a:lnSpc>
                <a:spcPts val="2900"/>
              </a:lnSpc>
              <a:buSzPct val="100000"/>
              <a:buChar char="•"/>
            </a:pPr>
            <a:r>
              <a:rPr lang="en-US" sz="1900">
                <a:solidFill>
                  <a:srgbClr val="E2E6E9"/>
                </a:solidFill>
                <a:latin typeface="Source Sans 3" pitchFamily="34" charset="0"/>
                <a:ea typeface="Source Sans 3" pitchFamily="34" charset="-122"/>
                <a:cs typeface="Source Sans 3" pitchFamily="34" charset="-120"/>
              </a:rPr>
              <a:t>Open-source libraries: scikit-learn, TensorFlow Lite, PyTorch.</a:t>
            </a:r>
            <a:endParaRPr lang="en-US" sz="1900"/>
          </a:p>
        </p:txBody>
      </p:sp>
      <p:sp>
        <p:nvSpPr>
          <p:cNvPr id="17" name="Rectangle 16">
            <a:extLst>
              <a:ext uri="{FF2B5EF4-FFF2-40B4-BE49-F238E27FC236}">
                <a16:creationId xmlns:a16="http://schemas.microsoft.com/office/drawing/2014/main" id="{9FDB4EC6-B603-57A0-0534-CDDA4B644331}"/>
              </a:ext>
            </a:extLst>
          </p:cNvPr>
          <p:cNvSpPr/>
          <p:nvPr/>
        </p:nvSpPr>
        <p:spPr>
          <a:xfrm>
            <a:off x="12790449" y="7750098"/>
            <a:ext cx="1739590" cy="390292"/>
          </a:xfrm>
          <a:prstGeom prst="rect">
            <a:avLst/>
          </a:prstGeom>
          <a:solidFill>
            <a:srgbClr val="1112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85533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59869" y="676989"/>
            <a:ext cx="11341179" cy="628174"/>
          </a:xfrm>
          <a:prstGeom prst="rect">
            <a:avLst/>
          </a:prstGeom>
          <a:noFill/>
          <a:ln/>
        </p:spPr>
        <p:txBody>
          <a:bodyPr wrap="none" lIns="0" tIns="0" rIns="0" bIns="0" rtlCol="0" anchor="t"/>
          <a:lstStyle/>
          <a:p>
            <a:pPr marL="0" indent="0" algn="l">
              <a:lnSpc>
                <a:spcPts val="4900"/>
              </a:lnSpc>
              <a:buNone/>
            </a:pPr>
            <a:r>
              <a:rPr lang="en-US" sz="3950" b="1">
                <a:solidFill>
                  <a:srgbClr val="000000"/>
                </a:solidFill>
                <a:latin typeface="Montserrat Bold" pitchFamily="34" charset="0"/>
                <a:ea typeface="Montserrat Bold" pitchFamily="34" charset="-122"/>
                <a:cs typeface="Montserrat Bold" pitchFamily="34" charset="-120"/>
              </a:rPr>
              <a:t>Specialized Knowledge Application (Part 2)</a:t>
            </a:r>
            <a:endParaRPr lang="en-US" sz="3950"/>
          </a:p>
        </p:txBody>
      </p:sp>
      <p:sp>
        <p:nvSpPr>
          <p:cNvPr id="3" name="Text 1"/>
          <p:cNvSpPr/>
          <p:nvPr/>
        </p:nvSpPr>
        <p:spPr>
          <a:xfrm>
            <a:off x="859869" y="1857851"/>
            <a:ext cx="2528411" cy="313968"/>
          </a:xfrm>
          <a:prstGeom prst="rect">
            <a:avLst/>
          </a:prstGeom>
          <a:noFill/>
          <a:ln/>
        </p:spPr>
        <p:txBody>
          <a:bodyPr wrap="none" lIns="0" tIns="0" rIns="0" bIns="0" rtlCol="0" anchor="t"/>
          <a:lstStyle/>
          <a:p>
            <a:pPr marL="0" indent="0" algn="l">
              <a:lnSpc>
                <a:spcPts val="2450"/>
              </a:lnSpc>
              <a:buNone/>
            </a:pPr>
            <a:r>
              <a:rPr lang="en-US" sz="1950" b="1">
                <a:solidFill>
                  <a:srgbClr val="000000"/>
                </a:solidFill>
                <a:latin typeface="Montserrat Bold" pitchFamily="34" charset="0"/>
                <a:ea typeface="Montserrat Bold" pitchFamily="34" charset="-122"/>
                <a:cs typeface="Montserrat Bold" pitchFamily="34" charset="-120"/>
              </a:rPr>
              <a:t>Evaluating Success</a:t>
            </a:r>
            <a:endParaRPr lang="en-US" sz="1950"/>
          </a:p>
        </p:txBody>
      </p:sp>
      <p:sp>
        <p:nvSpPr>
          <p:cNvPr id="4" name="Shape 2"/>
          <p:cNvSpPr/>
          <p:nvPr/>
        </p:nvSpPr>
        <p:spPr>
          <a:xfrm>
            <a:off x="859869" y="2420541"/>
            <a:ext cx="6185654" cy="1701403"/>
          </a:xfrm>
          <a:prstGeom prst="roundRect">
            <a:avLst>
              <a:gd name="adj" fmla="val 8599"/>
            </a:avLst>
          </a:prstGeom>
          <a:solidFill>
            <a:srgbClr val="F2F2F2"/>
          </a:solidFill>
          <a:ln w="30480">
            <a:solidFill>
              <a:srgbClr val="494A4B"/>
            </a:solidFill>
            <a:prstDash val="solid"/>
          </a:ln>
        </p:spPr>
        <p:txBody>
          <a:bodyPr/>
          <a:lstStyle/>
          <a:p>
            <a:endParaRPr lang="en-US"/>
          </a:p>
        </p:txBody>
      </p:sp>
      <p:sp>
        <p:nvSpPr>
          <p:cNvPr id="5" name="Shape 3"/>
          <p:cNvSpPr/>
          <p:nvPr/>
        </p:nvSpPr>
        <p:spPr>
          <a:xfrm>
            <a:off x="829389" y="2420541"/>
            <a:ext cx="121920" cy="1701403"/>
          </a:xfrm>
          <a:prstGeom prst="roundRect">
            <a:avLst>
              <a:gd name="adj" fmla="val 27205"/>
            </a:avLst>
          </a:prstGeom>
          <a:solidFill>
            <a:srgbClr val="FFFFFF"/>
          </a:solidFill>
          <a:ln/>
        </p:spPr>
        <p:txBody>
          <a:bodyPr/>
          <a:lstStyle/>
          <a:p>
            <a:endParaRPr lang="en-US"/>
          </a:p>
        </p:txBody>
      </p:sp>
      <p:sp>
        <p:nvSpPr>
          <p:cNvPr id="6" name="Text 4"/>
          <p:cNvSpPr/>
          <p:nvPr/>
        </p:nvSpPr>
        <p:spPr>
          <a:xfrm>
            <a:off x="1202888" y="2672120"/>
            <a:ext cx="2512695" cy="313968"/>
          </a:xfrm>
          <a:prstGeom prst="rect">
            <a:avLst/>
          </a:prstGeom>
          <a:noFill/>
          <a:ln/>
        </p:spPr>
        <p:txBody>
          <a:bodyPr wrap="none" lIns="0" tIns="0" rIns="0" bIns="0" rtlCol="0" anchor="t"/>
          <a:lstStyle/>
          <a:p>
            <a:pPr marL="0" indent="0" algn="l">
              <a:lnSpc>
                <a:spcPts val="2450"/>
              </a:lnSpc>
              <a:buNone/>
            </a:pPr>
            <a:r>
              <a:rPr lang="en-US" sz="1950" b="1">
                <a:solidFill>
                  <a:srgbClr val="000000"/>
                </a:solidFill>
                <a:latin typeface="Montserrat Bold" pitchFamily="34" charset="0"/>
                <a:ea typeface="Montserrat Bold" pitchFamily="34" charset="-122"/>
                <a:cs typeface="Montserrat Bold" pitchFamily="34" charset="-120"/>
              </a:rPr>
              <a:t>Metrics</a:t>
            </a:r>
            <a:endParaRPr lang="en-US" sz="1950"/>
          </a:p>
        </p:txBody>
      </p:sp>
      <p:sp>
        <p:nvSpPr>
          <p:cNvPr id="7" name="Text 5"/>
          <p:cNvSpPr/>
          <p:nvPr/>
        </p:nvSpPr>
        <p:spPr>
          <a:xfrm>
            <a:off x="1202888" y="3207187"/>
            <a:ext cx="5591056" cy="663178"/>
          </a:xfrm>
          <a:prstGeom prst="rect">
            <a:avLst/>
          </a:prstGeom>
          <a:noFill/>
          <a:ln/>
        </p:spPr>
        <p:txBody>
          <a:bodyPr wrap="square" lIns="0" tIns="0" rIns="0" bIns="0" rtlCol="0" anchor="t"/>
          <a:lstStyle/>
          <a:p>
            <a:pPr marL="0" indent="0" algn="l">
              <a:lnSpc>
                <a:spcPts val="2600"/>
              </a:lnSpc>
              <a:buNone/>
            </a:pPr>
            <a:r>
              <a:rPr lang="en-US" sz="1700">
                <a:solidFill>
                  <a:srgbClr val="000000"/>
                </a:solidFill>
                <a:latin typeface="Source Sans 3" pitchFamily="34" charset="0"/>
                <a:ea typeface="Source Sans 3" pitchFamily="34" charset="-122"/>
                <a:cs typeface="Source Sans 3" pitchFamily="34" charset="-120"/>
              </a:rPr>
              <a:t>Impulsive-exit reduction %, bypass latency, user satisfaction scores.</a:t>
            </a:r>
            <a:endParaRPr lang="en-US" sz="1700"/>
          </a:p>
        </p:txBody>
      </p:sp>
      <p:sp>
        <p:nvSpPr>
          <p:cNvPr id="8" name="Shape 6"/>
          <p:cNvSpPr/>
          <p:nvPr/>
        </p:nvSpPr>
        <p:spPr>
          <a:xfrm>
            <a:off x="859869" y="4343043"/>
            <a:ext cx="6185654" cy="1369814"/>
          </a:xfrm>
          <a:prstGeom prst="roundRect">
            <a:avLst>
              <a:gd name="adj" fmla="val 10681"/>
            </a:avLst>
          </a:prstGeom>
          <a:solidFill>
            <a:srgbClr val="F2F2F2"/>
          </a:solidFill>
          <a:ln w="30480">
            <a:solidFill>
              <a:srgbClr val="494A4B"/>
            </a:solidFill>
            <a:prstDash val="solid"/>
          </a:ln>
        </p:spPr>
        <p:txBody>
          <a:bodyPr/>
          <a:lstStyle/>
          <a:p>
            <a:endParaRPr lang="en-US"/>
          </a:p>
        </p:txBody>
      </p:sp>
      <p:sp>
        <p:nvSpPr>
          <p:cNvPr id="9" name="Shape 7"/>
          <p:cNvSpPr/>
          <p:nvPr/>
        </p:nvSpPr>
        <p:spPr>
          <a:xfrm>
            <a:off x="829389" y="4343043"/>
            <a:ext cx="121920" cy="1369814"/>
          </a:xfrm>
          <a:prstGeom prst="roundRect">
            <a:avLst>
              <a:gd name="adj" fmla="val 27205"/>
            </a:avLst>
          </a:prstGeom>
          <a:solidFill>
            <a:srgbClr val="FFFFFF"/>
          </a:solidFill>
          <a:ln/>
        </p:spPr>
        <p:txBody>
          <a:bodyPr/>
          <a:lstStyle/>
          <a:p>
            <a:endParaRPr lang="en-US"/>
          </a:p>
        </p:txBody>
      </p:sp>
      <p:sp>
        <p:nvSpPr>
          <p:cNvPr id="10" name="Text 8"/>
          <p:cNvSpPr/>
          <p:nvPr/>
        </p:nvSpPr>
        <p:spPr>
          <a:xfrm>
            <a:off x="1202888" y="4594622"/>
            <a:ext cx="2512695" cy="313968"/>
          </a:xfrm>
          <a:prstGeom prst="rect">
            <a:avLst/>
          </a:prstGeom>
          <a:noFill/>
          <a:ln/>
        </p:spPr>
        <p:txBody>
          <a:bodyPr wrap="none" lIns="0" tIns="0" rIns="0" bIns="0" rtlCol="0" anchor="t"/>
          <a:lstStyle/>
          <a:p>
            <a:pPr marL="0" indent="0" algn="l">
              <a:lnSpc>
                <a:spcPts val="2450"/>
              </a:lnSpc>
              <a:buNone/>
            </a:pPr>
            <a:r>
              <a:rPr lang="en-US" sz="1950" b="1">
                <a:solidFill>
                  <a:srgbClr val="000000"/>
                </a:solidFill>
                <a:latin typeface="Montserrat Bold" pitchFamily="34" charset="0"/>
                <a:ea typeface="Montserrat Bold" pitchFamily="34" charset="-122"/>
                <a:cs typeface="Montserrat Bold" pitchFamily="34" charset="-120"/>
              </a:rPr>
              <a:t>Validation</a:t>
            </a:r>
            <a:endParaRPr lang="en-US" sz="1950"/>
          </a:p>
        </p:txBody>
      </p:sp>
      <p:sp>
        <p:nvSpPr>
          <p:cNvPr id="11" name="Text 9"/>
          <p:cNvSpPr/>
          <p:nvPr/>
        </p:nvSpPr>
        <p:spPr>
          <a:xfrm>
            <a:off x="1202888" y="5129689"/>
            <a:ext cx="5591056" cy="331589"/>
          </a:xfrm>
          <a:prstGeom prst="rect">
            <a:avLst/>
          </a:prstGeom>
          <a:noFill/>
          <a:ln/>
        </p:spPr>
        <p:txBody>
          <a:bodyPr wrap="none" lIns="0" tIns="0" rIns="0" bIns="0" rtlCol="0" anchor="t"/>
          <a:lstStyle/>
          <a:p>
            <a:pPr marL="0" indent="0" algn="l">
              <a:lnSpc>
                <a:spcPts val="2600"/>
              </a:lnSpc>
              <a:buNone/>
            </a:pPr>
            <a:r>
              <a:rPr lang="en-US" sz="1700">
                <a:solidFill>
                  <a:srgbClr val="000000"/>
                </a:solidFill>
                <a:latin typeface="Source Sans 3" pitchFamily="34" charset="0"/>
                <a:ea typeface="Source Sans 3" pitchFamily="34" charset="-122"/>
                <a:cs typeface="Source Sans 3" pitchFamily="34" charset="-120"/>
              </a:rPr>
              <a:t>Pilot studies with students; usability testing for acceptance.</a:t>
            </a:r>
            <a:endParaRPr lang="en-US" sz="1700"/>
          </a:p>
        </p:txBody>
      </p:sp>
      <p:sp>
        <p:nvSpPr>
          <p:cNvPr id="12" name="Shape 10"/>
          <p:cNvSpPr/>
          <p:nvPr/>
        </p:nvSpPr>
        <p:spPr>
          <a:xfrm>
            <a:off x="859869" y="5933956"/>
            <a:ext cx="6185654" cy="1369814"/>
          </a:xfrm>
          <a:prstGeom prst="roundRect">
            <a:avLst>
              <a:gd name="adj" fmla="val 10681"/>
            </a:avLst>
          </a:prstGeom>
          <a:solidFill>
            <a:srgbClr val="F2F2F2"/>
          </a:solidFill>
          <a:ln w="30480">
            <a:solidFill>
              <a:srgbClr val="494A4B"/>
            </a:solidFill>
            <a:prstDash val="solid"/>
          </a:ln>
        </p:spPr>
        <p:txBody>
          <a:bodyPr/>
          <a:lstStyle/>
          <a:p>
            <a:endParaRPr lang="en-US"/>
          </a:p>
        </p:txBody>
      </p:sp>
      <p:sp>
        <p:nvSpPr>
          <p:cNvPr id="13" name="Shape 11"/>
          <p:cNvSpPr/>
          <p:nvPr/>
        </p:nvSpPr>
        <p:spPr>
          <a:xfrm>
            <a:off x="829389" y="5933956"/>
            <a:ext cx="121920" cy="1369814"/>
          </a:xfrm>
          <a:prstGeom prst="roundRect">
            <a:avLst>
              <a:gd name="adj" fmla="val 27205"/>
            </a:avLst>
          </a:prstGeom>
          <a:solidFill>
            <a:srgbClr val="FFFFFF"/>
          </a:solidFill>
          <a:ln/>
        </p:spPr>
        <p:txBody>
          <a:bodyPr/>
          <a:lstStyle/>
          <a:p>
            <a:endParaRPr lang="en-US"/>
          </a:p>
        </p:txBody>
      </p:sp>
      <p:sp>
        <p:nvSpPr>
          <p:cNvPr id="14" name="Text 12"/>
          <p:cNvSpPr/>
          <p:nvPr/>
        </p:nvSpPr>
        <p:spPr>
          <a:xfrm>
            <a:off x="1202888" y="6185535"/>
            <a:ext cx="2512695" cy="313968"/>
          </a:xfrm>
          <a:prstGeom prst="rect">
            <a:avLst/>
          </a:prstGeom>
          <a:noFill/>
          <a:ln/>
        </p:spPr>
        <p:txBody>
          <a:bodyPr wrap="none" lIns="0" tIns="0" rIns="0" bIns="0" rtlCol="0" anchor="t"/>
          <a:lstStyle/>
          <a:p>
            <a:pPr marL="0" indent="0" algn="l">
              <a:lnSpc>
                <a:spcPts val="2450"/>
              </a:lnSpc>
              <a:buNone/>
            </a:pPr>
            <a:r>
              <a:rPr lang="en-US" sz="1950" b="1">
                <a:solidFill>
                  <a:srgbClr val="000000"/>
                </a:solidFill>
                <a:latin typeface="Montserrat Bold" pitchFamily="34" charset="0"/>
                <a:ea typeface="Montserrat Bold" pitchFamily="34" charset="-122"/>
                <a:cs typeface="Montserrat Bold" pitchFamily="34" charset="-120"/>
              </a:rPr>
              <a:t>Accuracy</a:t>
            </a:r>
            <a:endParaRPr lang="en-US" sz="1950"/>
          </a:p>
        </p:txBody>
      </p:sp>
      <p:sp>
        <p:nvSpPr>
          <p:cNvPr id="15" name="Text 13"/>
          <p:cNvSpPr/>
          <p:nvPr/>
        </p:nvSpPr>
        <p:spPr>
          <a:xfrm>
            <a:off x="1202888" y="6720602"/>
            <a:ext cx="5591056" cy="331589"/>
          </a:xfrm>
          <a:prstGeom prst="rect">
            <a:avLst/>
          </a:prstGeom>
          <a:noFill/>
          <a:ln/>
        </p:spPr>
        <p:txBody>
          <a:bodyPr wrap="none" lIns="0" tIns="0" rIns="0" bIns="0" rtlCol="0" anchor="t"/>
          <a:lstStyle/>
          <a:p>
            <a:pPr marL="0" indent="0" algn="l">
              <a:lnSpc>
                <a:spcPts val="2600"/>
              </a:lnSpc>
              <a:buNone/>
            </a:pPr>
            <a:r>
              <a:rPr lang="en-US" sz="1700">
                <a:solidFill>
                  <a:srgbClr val="000000"/>
                </a:solidFill>
                <a:latin typeface="Source Sans 3" pitchFamily="34" charset="0"/>
                <a:ea typeface="Source Sans 3" pitchFamily="34" charset="-122"/>
                <a:cs typeface="Source Sans 3" pitchFamily="34" charset="-120"/>
              </a:rPr>
              <a:t>Predictive model target: &gt;70% accuracy in classifying exits.</a:t>
            </a:r>
            <a:endParaRPr lang="en-US" sz="1700"/>
          </a:p>
        </p:txBody>
      </p:sp>
      <p:sp>
        <p:nvSpPr>
          <p:cNvPr id="16" name="Text 14"/>
          <p:cNvSpPr/>
          <p:nvPr/>
        </p:nvSpPr>
        <p:spPr>
          <a:xfrm>
            <a:off x="7592497" y="1857851"/>
            <a:ext cx="3223498" cy="313968"/>
          </a:xfrm>
          <a:prstGeom prst="rect">
            <a:avLst/>
          </a:prstGeom>
          <a:noFill/>
          <a:ln/>
        </p:spPr>
        <p:txBody>
          <a:bodyPr wrap="none" lIns="0" tIns="0" rIns="0" bIns="0" rtlCol="0" anchor="t"/>
          <a:lstStyle/>
          <a:p>
            <a:pPr marL="0" indent="0" algn="l">
              <a:lnSpc>
                <a:spcPts val="2450"/>
              </a:lnSpc>
              <a:buNone/>
            </a:pPr>
            <a:r>
              <a:rPr lang="en-US" sz="1950" b="1">
                <a:solidFill>
                  <a:srgbClr val="000000"/>
                </a:solidFill>
                <a:latin typeface="Montserrat Bold" pitchFamily="34" charset="0"/>
                <a:ea typeface="Montserrat Bold" pitchFamily="34" charset="-122"/>
                <a:cs typeface="Montserrat Bold" pitchFamily="34" charset="-120"/>
              </a:rPr>
              <a:t>Data &amp; Ethical Clearance</a:t>
            </a:r>
            <a:endParaRPr lang="en-US" sz="1950"/>
          </a:p>
        </p:txBody>
      </p:sp>
      <p:sp>
        <p:nvSpPr>
          <p:cNvPr id="17" name="Shape 15"/>
          <p:cNvSpPr/>
          <p:nvPr/>
        </p:nvSpPr>
        <p:spPr>
          <a:xfrm>
            <a:off x="7592497" y="2420541"/>
            <a:ext cx="6185654" cy="1308854"/>
          </a:xfrm>
          <a:prstGeom prst="roundRect">
            <a:avLst>
              <a:gd name="adj" fmla="val 2534"/>
            </a:avLst>
          </a:prstGeom>
          <a:solidFill>
            <a:srgbClr val="AEE4BD"/>
          </a:solidFill>
          <a:ln/>
        </p:spPr>
        <p:txBody>
          <a:bodyPr/>
          <a:lstStyle/>
          <a:p>
            <a:endParaRPr lang="en-US"/>
          </a:p>
        </p:txBody>
      </p:sp>
      <p:sp>
        <p:nvSpPr>
          <p:cNvPr id="18" name="Text 16"/>
          <p:cNvSpPr/>
          <p:nvPr/>
        </p:nvSpPr>
        <p:spPr>
          <a:xfrm>
            <a:off x="7813596" y="2641640"/>
            <a:ext cx="2512695" cy="313968"/>
          </a:xfrm>
          <a:prstGeom prst="rect">
            <a:avLst/>
          </a:prstGeom>
          <a:noFill/>
          <a:ln/>
        </p:spPr>
        <p:txBody>
          <a:bodyPr wrap="none" lIns="0" tIns="0" rIns="0" bIns="0" rtlCol="0" anchor="t"/>
          <a:lstStyle/>
          <a:p>
            <a:pPr marL="0" indent="0" algn="l">
              <a:lnSpc>
                <a:spcPts val="2450"/>
              </a:lnSpc>
              <a:buNone/>
            </a:pPr>
            <a:r>
              <a:rPr lang="en-US" sz="1950" b="1">
                <a:solidFill>
                  <a:srgbClr val="000000"/>
                </a:solidFill>
                <a:latin typeface="Montserrat Bold" pitchFamily="34" charset="0"/>
                <a:ea typeface="Montserrat Bold" pitchFamily="34" charset="-122"/>
                <a:cs typeface="Montserrat Bold" pitchFamily="34" charset="-120"/>
              </a:rPr>
              <a:t>Data Sources</a:t>
            </a:r>
            <a:endParaRPr lang="en-US" sz="1950"/>
          </a:p>
        </p:txBody>
      </p:sp>
      <p:sp>
        <p:nvSpPr>
          <p:cNvPr id="19" name="Text 17"/>
          <p:cNvSpPr/>
          <p:nvPr/>
        </p:nvSpPr>
        <p:spPr>
          <a:xfrm>
            <a:off x="7813596" y="3176707"/>
            <a:ext cx="5743456" cy="331589"/>
          </a:xfrm>
          <a:prstGeom prst="rect">
            <a:avLst/>
          </a:prstGeom>
          <a:noFill/>
          <a:ln/>
        </p:spPr>
        <p:txBody>
          <a:bodyPr wrap="none" lIns="0" tIns="0" rIns="0" bIns="0" rtlCol="0" anchor="t"/>
          <a:lstStyle/>
          <a:p>
            <a:pPr marL="0" indent="0" algn="l">
              <a:lnSpc>
                <a:spcPts val="2600"/>
              </a:lnSpc>
              <a:buNone/>
            </a:pPr>
            <a:r>
              <a:rPr lang="en-US" sz="1700">
                <a:solidFill>
                  <a:srgbClr val="000000"/>
                </a:solidFill>
                <a:latin typeface="Source Sans 3" pitchFamily="34" charset="0"/>
                <a:ea typeface="Source Sans 3" pitchFamily="34" charset="-122"/>
                <a:cs typeface="Source Sans 3" pitchFamily="34" charset="-120"/>
              </a:rPr>
              <a:t>User interaction logs (typing pace, app-switch frequency).</a:t>
            </a:r>
            <a:endParaRPr lang="en-US" sz="1700"/>
          </a:p>
        </p:txBody>
      </p:sp>
      <p:sp>
        <p:nvSpPr>
          <p:cNvPr id="20" name="Shape 18"/>
          <p:cNvSpPr/>
          <p:nvPr/>
        </p:nvSpPr>
        <p:spPr>
          <a:xfrm>
            <a:off x="7592497" y="3950494"/>
            <a:ext cx="6185654" cy="1308854"/>
          </a:xfrm>
          <a:prstGeom prst="roundRect">
            <a:avLst>
              <a:gd name="adj" fmla="val 2534"/>
            </a:avLst>
          </a:prstGeom>
          <a:solidFill>
            <a:srgbClr val="AEE4BD"/>
          </a:solidFill>
          <a:ln/>
        </p:spPr>
        <p:txBody>
          <a:bodyPr/>
          <a:lstStyle/>
          <a:p>
            <a:endParaRPr lang="en-US"/>
          </a:p>
        </p:txBody>
      </p:sp>
      <p:sp>
        <p:nvSpPr>
          <p:cNvPr id="21" name="Text 19"/>
          <p:cNvSpPr/>
          <p:nvPr/>
        </p:nvSpPr>
        <p:spPr>
          <a:xfrm>
            <a:off x="7813596" y="4171593"/>
            <a:ext cx="2550676" cy="313968"/>
          </a:xfrm>
          <a:prstGeom prst="rect">
            <a:avLst/>
          </a:prstGeom>
          <a:noFill/>
          <a:ln/>
        </p:spPr>
        <p:txBody>
          <a:bodyPr wrap="none" lIns="0" tIns="0" rIns="0" bIns="0" rtlCol="0" anchor="t"/>
          <a:lstStyle/>
          <a:p>
            <a:pPr marL="0" indent="0" algn="l">
              <a:lnSpc>
                <a:spcPts val="2450"/>
              </a:lnSpc>
              <a:buNone/>
            </a:pPr>
            <a:r>
              <a:rPr lang="en-US" sz="1950" b="1">
                <a:solidFill>
                  <a:srgbClr val="000000"/>
                </a:solidFill>
                <a:latin typeface="Montserrat Bold" pitchFamily="34" charset="0"/>
                <a:ea typeface="Montserrat Bold" pitchFamily="34" charset="-122"/>
                <a:cs typeface="Montserrat Bold" pitchFamily="34" charset="-120"/>
              </a:rPr>
              <a:t>Reflection Prompts</a:t>
            </a:r>
            <a:endParaRPr lang="en-US" sz="1950"/>
          </a:p>
        </p:txBody>
      </p:sp>
      <p:sp>
        <p:nvSpPr>
          <p:cNvPr id="22" name="Text 20"/>
          <p:cNvSpPr/>
          <p:nvPr/>
        </p:nvSpPr>
        <p:spPr>
          <a:xfrm>
            <a:off x="7813596" y="4706660"/>
            <a:ext cx="5743456" cy="331589"/>
          </a:xfrm>
          <a:prstGeom prst="rect">
            <a:avLst/>
          </a:prstGeom>
          <a:noFill/>
          <a:ln/>
        </p:spPr>
        <p:txBody>
          <a:bodyPr wrap="none" lIns="0" tIns="0" rIns="0" bIns="0" rtlCol="0" anchor="t"/>
          <a:lstStyle/>
          <a:p>
            <a:pPr marL="0" indent="0" algn="l">
              <a:lnSpc>
                <a:spcPts val="2600"/>
              </a:lnSpc>
              <a:buNone/>
            </a:pPr>
            <a:r>
              <a:rPr lang="en-US" sz="1700">
                <a:solidFill>
                  <a:srgbClr val="000000"/>
                </a:solidFill>
                <a:latin typeface="Source Sans 3" pitchFamily="34" charset="0"/>
                <a:ea typeface="Source Sans 3" pitchFamily="34" charset="-122"/>
                <a:cs typeface="Source Sans 3" pitchFamily="34" charset="-120"/>
              </a:rPr>
              <a:t>Provide self-reported disengagement reasons.</a:t>
            </a:r>
            <a:endParaRPr lang="en-US" sz="1700"/>
          </a:p>
        </p:txBody>
      </p:sp>
      <p:sp>
        <p:nvSpPr>
          <p:cNvPr id="23" name="Shape 21"/>
          <p:cNvSpPr/>
          <p:nvPr/>
        </p:nvSpPr>
        <p:spPr>
          <a:xfrm>
            <a:off x="7592497" y="5480447"/>
            <a:ext cx="6185654" cy="1308854"/>
          </a:xfrm>
          <a:prstGeom prst="roundRect">
            <a:avLst>
              <a:gd name="adj" fmla="val 2534"/>
            </a:avLst>
          </a:prstGeom>
          <a:solidFill>
            <a:srgbClr val="AEE4BD"/>
          </a:solidFill>
          <a:ln/>
        </p:spPr>
        <p:txBody>
          <a:bodyPr/>
          <a:lstStyle/>
          <a:p>
            <a:endParaRPr lang="en-US"/>
          </a:p>
        </p:txBody>
      </p:sp>
      <p:sp>
        <p:nvSpPr>
          <p:cNvPr id="24" name="Text 22"/>
          <p:cNvSpPr/>
          <p:nvPr/>
        </p:nvSpPr>
        <p:spPr>
          <a:xfrm>
            <a:off x="7813596" y="5701546"/>
            <a:ext cx="2512695" cy="313968"/>
          </a:xfrm>
          <a:prstGeom prst="rect">
            <a:avLst/>
          </a:prstGeom>
          <a:noFill/>
          <a:ln/>
        </p:spPr>
        <p:txBody>
          <a:bodyPr wrap="none" lIns="0" tIns="0" rIns="0" bIns="0" rtlCol="0" anchor="t"/>
          <a:lstStyle/>
          <a:p>
            <a:pPr marL="0" indent="0" algn="l">
              <a:lnSpc>
                <a:spcPts val="2450"/>
              </a:lnSpc>
              <a:buNone/>
            </a:pPr>
            <a:r>
              <a:rPr lang="en-US" sz="1950" b="1">
                <a:solidFill>
                  <a:srgbClr val="000000"/>
                </a:solidFill>
                <a:latin typeface="Montserrat Bold" pitchFamily="34" charset="0"/>
                <a:ea typeface="Montserrat Bold" pitchFamily="34" charset="-122"/>
                <a:cs typeface="Montserrat Bold" pitchFamily="34" charset="-120"/>
              </a:rPr>
              <a:t>Ethical Safeguards</a:t>
            </a:r>
            <a:endParaRPr lang="en-US" sz="1950"/>
          </a:p>
        </p:txBody>
      </p:sp>
      <p:sp>
        <p:nvSpPr>
          <p:cNvPr id="25" name="Text 23"/>
          <p:cNvSpPr/>
          <p:nvPr/>
        </p:nvSpPr>
        <p:spPr>
          <a:xfrm>
            <a:off x="7813596" y="6236613"/>
            <a:ext cx="5743456" cy="331589"/>
          </a:xfrm>
          <a:prstGeom prst="rect">
            <a:avLst/>
          </a:prstGeom>
          <a:noFill/>
          <a:ln/>
        </p:spPr>
        <p:txBody>
          <a:bodyPr wrap="none" lIns="0" tIns="0" rIns="0" bIns="0" rtlCol="0" anchor="t"/>
          <a:lstStyle/>
          <a:p>
            <a:pPr marL="0" indent="0" algn="l">
              <a:lnSpc>
                <a:spcPts val="2600"/>
              </a:lnSpc>
              <a:buNone/>
            </a:pPr>
            <a:r>
              <a:rPr lang="en-US" sz="1700">
                <a:solidFill>
                  <a:srgbClr val="000000"/>
                </a:solidFill>
                <a:latin typeface="Source Sans 3" pitchFamily="34" charset="0"/>
                <a:ea typeface="Source Sans 3" pitchFamily="34" charset="-122"/>
                <a:cs typeface="Source Sans 3" pitchFamily="34" charset="-120"/>
              </a:rPr>
              <a:t>On-device storage, user consent, transparency.</a:t>
            </a:r>
            <a:endParaRPr lang="en-US" sz="1700"/>
          </a:p>
        </p:txBody>
      </p:sp>
      <p:sp>
        <p:nvSpPr>
          <p:cNvPr id="26" name="Rectangle 25">
            <a:extLst>
              <a:ext uri="{FF2B5EF4-FFF2-40B4-BE49-F238E27FC236}">
                <a16:creationId xmlns:a16="http://schemas.microsoft.com/office/drawing/2014/main" id="{C9DACFFE-AEFA-DB45-7574-054C1A9C0301}"/>
              </a:ext>
            </a:extLst>
          </p:cNvPr>
          <p:cNvSpPr/>
          <p:nvPr/>
        </p:nvSpPr>
        <p:spPr>
          <a:xfrm>
            <a:off x="12790449" y="7750098"/>
            <a:ext cx="1739590" cy="390292"/>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15481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3798" y="1073825"/>
            <a:ext cx="5609749" cy="701278"/>
          </a:xfrm>
          <a:prstGeom prst="rect">
            <a:avLst/>
          </a:prstGeom>
          <a:noFill/>
          <a:ln/>
        </p:spPr>
        <p:txBody>
          <a:bodyPr wrap="none" lIns="0" tIns="0" rIns="0" bIns="0" rtlCol="0" anchor="t"/>
          <a:lstStyle/>
          <a:p>
            <a:pPr marL="0" indent="0" algn="l">
              <a:lnSpc>
                <a:spcPts val="5500"/>
              </a:lnSpc>
              <a:buNone/>
            </a:pPr>
            <a:r>
              <a:rPr lang="en-US" sz="4400" b="1">
                <a:solidFill>
                  <a:srgbClr val="FFFFFF"/>
                </a:solidFill>
                <a:latin typeface="Montserrat Bold" pitchFamily="34" charset="0"/>
                <a:ea typeface="Montserrat Bold" pitchFamily="34" charset="-122"/>
                <a:cs typeface="Montserrat Bold" pitchFamily="34" charset="-120"/>
              </a:rPr>
              <a:t>References</a:t>
            </a:r>
            <a:endParaRPr lang="en-US" sz="4400"/>
          </a:p>
        </p:txBody>
      </p:sp>
      <p:sp>
        <p:nvSpPr>
          <p:cNvPr id="3" name="Text 1"/>
          <p:cNvSpPr/>
          <p:nvPr/>
        </p:nvSpPr>
        <p:spPr>
          <a:xfrm>
            <a:off x="863798" y="1768388"/>
            <a:ext cx="4415552" cy="420648"/>
          </a:xfrm>
          <a:prstGeom prst="rect">
            <a:avLst/>
          </a:prstGeom>
          <a:noFill/>
          <a:ln/>
        </p:spPr>
        <p:txBody>
          <a:bodyPr wrap="none" lIns="0" tIns="0" rIns="0" bIns="0" rtlCol="0" anchor="t"/>
          <a:lstStyle/>
          <a:p>
            <a:pPr marL="0" indent="0" algn="l">
              <a:lnSpc>
                <a:spcPts val="3300"/>
              </a:lnSpc>
              <a:buNone/>
            </a:pPr>
            <a:r>
              <a:rPr lang="en-US" sz="2650" b="1">
                <a:solidFill>
                  <a:srgbClr val="FFFFFF"/>
                </a:solidFill>
                <a:latin typeface="Montserrat Bold" pitchFamily="34" charset="0"/>
                <a:ea typeface="Montserrat Bold" pitchFamily="34" charset="-122"/>
                <a:cs typeface="Montserrat Bold" pitchFamily="34" charset="-120"/>
              </a:rPr>
              <a:t>IEEE Referencing Format</a:t>
            </a:r>
            <a:endParaRPr lang="en-US" sz="2650"/>
          </a:p>
        </p:txBody>
      </p:sp>
      <p:sp>
        <p:nvSpPr>
          <p:cNvPr id="4" name="Text 2"/>
          <p:cNvSpPr/>
          <p:nvPr/>
        </p:nvSpPr>
        <p:spPr>
          <a:xfrm>
            <a:off x="848728" y="2565916"/>
            <a:ext cx="12902803" cy="740331"/>
          </a:xfrm>
          <a:prstGeom prst="rect">
            <a:avLst/>
          </a:prstGeom>
          <a:noFill/>
          <a:ln/>
        </p:spPr>
        <p:txBody>
          <a:bodyPr wrap="square" lIns="0" tIns="0" rIns="0" bIns="0" rtlCol="0" anchor="t"/>
          <a:lstStyle/>
          <a:p>
            <a:pPr algn="l">
              <a:lnSpc>
                <a:spcPts val="2900"/>
              </a:lnSpc>
              <a:buSzPct val="100000"/>
            </a:pPr>
            <a:r>
              <a:rPr lang="en-US" sz="1900">
                <a:solidFill>
                  <a:srgbClr val="E2E6E9"/>
                </a:solidFill>
                <a:latin typeface="Source Sans 3" pitchFamily="34" charset="0"/>
                <a:ea typeface="Source Sans 3" pitchFamily="34" charset="-122"/>
                <a:cs typeface="Source Sans 3" pitchFamily="34" charset="-120"/>
              </a:rPr>
              <a:t>[1] </a:t>
            </a:r>
            <a:r>
              <a:rPr lang="en-US" sz="1900" err="1">
                <a:solidFill>
                  <a:srgbClr val="E2E6E9"/>
                </a:solidFill>
                <a:latin typeface="Source Sans 3" pitchFamily="34" charset="0"/>
                <a:ea typeface="Source Sans 3" pitchFamily="34" charset="-122"/>
                <a:cs typeface="Source Sans 3" pitchFamily="34" charset="-120"/>
              </a:rPr>
              <a:t>Zerbini</a:t>
            </a:r>
            <a:r>
              <a:rPr lang="en-US" sz="1900">
                <a:solidFill>
                  <a:srgbClr val="E2E6E9"/>
                </a:solidFill>
                <a:latin typeface="Source Sans 3" pitchFamily="34" charset="0"/>
                <a:ea typeface="Source Sans 3" pitchFamily="34" charset="-122"/>
                <a:cs typeface="Source Sans 3" pitchFamily="34" charset="-120"/>
              </a:rPr>
              <a:t>, G., et al. (2017). "Time to learn: How chronotype impacts education." </a:t>
            </a:r>
            <a:r>
              <a:rPr lang="en-US" sz="1900" err="1">
                <a:solidFill>
                  <a:srgbClr val="E2E6E9"/>
                </a:solidFill>
                <a:latin typeface="Source Sans 3" pitchFamily="34" charset="0"/>
                <a:ea typeface="Source Sans 3" pitchFamily="34" charset="-122"/>
                <a:cs typeface="Source Sans 3" pitchFamily="34" charset="-120"/>
              </a:rPr>
              <a:t>PsyCh</a:t>
            </a:r>
            <a:r>
              <a:rPr lang="en-US" sz="1900">
                <a:solidFill>
                  <a:srgbClr val="E2E6E9"/>
                </a:solidFill>
                <a:latin typeface="Source Sans 3" pitchFamily="34" charset="0"/>
                <a:ea typeface="Source Sans 3" pitchFamily="34" charset="-122"/>
                <a:cs typeface="Source Sans 3" pitchFamily="34" charset="-120"/>
              </a:rPr>
              <a:t> Journal, 6(4), 263-276. Available at:</a:t>
            </a:r>
            <a:endParaRPr lang="en-US" sz="1900"/>
          </a:p>
        </p:txBody>
      </p:sp>
      <p:sp>
        <p:nvSpPr>
          <p:cNvPr id="5" name="Text 3"/>
          <p:cNvSpPr/>
          <p:nvPr/>
        </p:nvSpPr>
        <p:spPr>
          <a:xfrm>
            <a:off x="848727" y="2936081"/>
            <a:ext cx="12902803" cy="740331"/>
          </a:xfrm>
          <a:prstGeom prst="rect">
            <a:avLst/>
          </a:prstGeom>
          <a:noFill/>
          <a:ln/>
        </p:spPr>
        <p:txBody>
          <a:bodyPr wrap="square" lIns="0" tIns="0" rIns="0" bIns="0" rtlCol="0" anchor="t"/>
          <a:lstStyle/>
          <a:p>
            <a:pPr algn="l">
              <a:lnSpc>
                <a:spcPts val="2900"/>
              </a:lnSpc>
              <a:buSzPct val="100000"/>
            </a:pPr>
            <a:r>
              <a:rPr lang="en-US" sz="1900">
                <a:solidFill>
                  <a:srgbClr val="E2E6E9"/>
                </a:solidFill>
                <a:latin typeface="Source Sans 3" pitchFamily="34" charset="0"/>
                <a:ea typeface="Source Sans 3" pitchFamily="34" charset="-122"/>
                <a:cs typeface="Source Sans 3" pitchFamily="34" charset="-120"/>
              </a:rPr>
              <a:t>[2] Goldstein, D., et al. (2023). "Chronotype, Time of Day, and Performance on Intelligence Tests in the School Setting." Behavioral Sciences, </a:t>
            </a:r>
            <a:endParaRPr lang="en-US" sz="1900"/>
          </a:p>
        </p:txBody>
      </p:sp>
      <p:sp>
        <p:nvSpPr>
          <p:cNvPr id="6" name="Text 4"/>
          <p:cNvSpPr/>
          <p:nvPr/>
        </p:nvSpPr>
        <p:spPr>
          <a:xfrm>
            <a:off x="848726" y="3627776"/>
            <a:ext cx="12902803" cy="370165"/>
          </a:xfrm>
          <a:prstGeom prst="rect">
            <a:avLst/>
          </a:prstGeom>
          <a:noFill/>
          <a:ln/>
        </p:spPr>
        <p:txBody>
          <a:bodyPr wrap="none" lIns="0" tIns="0" rIns="0" bIns="0" rtlCol="0" anchor="t"/>
          <a:lstStyle/>
          <a:p>
            <a:pPr algn="l">
              <a:lnSpc>
                <a:spcPts val="2900"/>
              </a:lnSpc>
              <a:buSzPct val="100000"/>
            </a:pPr>
            <a:r>
              <a:rPr lang="en-US" sz="1900">
                <a:solidFill>
                  <a:srgbClr val="E2E6E9"/>
                </a:solidFill>
                <a:latin typeface="Source Sans 3" pitchFamily="34" charset="0"/>
                <a:ea typeface="Source Sans 3" pitchFamily="34" charset="-122"/>
                <a:cs typeface="Source Sans 3" pitchFamily="34" charset="-120"/>
              </a:rPr>
              <a:t>[3] Nguyen, T. M., et al. (2023). "A Review on Smartphone Keystroke Dynamics as a Digital Biomarker..." </a:t>
            </a:r>
            <a:r>
              <a:rPr lang="en-US" sz="1900" i="1">
                <a:solidFill>
                  <a:srgbClr val="CCCCCC"/>
                </a:solidFill>
                <a:latin typeface="Source Sans 3" pitchFamily="34" charset="0"/>
                <a:ea typeface="Source Sans 3" pitchFamily="34" charset="-122"/>
                <a:cs typeface="Source Sans 3" pitchFamily="34" charset="-120"/>
              </a:rPr>
              <a:t>Brain Sciences</a:t>
            </a:r>
            <a:r>
              <a:rPr lang="en-US" sz="1900">
                <a:solidFill>
                  <a:srgbClr val="E2E6E9"/>
                </a:solidFill>
                <a:latin typeface="Source Sans 3" pitchFamily="34" charset="0"/>
                <a:ea typeface="Source Sans 3" pitchFamily="34" charset="-122"/>
                <a:cs typeface="Source Sans 3" pitchFamily="34" charset="-120"/>
              </a:rPr>
              <a:t>.</a:t>
            </a:r>
            <a:endParaRPr lang="en-US" sz="1900"/>
          </a:p>
        </p:txBody>
      </p:sp>
      <p:sp>
        <p:nvSpPr>
          <p:cNvPr id="11" name="TextBox 10">
            <a:extLst>
              <a:ext uri="{FF2B5EF4-FFF2-40B4-BE49-F238E27FC236}">
                <a16:creationId xmlns:a16="http://schemas.microsoft.com/office/drawing/2014/main" id="{72A2DCAE-BA8F-9DBB-D880-B7AC64AF302C}"/>
              </a:ext>
            </a:extLst>
          </p:cNvPr>
          <p:cNvSpPr txBox="1"/>
          <p:nvPr/>
        </p:nvSpPr>
        <p:spPr>
          <a:xfrm>
            <a:off x="11046142" y="7372686"/>
            <a:ext cx="3569188" cy="400110"/>
          </a:xfrm>
          <a:prstGeom prst="rect">
            <a:avLst/>
          </a:prstGeom>
          <a:solidFill>
            <a:srgbClr val="1D1F22"/>
          </a:solidFill>
        </p:spPr>
        <p:txBody>
          <a:bodyPr wrap="square" rtlCol="0">
            <a:spAutoFit/>
          </a:bodyPr>
          <a:lstStyle/>
          <a:p>
            <a:r>
              <a:rPr lang="en-US" sz="2000">
                <a:solidFill>
                  <a:schemeClr val="tx1">
                    <a:lumMod val="50000"/>
                    <a:lumOff val="50000"/>
                  </a:schemeClr>
                </a:solidFill>
              </a:rPr>
              <a:t>IT22276582 – Yasasvin W.M.Y</a:t>
            </a:r>
          </a:p>
        </p:txBody>
      </p:sp>
      <p:sp>
        <p:nvSpPr>
          <p:cNvPr id="12" name="Text 4">
            <a:extLst>
              <a:ext uri="{FF2B5EF4-FFF2-40B4-BE49-F238E27FC236}">
                <a16:creationId xmlns:a16="http://schemas.microsoft.com/office/drawing/2014/main" id="{5545E726-437E-4BA9-990A-0ECFEFD88DDA}"/>
              </a:ext>
            </a:extLst>
          </p:cNvPr>
          <p:cNvSpPr/>
          <p:nvPr/>
        </p:nvSpPr>
        <p:spPr>
          <a:xfrm>
            <a:off x="848728" y="4043888"/>
            <a:ext cx="12902803" cy="793502"/>
          </a:xfrm>
          <a:prstGeom prst="rect">
            <a:avLst/>
          </a:prstGeom>
          <a:noFill/>
          <a:ln/>
        </p:spPr>
        <p:txBody>
          <a:bodyPr wrap="none" lIns="0" tIns="0" rIns="0" bIns="0" rtlCol="0" anchor="t"/>
          <a:lstStyle/>
          <a:p>
            <a:pPr algn="l">
              <a:lnSpc>
                <a:spcPts val="2900"/>
              </a:lnSpc>
              <a:buSzPct val="100000"/>
            </a:pPr>
            <a:r>
              <a:rPr lang="en-US" sz="1900">
                <a:solidFill>
                  <a:srgbClr val="E2E6E9"/>
                </a:solidFill>
                <a:latin typeface="Source Sans 3" pitchFamily="34" charset="0"/>
                <a:ea typeface="Source Sans 3" pitchFamily="34" charset="-122"/>
                <a:cs typeface="Source Sans 3" pitchFamily="34" charset="-120"/>
              </a:rPr>
              <a:t>[4] Vollmer, C., et al. (2023). "A better alignment between chronotype and school timing I</a:t>
            </a:r>
          </a:p>
          <a:p>
            <a:pPr algn="l">
              <a:lnSpc>
                <a:spcPts val="2900"/>
              </a:lnSpc>
              <a:buSzPct val="100000"/>
            </a:pPr>
            <a:r>
              <a:rPr lang="en-US" sz="1900">
                <a:solidFill>
                  <a:srgbClr val="E2E6E9"/>
                </a:solidFill>
                <a:latin typeface="Source Sans 3" pitchFamily="34" charset="0"/>
                <a:ea typeface="Source Sans 3" pitchFamily="34" charset="-122"/>
                <a:cs typeface="Source Sans 3" pitchFamily="34" charset="-120"/>
              </a:rPr>
              <a:t>s associated with lower grade retention in adolescents." </a:t>
            </a:r>
            <a:r>
              <a:rPr lang="en-US" sz="1900" err="1">
                <a:solidFill>
                  <a:srgbClr val="E2E6E9"/>
                </a:solidFill>
                <a:latin typeface="Source Sans 3" pitchFamily="34" charset="0"/>
                <a:ea typeface="Source Sans 3" pitchFamily="34" charset="-122"/>
                <a:cs typeface="Source Sans 3" pitchFamily="34" charset="-120"/>
              </a:rPr>
              <a:t>npj</a:t>
            </a:r>
            <a:r>
              <a:rPr lang="en-US" sz="1900">
                <a:solidFill>
                  <a:srgbClr val="E2E6E9"/>
                </a:solidFill>
                <a:latin typeface="Source Sans 3" pitchFamily="34" charset="0"/>
                <a:ea typeface="Source Sans 3" pitchFamily="34" charset="-122"/>
                <a:cs typeface="Source Sans 3" pitchFamily="34" charset="-120"/>
              </a:rPr>
              <a:t> Science of Learning, 10, 25.</a:t>
            </a:r>
          </a:p>
          <a:p>
            <a:pPr algn="l">
              <a:lnSpc>
                <a:spcPts val="2900"/>
              </a:lnSpc>
              <a:buSzPct val="100000"/>
            </a:pPr>
            <a:endParaRPr lang="en-US" sz="1900"/>
          </a:p>
        </p:txBody>
      </p:sp>
      <p:sp>
        <p:nvSpPr>
          <p:cNvPr id="13" name="Text 2">
            <a:extLst>
              <a:ext uri="{FF2B5EF4-FFF2-40B4-BE49-F238E27FC236}">
                <a16:creationId xmlns:a16="http://schemas.microsoft.com/office/drawing/2014/main" id="{66237AA2-2DAD-4D2B-86E8-0EB21CF184CF}"/>
              </a:ext>
            </a:extLst>
          </p:cNvPr>
          <p:cNvSpPr/>
          <p:nvPr/>
        </p:nvSpPr>
        <p:spPr>
          <a:xfrm>
            <a:off x="848725" y="4784218"/>
            <a:ext cx="12902803" cy="740331"/>
          </a:xfrm>
          <a:prstGeom prst="rect">
            <a:avLst/>
          </a:prstGeom>
          <a:noFill/>
          <a:ln/>
        </p:spPr>
        <p:txBody>
          <a:bodyPr wrap="square" lIns="0" tIns="0" rIns="0" bIns="0" rtlCol="0" anchor="t"/>
          <a:lstStyle/>
          <a:p>
            <a:pPr algn="l">
              <a:lnSpc>
                <a:spcPts val="2900"/>
              </a:lnSpc>
              <a:buSzPct val="100000"/>
            </a:pPr>
            <a:r>
              <a:rPr lang="en-US" sz="1900">
                <a:solidFill>
                  <a:srgbClr val="E2E6E9"/>
                </a:solidFill>
                <a:latin typeface="Source Sans 3" pitchFamily="34" charset="0"/>
                <a:ea typeface="Source Sans 3" pitchFamily="34" charset="-122"/>
                <a:cs typeface="Source Sans 3" pitchFamily="34" charset="-120"/>
              </a:rPr>
              <a:t>[5] Goldin, A. P., et al. (2017). "Lower school performance in late chronotypes: underlying factors and mechanisms." Scientific Reports, 7, 4385:</a:t>
            </a:r>
            <a:endParaRPr lang="en-US" sz="1900"/>
          </a:p>
        </p:txBody>
      </p:sp>
      <p:sp>
        <p:nvSpPr>
          <p:cNvPr id="14" name="Text 2">
            <a:extLst>
              <a:ext uri="{FF2B5EF4-FFF2-40B4-BE49-F238E27FC236}">
                <a16:creationId xmlns:a16="http://schemas.microsoft.com/office/drawing/2014/main" id="{1D166DD3-3162-44C9-89FE-ACD5220B4596}"/>
              </a:ext>
            </a:extLst>
          </p:cNvPr>
          <p:cNvSpPr/>
          <p:nvPr/>
        </p:nvSpPr>
        <p:spPr>
          <a:xfrm>
            <a:off x="848722" y="5521859"/>
            <a:ext cx="12902803" cy="740331"/>
          </a:xfrm>
          <a:prstGeom prst="rect">
            <a:avLst/>
          </a:prstGeom>
          <a:noFill/>
          <a:ln/>
        </p:spPr>
        <p:txBody>
          <a:bodyPr wrap="square" lIns="0" tIns="0" rIns="0" bIns="0" rtlCol="0" anchor="t"/>
          <a:lstStyle/>
          <a:p>
            <a:pPr algn="l">
              <a:lnSpc>
                <a:spcPts val="2900"/>
              </a:lnSpc>
              <a:buSzPct val="100000"/>
            </a:pPr>
            <a:r>
              <a:rPr lang="en-US" sz="1900">
                <a:solidFill>
                  <a:srgbClr val="E2E6E9"/>
                </a:solidFill>
                <a:latin typeface="Source Sans 3" pitchFamily="34" charset="0"/>
                <a:ea typeface="Source Sans 3" pitchFamily="34" charset="-122"/>
                <a:cs typeface="Source Sans 3" pitchFamily="34" charset="-120"/>
              </a:rPr>
              <a:t>[6] Chen, Y., et al. (2023). "Adaptive Sequence Learning: Contextual Multi-armed Bandit Approach." IEEE International Conference on Data Mining.</a:t>
            </a:r>
            <a:endParaRPr lang="en-US" sz="1900"/>
          </a:p>
        </p:txBody>
      </p:sp>
      <p:sp>
        <p:nvSpPr>
          <p:cNvPr id="15" name="Text 2">
            <a:extLst>
              <a:ext uri="{FF2B5EF4-FFF2-40B4-BE49-F238E27FC236}">
                <a16:creationId xmlns:a16="http://schemas.microsoft.com/office/drawing/2014/main" id="{2FF69C90-7EE0-4A28-BBEA-DAB38802A8F1}"/>
              </a:ext>
            </a:extLst>
          </p:cNvPr>
          <p:cNvSpPr/>
          <p:nvPr/>
        </p:nvSpPr>
        <p:spPr>
          <a:xfrm>
            <a:off x="841190" y="6259500"/>
            <a:ext cx="12902803" cy="740331"/>
          </a:xfrm>
          <a:prstGeom prst="rect">
            <a:avLst/>
          </a:prstGeom>
          <a:noFill/>
          <a:ln/>
        </p:spPr>
        <p:txBody>
          <a:bodyPr wrap="square" lIns="0" tIns="0" rIns="0" bIns="0" rtlCol="0" anchor="t"/>
          <a:lstStyle/>
          <a:p>
            <a:pPr algn="l">
              <a:lnSpc>
                <a:spcPts val="2900"/>
              </a:lnSpc>
              <a:buSzPct val="100000"/>
            </a:pPr>
            <a:r>
              <a:rPr lang="en-US" sz="1900">
                <a:solidFill>
                  <a:srgbClr val="E2E6E9"/>
                </a:solidFill>
                <a:latin typeface="Source Sans 3" pitchFamily="34" charset="0"/>
                <a:ea typeface="Source Sans 3" pitchFamily="34" charset="-122"/>
                <a:cs typeface="Source Sans 3" pitchFamily="34" charset="-120"/>
              </a:rPr>
              <a:t>[7] Lan, A., et al. (2016). "A Contextual Bandits Framework for Personalized Learning Action Selection." Educational Data Mining. Available at: </a:t>
            </a:r>
            <a:endParaRPr lang="en-US" sz="1900"/>
          </a:p>
        </p:txBody>
      </p:sp>
      <p:sp>
        <p:nvSpPr>
          <p:cNvPr id="16" name="Text 2">
            <a:extLst>
              <a:ext uri="{FF2B5EF4-FFF2-40B4-BE49-F238E27FC236}">
                <a16:creationId xmlns:a16="http://schemas.microsoft.com/office/drawing/2014/main" id="{1CCA4554-239E-432C-9723-3F90664DF95C}"/>
              </a:ext>
            </a:extLst>
          </p:cNvPr>
          <p:cNvSpPr/>
          <p:nvPr/>
        </p:nvSpPr>
        <p:spPr>
          <a:xfrm>
            <a:off x="833658" y="6995884"/>
            <a:ext cx="12902803" cy="740331"/>
          </a:xfrm>
          <a:prstGeom prst="rect">
            <a:avLst/>
          </a:prstGeom>
          <a:noFill/>
          <a:ln/>
        </p:spPr>
        <p:txBody>
          <a:bodyPr wrap="square" lIns="0" tIns="0" rIns="0" bIns="0" rtlCol="0" anchor="t"/>
          <a:lstStyle/>
          <a:p>
            <a:pPr algn="l">
              <a:lnSpc>
                <a:spcPts val="2900"/>
              </a:lnSpc>
              <a:buSzPct val="100000"/>
            </a:pPr>
            <a:r>
              <a:rPr lang="en-US" sz="1900">
                <a:solidFill>
                  <a:srgbClr val="E2E6E9"/>
                </a:solidFill>
                <a:latin typeface="Source Sans 3" pitchFamily="34" charset="0"/>
                <a:ea typeface="Source Sans 3" pitchFamily="34" charset="-122"/>
                <a:cs typeface="Source Sans 3" pitchFamily="34" charset="-120"/>
              </a:rPr>
              <a:t>[8] </a:t>
            </a:r>
            <a:r>
              <a:rPr lang="en-US" sz="1900" err="1">
                <a:solidFill>
                  <a:srgbClr val="E2E6E9"/>
                </a:solidFill>
                <a:latin typeface="Source Sans 3" pitchFamily="34" charset="0"/>
                <a:ea typeface="Source Sans 3" pitchFamily="34" charset="-122"/>
                <a:cs typeface="Source Sans 3" pitchFamily="34" charset="-120"/>
              </a:rPr>
              <a:t>Hunziker</a:t>
            </a:r>
            <a:r>
              <a:rPr lang="en-US" sz="1900">
                <a:solidFill>
                  <a:srgbClr val="E2E6E9"/>
                </a:solidFill>
                <a:latin typeface="Source Sans 3" pitchFamily="34" charset="0"/>
                <a:ea typeface="Source Sans 3" pitchFamily="34" charset="-122"/>
                <a:cs typeface="Source Sans 3" pitchFamily="34" charset="-120"/>
              </a:rPr>
              <a:t>, A., et al. (2020). "Reinforcement Learning for the Adaptive Scheduling of Educational Activities." Proceedings of the 2020 CHI Conference on Human Factors in Computing Systems.</a:t>
            </a:r>
            <a:endParaRPr lang="en-US" sz="1900"/>
          </a:p>
        </p:txBody>
      </p:sp>
      <p:sp>
        <p:nvSpPr>
          <p:cNvPr id="19" name="Rectangle 18">
            <a:extLst>
              <a:ext uri="{FF2B5EF4-FFF2-40B4-BE49-F238E27FC236}">
                <a16:creationId xmlns:a16="http://schemas.microsoft.com/office/drawing/2014/main" id="{86A89919-1826-41C2-8D42-770D2E922461}"/>
              </a:ext>
            </a:extLst>
          </p:cNvPr>
          <p:cNvSpPr/>
          <p:nvPr/>
        </p:nvSpPr>
        <p:spPr>
          <a:xfrm>
            <a:off x="3158922" y="7791449"/>
            <a:ext cx="11471477" cy="438150"/>
          </a:xfrm>
          <a:prstGeom prst="rect">
            <a:avLst/>
          </a:prstGeom>
          <a:solidFill>
            <a:srgbClr val="1D1F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r>
              <a:rPr kumimoji="0" lang="en-US" sz="2160" b="1" i="0" u="none" strike="noStrike" kern="1200" cap="none" spc="0" normalizeH="0" baseline="0" noProof="0">
                <a:ln>
                  <a:noFill/>
                </a:ln>
                <a:solidFill>
                  <a:prstClr val="white"/>
                </a:solidFill>
                <a:effectLst/>
                <a:uLnTx/>
                <a:uFillTx/>
                <a:latin typeface="Cambria"/>
                <a:ea typeface="+mn-ea"/>
                <a:cs typeface="+mn-cs"/>
              </a:rPr>
              <a:t>IT22276582</a:t>
            </a:r>
            <a:r>
              <a:rPr kumimoji="0" lang="en-US" sz="2160" b="0" i="0" u="none" strike="noStrike" kern="1200" cap="none" spc="0" normalizeH="0" baseline="0" noProof="0">
                <a:ln>
                  <a:noFill/>
                </a:ln>
                <a:solidFill>
                  <a:prstClr val="white"/>
                </a:solidFill>
                <a:effectLst/>
                <a:uLnTx/>
                <a:uFillTx/>
                <a:latin typeface="Cambria"/>
                <a:ea typeface="+mn-ea"/>
                <a:cs typeface="+mn-cs"/>
              </a:rPr>
              <a:t>  |  Yasasvin W.M.Y</a:t>
            </a:r>
            <a:r>
              <a:rPr kumimoji="0" lang="en-US" sz="2160" b="1" i="0" u="none" strike="noStrike" kern="1200" cap="none" spc="0" normalizeH="0" baseline="0" noProof="0">
                <a:ln>
                  <a:noFill/>
                </a:ln>
                <a:solidFill>
                  <a:prstClr val="white"/>
                </a:solidFill>
                <a:effectLst/>
                <a:uLnTx/>
                <a:uFillTx/>
                <a:latin typeface="Cambria"/>
                <a:ea typeface="+mn-ea"/>
                <a:cs typeface="+mn-cs"/>
              </a:rPr>
              <a:t>   </a:t>
            </a:r>
            <a:r>
              <a:rPr kumimoji="0" lang="en-US" sz="2160" b="0" i="0" u="none" strike="noStrike" kern="1200" cap="none" spc="0" normalizeH="0" baseline="0" noProof="0">
                <a:ln>
                  <a:noFill/>
                </a:ln>
                <a:solidFill>
                  <a:prstClr val="white"/>
                </a:solidFill>
                <a:effectLst/>
                <a:uLnTx/>
                <a:uFillTx/>
                <a:latin typeface="Cambria"/>
                <a:ea typeface="+mn-ea"/>
                <a:cs typeface="+mn-cs"/>
              </a:rPr>
              <a:t>|   25-26J-458</a:t>
            </a:r>
          </a:p>
        </p:txBody>
      </p:sp>
      <p:pic>
        <p:nvPicPr>
          <p:cNvPr id="20" name="Picture 19">
            <a:extLst>
              <a:ext uri="{FF2B5EF4-FFF2-40B4-BE49-F238E27FC236}">
                <a16:creationId xmlns:a16="http://schemas.microsoft.com/office/drawing/2014/main" id="{289CCA6F-6D73-4D11-B468-1293949EB596}"/>
              </a:ext>
            </a:extLst>
          </p:cNvPr>
          <p:cNvPicPr>
            <a:picLocks noChangeAspect="1"/>
          </p:cNvPicPr>
          <p:nvPr/>
        </p:nvPicPr>
        <p:blipFill>
          <a:blip r:embed="rId3"/>
          <a:stretch>
            <a:fillRect/>
          </a:stretch>
        </p:blipFill>
        <p:spPr>
          <a:xfrm>
            <a:off x="82192" y="7692983"/>
            <a:ext cx="3076730" cy="466725"/>
          </a:xfrm>
          <a:prstGeom prst="rect">
            <a:avLst/>
          </a:prstGeom>
        </p:spPr>
      </p:pic>
    </p:spTree>
    <p:extLst>
      <p:ext uri="{BB962C8B-B14F-4D97-AF65-F5344CB8AC3E}">
        <p14:creationId xmlns:p14="http://schemas.microsoft.com/office/powerpoint/2010/main" val="3592609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E5C41D71-81FD-4B29-AF0E-DB8588032149}"/>
              </a:ext>
            </a:extLst>
          </p:cNvPr>
          <p:cNvSpPr/>
          <p:nvPr/>
        </p:nvSpPr>
        <p:spPr>
          <a:xfrm>
            <a:off x="694827" y="843887"/>
            <a:ext cx="12902803" cy="507836"/>
          </a:xfrm>
          <a:prstGeom prst="rect">
            <a:avLst/>
          </a:prstGeom>
          <a:noFill/>
          <a:ln/>
        </p:spPr>
        <p:txBody>
          <a:bodyPr wrap="square" lIns="0" tIns="0" rIns="0" bIns="0" rtlCol="0" anchor="t"/>
          <a:lstStyle/>
          <a:p>
            <a:pPr algn="l">
              <a:lnSpc>
                <a:spcPts val="2900"/>
              </a:lnSpc>
              <a:buSzPct val="100000"/>
            </a:pPr>
            <a:r>
              <a:rPr lang="en-US" sz="1900">
                <a:solidFill>
                  <a:srgbClr val="E2E6E9"/>
                </a:solidFill>
                <a:latin typeface="Source Sans 3" pitchFamily="34" charset="0"/>
                <a:ea typeface="Source Sans 3" pitchFamily="34" charset="-122"/>
                <a:cs typeface="Source Sans 3" pitchFamily="34" charset="-120"/>
              </a:rPr>
              <a:t>[9] Multi-Armed Bandits for Intelligent Tutoring Systems. Journal of Educational Data Mining (2015). Available at: </a:t>
            </a:r>
            <a:endParaRPr lang="en-US" sz="1900"/>
          </a:p>
        </p:txBody>
      </p:sp>
      <p:sp>
        <p:nvSpPr>
          <p:cNvPr id="3" name="Text 2">
            <a:extLst>
              <a:ext uri="{FF2B5EF4-FFF2-40B4-BE49-F238E27FC236}">
                <a16:creationId xmlns:a16="http://schemas.microsoft.com/office/drawing/2014/main" id="{90754580-CA5D-4859-9474-1AD770226B65}"/>
              </a:ext>
            </a:extLst>
          </p:cNvPr>
          <p:cNvSpPr/>
          <p:nvPr/>
        </p:nvSpPr>
        <p:spPr>
          <a:xfrm>
            <a:off x="694822" y="1339365"/>
            <a:ext cx="12902803" cy="740331"/>
          </a:xfrm>
          <a:prstGeom prst="rect">
            <a:avLst/>
          </a:prstGeom>
          <a:noFill/>
          <a:ln/>
        </p:spPr>
        <p:txBody>
          <a:bodyPr wrap="square" lIns="0" tIns="0" rIns="0" bIns="0" rtlCol="0" anchor="t"/>
          <a:lstStyle/>
          <a:p>
            <a:pPr algn="l">
              <a:lnSpc>
                <a:spcPts val="2900"/>
              </a:lnSpc>
              <a:buSzPct val="100000"/>
            </a:pPr>
            <a:r>
              <a:rPr lang="en-US" sz="1900">
                <a:solidFill>
                  <a:srgbClr val="E2E6E9"/>
                </a:solidFill>
                <a:latin typeface="Source Sans 3" pitchFamily="34" charset="0"/>
                <a:ea typeface="Source Sans 3" pitchFamily="34" charset="-122"/>
                <a:cs typeface="Source Sans 3" pitchFamily="34" charset="-120"/>
              </a:rPr>
              <a:t>[10] Expert Features for a Student Support Recommendation Contextual Bandit Algorithm (2024). Proceedings of the 14th Learning Analytics and Knowledge Conference. </a:t>
            </a:r>
            <a:endParaRPr lang="en-US" sz="1900"/>
          </a:p>
        </p:txBody>
      </p:sp>
      <p:sp>
        <p:nvSpPr>
          <p:cNvPr id="4" name="Text 2">
            <a:extLst>
              <a:ext uri="{FF2B5EF4-FFF2-40B4-BE49-F238E27FC236}">
                <a16:creationId xmlns:a16="http://schemas.microsoft.com/office/drawing/2014/main" id="{504C2EC3-6D7E-4885-9852-2C7FAAA46009}"/>
              </a:ext>
            </a:extLst>
          </p:cNvPr>
          <p:cNvSpPr/>
          <p:nvPr/>
        </p:nvSpPr>
        <p:spPr>
          <a:xfrm>
            <a:off x="694821" y="2167805"/>
            <a:ext cx="12902803" cy="740331"/>
          </a:xfrm>
          <a:prstGeom prst="rect">
            <a:avLst/>
          </a:prstGeom>
          <a:noFill/>
          <a:ln/>
        </p:spPr>
        <p:txBody>
          <a:bodyPr wrap="square" lIns="0" tIns="0" rIns="0" bIns="0" rtlCol="0" anchor="t"/>
          <a:lstStyle/>
          <a:p>
            <a:pPr algn="l">
              <a:lnSpc>
                <a:spcPts val="2900"/>
              </a:lnSpc>
              <a:buSzPct val="100000"/>
            </a:pPr>
            <a:r>
              <a:rPr lang="en-US" sz="1900">
                <a:solidFill>
                  <a:srgbClr val="E2E6E9"/>
                </a:solidFill>
                <a:latin typeface="Source Sans 3" pitchFamily="34" charset="0"/>
                <a:ea typeface="Source Sans 3" pitchFamily="34" charset="-122"/>
                <a:cs typeface="Source Sans 3" pitchFamily="34" charset="-120"/>
              </a:rPr>
              <a:t>[11] An Overview of Contextual Bandits (2025). Towards Data Science</a:t>
            </a:r>
            <a:endParaRPr lang="en-US" sz="1900"/>
          </a:p>
        </p:txBody>
      </p:sp>
      <p:sp>
        <p:nvSpPr>
          <p:cNvPr id="5" name="Text 2">
            <a:extLst>
              <a:ext uri="{FF2B5EF4-FFF2-40B4-BE49-F238E27FC236}">
                <a16:creationId xmlns:a16="http://schemas.microsoft.com/office/drawing/2014/main" id="{3DB0AA40-845B-446B-B21A-C6CB6772A4AC}"/>
              </a:ext>
            </a:extLst>
          </p:cNvPr>
          <p:cNvSpPr/>
          <p:nvPr/>
        </p:nvSpPr>
        <p:spPr>
          <a:xfrm>
            <a:off x="694820" y="2626079"/>
            <a:ext cx="12902803" cy="740331"/>
          </a:xfrm>
          <a:prstGeom prst="rect">
            <a:avLst/>
          </a:prstGeom>
          <a:noFill/>
          <a:ln/>
        </p:spPr>
        <p:txBody>
          <a:bodyPr wrap="square" lIns="0" tIns="0" rIns="0" bIns="0" rtlCol="0" anchor="t"/>
          <a:lstStyle/>
          <a:p>
            <a:pPr algn="l">
              <a:lnSpc>
                <a:spcPts val="2900"/>
              </a:lnSpc>
              <a:buSzPct val="100000"/>
            </a:pPr>
            <a:r>
              <a:rPr lang="en-US" sz="1900">
                <a:solidFill>
                  <a:srgbClr val="E2E6E9"/>
                </a:solidFill>
                <a:latin typeface="Source Sans 3" pitchFamily="34" charset="0"/>
                <a:ea typeface="Source Sans 3" pitchFamily="34" charset="-122"/>
                <a:cs typeface="Source Sans 3" pitchFamily="34" charset="-120"/>
              </a:rPr>
              <a:t>[12] Dynamic Linear Epsilon-Greedy: A Bandit You Can Trust (2023). Proceedings of the 31st ACM Conference on User Modeling, Adaptation and Personalization. </a:t>
            </a:r>
            <a:endParaRPr lang="en-US" sz="1900"/>
          </a:p>
        </p:txBody>
      </p:sp>
      <p:sp>
        <p:nvSpPr>
          <p:cNvPr id="6" name="Text 2">
            <a:extLst>
              <a:ext uri="{FF2B5EF4-FFF2-40B4-BE49-F238E27FC236}">
                <a16:creationId xmlns:a16="http://schemas.microsoft.com/office/drawing/2014/main" id="{136AA907-F0BD-442C-9299-F01F8457B5C1}"/>
              </a:ext>
            </a:extLst>
          </p:cNvPr>
          <p:cNvSpPr/>
          <p:nvPr/>
        </p:nvSpPr>
        <p:spPr>
          <a:xfrm>
            <a:off x="694827" y="3454519"/>
            <a:ext cx="12902803" cy="740331"/>
          </a:xfrm>
          <a:prstGeom prst="rect">
            <a:avLst/>
          </a:prstGeom>
          <a:noFill/>
          <a:ln/>
        </p:spPr>
        <p:txBody>
          <a:bodyPr wrap="square" lIns="0" tIns="0" rIns="0" bIns="0" rtlCol="0" anchor="t"/>
          <a:lstStyle/>
          <a:p>
            <a:pPr algn="l">
              <a:lnSpc>
                <a:spcPts val="2900"/>
              </a:lnSpc>
              <a:buSzPct val="100000"/>
            </a:pPr>
            <a:r>
              <a:rPr lang="en-US" sz="1900">
                <a:solidFill>
                  <a:srgbClr val="E2E6E9"/>
                </a:solidFill>
                <a:latin typeface="Source Sans 3" pitchFamily="34" charset="0"/>
                <a:ea typeface="Source Sans 3" pitchFamily="34" charset="-122"/>
                <a:cs typeface="Source Sans 3" pitchFamily="34" charset="-120"/>
              </a:rPr>
              <a:t>[13] Contextual Bandits as Supervised Learning (2024). True Theta</a:t>
            </a:r>
            <a:endParaRPr lang="en-US" sz="1900"/>
          </a:p>
        </p:txBody>
      </p:sp>
      <p:sp>
        <p:nvSpPr>
          <p:cNvPr id="7" name="Rectangle 6">
            <a:extLst>
              <a:ext uri="{FF2B5EF4-FFF2-40B4-BE49-F238E27FC236}">
                <a16:creationId xmlns:a16="http://schemas.microsoft.com/office/drawing/2014/main" id="{8C2392CD-4119-49E6-85CE-1CE147AE4F47}"/>
              </a:ext>
            </a:extLst>
          </p:cNvPr>
          <p:cNvSpPr/>
          <p:nvPr/>
        </p:nvSpPr>
        <p:spPr>
          <a:xfrm>
            <a:off x="3158922" y="7791449"/>
            <a:ext cx="11471477" cy="438150"/>
          </a:xfrm>
          <a:prstGeom prst="rect">
            <a:avLst/>
          </a:prstGeom>
          <a:solidFill>
            <a:srgbClr val="1D1F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r>
              <a:rPr kumimoji="0" lang="en-US" sz="2160" b="1" i="0" u="none" strike="noStrike" kern="1200" cap="none" spc="0" normalizeH="0" baseline="0" noProof="0">
                <a:ln>
                  <a:noFill/>
                </a:ln>
                <a:solidFill>
                  <a:prstClr val="white"/>
                </a:solidFill>
                <a:effectLst/>
                <a:uLnTx/>
                <a:uFillTx/>
                <a:latin typeface="Cambria"/>
                <a:ea typeface="+mn-ea"/>
                <a:cs typeface="+mn-cs"/>
              </a:rPr>
              <a:t>IT22276582</a:t>
            </a:r>
            <a:r>
              <a:rPr kumimoji="0" lang="en-US" sz="2160" b="0" i="0" u="none" strike="noStrike" kern="1200" cap="none" spc="0" normalizeH="0" baseline="0" noProof="0">
                <a:ln>
                  <a:noFill/>
                </a:ln>
                <a:solidFill>
                  <a:prstClr val="white"/>
                </a:solidFill>
                <a:effectLst/>
                <a:uLnTx/>
                <a:uFillTx/>
                <a:latin typeface="Cambria"/>
                <a:ea typeface="+mn-ea"/>
                <a:cs typeface="+mn-cs"/>
              </a:rPr>
              <a:t>  |  Yasasvin W.M.Y</a:t>
            </a:r>
            <a:r>
              <a:rPr kumimoji="0" lang="en-US" sz="2160" b="1" i="0" u="none" strike="noStrike" kern="1200" cap="none" spc="0" normalizeH="0" baseline="0" noProof="0">
                <a:ln>
                  <a:noFill/>
                </a:ln>
                <a:solidFill>
                  <a:prstClr val="white"/>
                </a:solidFill>
                <a:effectLst/>
                <a:uLnTx/>
                <a:uFillTx/>
                <a:latin typeface="Cambria"/>
                <a:ea typeface="+mn-ea"/>
                <a:cs typeface="+mn-cs"/>
              </a:rPr>
              <a:t>   </a:t>
            </a:r>
            <a:r>
              <a:rPr kumimoji="0" lang="en-US" sz="2160" b="0" i="0" u="none" strike="noStrike" kern="1200" cap="none" spc="0" normalizeH="0" baseline="0" noProof="0">
                <a:ln>
                  <a:noFill/>
                </a:ln>
                <a:solidFill>
                  <a:prstClr val="white"/>
                </a:solidFill>
                <a:effectLst/>
                <a:uLnTx/>
                <a:uFillTx/>
                <a:latin typeface="Cambria"/>
                <a:ea typeface="+mn-ea"/>
                <a:cs typeface="+mn-cs"/>
              </a:rPr>
              <a:t>|   25-26J-458</a:t>
            </a:r>
          </a:p>
        </p:txBody>
      </p:sp>
      <p:pic>
        <p:nvPicPr>
          <p:cNvPr id="8" name="Picture 7">
            <a:extLst>
              <a:ext uri="{FF2B5EF4-FFF2-40B4-BE49-F238E27FC236}">
                <a16:creationId xmlns:a16="http://schemas.microsoft.com/office/drawing/2014/main" id="{48AB1327-06C0-42F0-84B2-C38492FDF9D6}"/>
              </a:ext>
            </a:extLst>
          </p:cNvPr>
          <p:cNvPicPr>
            <a:picLocks noChangeAspect="1"/>
          </p:cNvPicPr>
          <p:nvPr/>
        </p:nvPicPr>
        <p:blipFill>
          <a:blip r:embed="rId2"/>
          <a:stretch>
            <a:fillRect/>
          </a:stretch>
        </p:blipFill>
        <p:spPr>
          <a:xfrm>
            <a:off x="82192" y="7692983"/>
            <a:ext cx="3076730" cy="466725"/>
          </a:xfrm>
          <a:prstGeom prst="rect">
            <a:avLst/>
          </a:prstGeom>
        </p:spPr>
      </p:pic>
    </p:spTree>
    <p:extLst>
      <p:ext uri="{BB962C8B-B14F-4D97-AF65-F5344CB8AC3E}">
        <p14:creationId xmlns:p14="http://schemas.microsoft.com/office/powerpoint/2010/main" val="35872683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63798" y="855583"/>
            <a:ext cx="10993755" cy="701278"/>
          </a:xfrm>
          <a:prstGeom prst="rect">
            <a:avLst/>
          </a:prstGeom>
          <a:noFill/>
          <a:ln/>
        </p:spPr>
        <p:txBody>
          <a:bodyPr wrap="none" lIns="0" tIns="0" rIns="0" bIns="0" rtlCol="0" anchor="t"/>
          <a:lstStyle/>
          <a:p>
            <a:pPr marL="0" indent="0" algn="l">
              <a:lnSpc>
                <a:spcPts val="5500"/>
              </a:lnSpc>
              <a:buNone/>
            </a:pPr>
            <a:r>
              <a:rPr lang="en-US" sz="4400" b="1">
                <a:solidFill>
                  <a:srgbClr val="FFFFFF"/>
                </a:solidFill>
                <a:latin typeface="Microsoft YaHei UI" panose="020B0503020204020204" pitchFamily="34" charset="-122"/>
                <a:ea typeface="Microsoft YaHei UI" panose="020B0503020204020204" pitchFamily="34" charset="-122"/>
                <a:cs typeface="Montserrat Bold" pitchFamily="34" charset="-120"/>
              </a:rPr>
              <a:t>Adaptive Cognitive-Load Study Timer</a:t>
            </a:r>
            <a:endParaRPr lang="en-US" sz="4400">
              <a:latin typeface="Microsoft YaHei UI" panose="020B0503020204020204" pitchFamily="34" charset="-122"/>
              <a:ea typeface="Microsoft YaHei UI" panose="020B0503020204020204" pitchFamily="34" charset="-122"/>
            </a:endParaRPr>
          </a:p>
        </p:txBody>
      </p:sp>
      <p:sp>
        <p:nvSpPr>
          <p:cNvPr id="3" name="Text 1"/>
          <p:cNvSpPr/>
          <p:nvPr/>
        </p:nvSpPr>
        <p:spPr>
          <a:xfrm>
            <a:off x="863798" y="1927027"/>
            <a:ext cx="6671548" cy="560903"/>
          </a:xfrm>
          <a:prstGeom prst="rect">
            <a:avLst/>
          </a:prstGeom>
          <a:noFill/>
          <a:ln/>
        </p:spPr>
        <p:txBody>
          <a:bodyPr wrap="none" lIns="0" tIns="0" rIns="0" bIns="0" rtlCol="0" anchor="t"/>
          <a:lstStyle/>
          <a:p>
            <a:pPr marL="0" indent="0" algn="l">
              <a:lnSpc>
                <a:spcPts val="4400"/>
              </a:lnSpc>
              <a:buNone/>
            </a:pPr>
            <a:r>
              <a:rPr lang="en-US" sz="3500" b="1">
                <a:solidFill>
                  <a:srgbClr val="FFFFFF"/>
                </a:solidFill>
                <a:latin typeface="Microsoft YaHei UI" panose="020B0503020204020204" pitchFamily="34" charset="-122"/>
                <a:ea typeface="Microsoft YaHei UI" panose="020B0503020204020204" pitchFamily="34" charset="-122"/>
                <a:cs typeface="Montserrat Bold" pitchFamily="34" charset="-120"/>
              </a:rPr>
              <a:t>Commercialization &amp; Impact</a:t>
            </a:r>
            <a:endParaRPr lang="en-US" sz="3500">
              <a:latin typeface="Microsoft YaHei UI" panose="020B0503020204020204" pitchFamily="34" charset="-122"/>
              <a:ea typeface="Microsoft YaHei UI" panose="020B0503020204020204" pitchFamily="34" charset="-122"/>
            </a:endParaRPr>
          </a:p>
        </p:txBody>
      </p:sp>
      <p:sp>
        <p:nvSpPr>
          <p:cNvPr id="4" name="Text 2"/>
          <p:cNvSpPr/>
          <p:nvPr/>
        </p:nvSpPr>
        <p:spPr>
          <a:xfrm>
            <a:off x="2252305" y="3089910"/>
            <a:ext cx="2804874" cy="350639"/>
          </a:xfrm>
          <a:prstGeom prst="rect">
            <a:avLst/>
          </a:prstGeom>
          <a:noFill/>
          <a:ln/>
        </p:spPr>
        <p:txBody>
          <a:bodyPr wrap="none" lIns="0" tIns="0" rIns="0" bIns="0" rtlCol="0" anchor="t"/>
          <a:lstStyle/>
          <a:p>
            <a:pPr marL="0" indent="0" algn="r">
              <a:lnSpc>
                <a:spcPts val="2750"/>
              </a:lnSpc>
              <a:buNone/>
            </a:pPr>
            <a:r>
              <a:rPr lang="en-US" sz="2200" b="1">
                <a:solidFill>
                  <a:srgbClr val="E2E6E9"/>
                </a:solidFill>
                <a:latin typeface="Microsoft YaHei UI" panose="020B0503020204020204" pitchFamily="34" charset="-122"/>
                <a:ea typeface="Microsoft YaHei UI" panose="020B0503020204020204" pitchFamily="34" charset="-122"/>
                <a:cs typeface="Montserrat Bold" pitchFamily="34" charset="-120"/>
              </a:rPr>
              <a:t>Cost &amp; Recovery</a:t>
            </a:r>
            <a:endParaRPr lang="en-US" sz="2200">
              <a:latin typeface="Microsoft YaHei UI" panose="020B0503020204020204" pitchFamily="34" charset="-122"/>
              <a:ea typeface="Microsoft YaHei UI" panose="020B0503020204020204" pitchFamily="34" charset="-122"/>
            </a:endParaRPr>
          </a:p>
        </p:txBody>
      </p:sp>
      <p:sp>
        <p:nvSpPr>
          <p:cNvPr id="5" name="Text 3"/>
          <p:cNvSpPr/>
          <p:nvPr/>
        </p:nvSpPr>
        <p:spPr>
          <a:xfrm>
            <a:off x="863798" y="3588544"/>
            <a:ext cx="4193381" cy="1110496"/>
          </a:xfrm>
          <a:prstGeom prst="rect">
            <a:avLst/>
          </a:prstGeom>
          <a:noFill/>
          <a:ln/>
        </p:spPr>
        <p:txBody>
          <a:bodyPr wrap="square" lIns="0" tIns="0" rIns="0" bIns="0" rtlCol="0" anchor="t"/>
          <a:lstStyle/>
          <a:p>
            <a:pPr marL="0" indent="0" algn="r">
              <a:lnSpc>
                <a:spcPts val="2900"/>
              </a:lnSpc>
              <a:buNone/>
            </a:pPr>
            <a:r>
              <a:rPr lang="en-US" sz="1900">
                <a:solidFill>
                  <a:srgbClr val="E2E6E9"/>
                </a:solidFill>
                <a:latin typeface="Microsoft YaHei UI" panose="020B0503020204020204" pitchFamily="34" charset="-122"/>
                <a:ea typeface="Microsoft YaHei UI" panose="020B0503020204020204" pitchFamily="34" charset="-122"/>
                <a:cs typeface="Source Sans 3" pitchFamily="34" charset="-120"/>
              </a:rPr>
              <a:t>Low development cost, subscription/licensing model, recover within 6 months.</a:t>
            </a:r>
            <a:endParaRPr lang="en-US" sz="1900">
              <a:latin typeface="Microsoft YaHei UI" panose="020B0503020204020204" pitchFamily="34" charset="-122"/>
              <a:ea typeface="Microsoft YaHei UI" panose="020B0503020204020204" pitchFamily="34" charset="-122"/>
            </a:endParaRPr>
          </a:p>
        </p:txBody>
      </p:sp>
      <p:pic>
        <p:nvPicPr>
          <p:cNvPr id="6" name="Image 0" descr="preencoded.png"/>
          <p:cNvPicPr>
            <a:picLocks noChangeAspect="1"/>
          </p:cNvPicPr>
          <p:nvPr/>
        </p:nvPicPr>
        <p:blipFill>
          <a:blip r:embed="rId3"/>
          <a:stretch>
            <a:fillRect/>
          </a:stretch>
        </p:blipFill>
        <p:spPr>
          <a:xfrm>
            <a:off x="5057180" y="2858095"/>
            <a:ext cx="4515922" cy="4515922"/>
          </a:xfrm>
          <a:prstGeom prst="rect">
            <a:avLst/>
          </a:prstGeom>
        </p:spPr>
      </p:pic>
      <p:pic>
        <p:nvPicPr>
          <p:cNvPr id="7" name="Image 1" descr="preencoded.png"/>
          <p:cNvPicPr>
            <a:picLocks noChangeAspect="1"/>
          </p:cNvPicPr>
          <p:nvPr/>
        </p:nvPicPr>
        <p:blipFill>
          <a:blip r:embed="rId4"/>
          <a:stretch>
            <a:fillRect/>
          </a:stretch>
        </p:blipFill>
        <p:spPr>
          <a:xfrm>
            <a:off x="6319242" y="4076819"/>
            <a:ext cx="347067" cy="433864"/>
          </a:xfrm>
          <a:prstGeom prst="rect">
            <a:avLst/>
          </a:prstGeom>
        </p:spPr>
      </p:pic>
      <p:sp>
        <p:nvSpPr>
          <p:cNvPr id="8" name="Text 4"/>
          <p:cNvSpPr/>
          <p:nvPr/>
        </p:nvSpPr>
        <p:spPr>
          <a:xfrm>
            <a:off x="9573101" y="3089910"/>
            <a:ext cx="2804874" cy="350639"/>
          </a:xfrm>
          <a:prstGeom prst="rect">
            <a:avLst/>
          </a:prstGeom>
          <a:noFill/>
          <a:ln/>
        </p:spPr>
        <p:txBody>
          <a:bodyPr wrap="none" lIns="0" tIns="0" rIns="0" bIns="0" rtlCol="0" anchor="t"/>
          <a:lstStyle/>
          <a:p>
            <a:pPr marL="0" indent="0" algn="l">
              <a:lnSpc>
                <a:spcPts val="2750"/>
              </a:lnSpc>
              <a:buNone/>
            </a:pPr>
            <a:r>
              <a:rPr lang="en-US" sz="2200" b="1">
                <a:solidFill>
                  <a:srgbClr val="E2E6E9"/>
                </a:solidFill>
                <a:latin typeface="Microsoft YaHei UI" panose="020B0503020204020204" pitchFamily="34" charset="-122"/>
                <a:ea typeface="Microsoft YaHei UI" panose="020B0503020204020204" pitchFamily="34" charset="-122"/>
                <a:cs typeface="Montserrat Bold" pitchFamily="34" charset="-120"/>
              </a:rPr>
              <a:t>Target Market</a:t>
            </a:r>
            <a:endParaRPr lang="en-US" sz="2200">
              <a:latin typeface="Microsoft YaHei UI" panose="020B0503020204020204" pitchFamily="34" charset="-122"/>
              <a:ea typeface="Microsoft YaHei UI" panose="020B0503020204020204" pitchFamily="34" charset="-122"/>
            </a:endParaRPr>
          </a:p>
        </p:txBody>
      </p:sp>
      <p:sp>
        <p:nvSpPr>
          <p:cNvPr id="9" name="Text 5"/>
          <p:cNvSpPr/>
          <p:nvPr/>
        </p:nvSpPr>
        <p:spPr>
          <a:xfrm>
            <a:off x="9573101" y="3588544"/>
            <a:ext cx="4193500" cy="1110496"/>
          </a:xfrm>
          <a:prstGeom prst="rect">
            <a:avLst/>
          </a:prstGeom>
          <a:noFill/>
          <a:ln/>
        </p:spPr>
        <p:txBody>
          <a:bodyPr wrap="square" lIns="0" tIns="0" rIns="0" bIns="0" rtlCol="0" anchor="t"/>
          <a:lstStyle/>
          <a:p>
            <a:pPr marL="0" indent="0" algn="l">
              <a:lnSpc>
                <a:spcPts val="2900"/>
              </a:lnSpc>
              <a:buNone/>
            </a:pPr>
            <a:r>
              <a:rPr lang="en-US" sz="1900">
                <a:solidFill>
                  <a:srgbClr val="E2E6E9"/>
                </a:solidFill>
                <a:latin typeface="Microsoft YaHei UI" panose="020B0503020204020204" pitchFamily="34" charset="-122"/>
                <a:ea typeface="Microsoft YaHei UI" panose="020B0503020204020204" pitchFamily="34" charset="-122"/>
                <a:cs typeface="Source Sans 3" pitchFamily="34" charset="-120"/>
              </a:rPr>
              <a:t>Students, self-learners, and professionals; integrate with LMS platforms.</a:t>
            </a:r>
            <a:endParaRPr lang="en-US" sz="1900">
              <a:latin typeface="Microsoft YaHei UI" panose="020B0503020204020204" pitchFamily="34" charset="-122"/>
              <a:ea typeface="Microsoft YaHei UI" panose="020B0503020204020204" pitchFamily="34" charset="-122"/>
            </a:endParaRPr>
          </a:p>
        </p:txBody>
      </p:sp>
      <p:pic>
        <p:nvPicPr>
          <p:cNvPr id="10" name="Image 2" descr="preencoded.png"/>
          <p:cNvPicPr>
            <a:picLocks noChangeAspect="1"/>
          </p:cNvPicPr>
          <p:nvPr/>
        </p:nvPicPr>
        <p:blipFill>
          <a:blip r:embed="rId5"/>
          <a:stretch>
            <a:fillRect/>
          </a:stretch>
        </p:blipFill>
        <p:spPr>
          <a:xfrm>
            <a:off x="5057180" y="2858095"/>
            <a:ext cx="4515922" cy="4515922"/>
          </a:xfrm>
          <a:prstGeom prst="rect">
            <a:avLst/>
          </a:prstGeom>
        </p:spPr>
      </p:pic>
      <p:pic>
        <p:nvPicPr>
          <p:cNvPr id="11" name="Image 3" descr="preencoded.png"/>
          <p:cNvPicPr>
            <a:picLocks noChangeAspect="1"/>
          </p:cNvPicPr>
          <p:nvPr/>
        </p:nvPicPr>
        <p:blipFill>
          <a:blip r:embed="rId6"/>
          <a:stretch>
            <a:fillRect/>
          </a:stretch>
        </p:blipFill>
        <p:spPr>
          <a:xfrm>
            <a:off x="7963733" y="4076819"/>
            <a:ext cx="347067" cy="433864"/>
          </a:xfrm>
          <a:prstGeom prst="rect">
            <a:avLst/>
          </a:prstGeom>
        </p:spPr>
      </p:pic>
      <p:sp>
        <p:nvSpPr>
          <p:cNvPr id="12" name="Text 6"/>
          <p:cNvSpPr/>
          <p:nvPr/>
        </p:nvSpPr>
        <p:spPr>
          <a:xfrm>
            <a:off x="9573101" y="5532953"/>
            <a:ext cx="2804874" cy="350639"/>
          </a:xfrm>
          <a:prstGeom prst="rect">
            <a:avLst/>
          </a:prstGeom>
          <a:noFill/>
          <a:ln/>
        </p:spPr>
        <p:txBody>
          <a:bodyPr wrap="none" lIns="0" tIns="0" rIns="0" bIns="0" rtlCol="0" anchor="t"/>
          <a:lstStyle/>
          <a:p>
            <a:pPr marL="0" indent="0" algn="l">
              <a:lnSpc>
                <a:spcPts val="2750"/>
              </a:lnSpc>
              <a:buNone/>
            </a:pPr>
            <a:r>
              <a:rPr lang="en-US" sz="2200" b="1">
                <a:solidFill>
                  <a:srgbClr val="E2E6E9"/>
                </a:solidFill>
                <a:latin typeface="Microsoft YaHei UI" panose="020B0503020204020204" pitchFamily="34" charset="-122"/>
                <a:ea typeface="Microsoft YaHei UI" panose="020B0503020204020204" pitchFamily="34" charset="-122"/>
                <a:cs typeface="Montserrat Bold" pitchFamily="34" charset="-120"/>
              </a:rPr>
              <a:t>Value Proposition</a:t>
            </a:r>
            <a:endParaRPr lang="en-US" sz="2200">
              <a:latin typeface="Microsoft YaHei UI" panose="020B0503020204020204" pitchFamily="34" charset="-122"/>
              <a:ea typeface="Microsoft YaHei UI" panose="020B0503020204020204" pitchFamily="34" charset="-122"/>
            </a:endParaRPr>
          </a:p>
        </p:txBody>
      </p:sp>
      <p:sp>
        <p:nvSpPr>
          <p:cNvPr id="13" name="Text 7"/>
          <p:cNvSpPr/>
          <p:nvPr/>
        </p:nvSpPr>
        <p:spPr>
          <a:xfrm>
            <a:off x="9573101" y="6031587"/>
            <a:ext cx="4193500" cy="1110496"/>
          </a:xfrm>
          <a:prstGeom prst="rect">
            <a:avLst/>
          </a:prstGeom>
          <a:noFill/>
          <a:ln/>
        </p:spPr>
        <p:txBody>
          <a:bodyPr wrap="square" lIns="0" tIns="0" rIns="0" bIns="0" rtlCol="0" anchor="t"/>
          <a:lstStyle/>
          <a:p>
            <a:pPr marL="0" indent="0" algn="l">
              <a:lnSpc>
                <a:spcPts val="2900"/>
              </a:lnSpc>
              <a:buNone/>
            </a:pPr>
            <a:r>
              <a:rPr lang="en-US" sz="1900">
                <a:solidFill>
                  <a:srgbClr val="E2E6E9"/>
                </a:solidFill>
                <a:latin typeface="Microsoft YaHei UI" panose="020B0503020204020204" pitchFamily="34" charset="-122"/>
                <a:ea typeface="Microsoft YaHei UI" panose="020B0503020204020204" pitchFamily="34" charset="-122"/>
                <a:cs typeface="Source Sans 3" pitchFamily="34" charset="-120"/>
              </a:rPr>
              <a:t>First privacy-preserving, adaptive AI timer. Enhances focus efficiency and prevents burnout.</a:t>
            </a:r>
            <a:endParaRPr lang="en-US" sz="1900">
              <a:latin typeface="Microsoft YaHei UI" panose="020B0503020204020204" pitchFamily="34" charset="-122"/>
              <a:ea typeface="Microsoft YaHei UI" panose="020B0503020204020204" pitchFamily="34" charset="-122"/>
            </a:endParaRPr>
          </a:p>
        </p:txBody>
      </p:sp>
      <p:pic>
        <p:nvPicPr>
          <p:cNvPr id="14" name="Image 4" descr="preencoded.png"/>
          <p:cNvPicPr>
            <a:picLocks noChangeAspect="1"/>
          </p:cNvPicPr>
          <p:nvPr/>
        </p:nvPicPr>
        <p:blipFill>
          <a:blip r:embed="rId7"/>
          <a:stretch>
            <a:fillRect/>
          </a:stretch>
        </p:blipFill>
        <p:spPr>
          <a:xfrm>
            <a:off x="5057180" y="2858095"/>
            <a:ext cx="4515922" cy="4515922"/>
          </a:xfrm>
          <a:prstGeom prst="rect">
            <a:avLst/>
          </a:prstGeom>
        </p:spPr>
      </p:pic>
      <p:pic>
        <p:nvPicPr>
          <p:cNvPr id="15" name="Image 5" descr="preencoded.png"/>
          <p:cNvPicPr>
            <a:picLocks noChangeAspect="1"/>
          </p:cNvPicPr>
          <p:nvPr/>
        </p:nvPicPr>
        <p:blipFill>
          <a:blip r:embed="rId8"/>
          <a:stretch>
            <a:fillRect/>
          </a:stretch>
        </p:blipFill>
        <p:spPr>
          <a:xfrm>
            <a:off x="7963733" y="5721310"/>
            <a:ext cx="347067" cy="433864"/>
          </a:xfrm>
          <a:prstGeom prst="rect">
            <a:avLst/>
          </a:prstGeom>
        </p:spPr>
      </p:pic>
      <p:sp>
        <p:nvSpPr>
          <p:cNvPr id="16" name="Text 8"/>
          <p:cNvSpPr/>
          <p:nvPr/>
        </p:nvSpPr>
        <p:spPr>
          <a:xfrm>
            <a:off x="2029420" y="5532953"/>
            <a:ext cx="3027759" cy="350639"/>
          </a:xfrm>
          <a:prstGeom prst="rect">
            <a:avLst/>
          </a:prstGeom>
          <a:noFill/>
          <a:ln/>
        </p:spPr>
        <p:txBody>
          <a:bodyPr wrap="none" lIns="0" tIns="0" rIns="0" bIns="0" rtlCol="0" anchor="t"/>
          <a:lstStyle/>
          <a:p>
            <a:pPr marL="0" indent="0" algn="r">
              <a:lnSpc>
                <a:spcPts val="2750"/>
              </a:lnSpc>
              <a:buNone/>
            </a:pPr>
            <a:r>
              <a:rPr lang="en-US" sz="2200" b="1">
                <a:solidFill>
                  <a:srgbClr val="E2E6E9"/>
                </a:solidFill>
                <a:latin typeface="Microsoft YaHei UI" panose="020B0503020204020204" pitchFamily="34" charset="-122"/>
                <a:ea typeface="Microsoft YaHei UI" panose="020B0503020204020204" pitchFamily="34" charset="-122"/>
                <a:cs typeface="Montserrat Bold" pitchFamily="34" charset="-120"/>
              </a:rPr>
              <a:t>Intellectual Property</a:t>
            </a:r>
            <a:endParaRPr lang="en-US" sz="2200">
              <a:latin typeface="Microsoft YaHei UI" panose="020B0503020204020204" pitchFamily="34" charset="-122"/>
              <a:ea typeface="Microsoft YaHei UI" panose="020B0503020204020204" pitchFamily="34" charset="-122"/>
            </a:endParaRPr>
          </a:p>
        </p:txBody>
      </p:sp>
      <p:sp>
        <p:nvSpPr>
          <p:cNvPr id="17" name="Text 9"/>
          <p:cNvSpPr/>
          <p:nvPr/>
        </p:nvSpPr>
        <p:spPr>
          <a:xfrm>
            <a:off x="863798" y="6031587"/>
            <a:ext cx="4193381" cy="1110496"/>
          </a:xfrm>
          <a:prstGeom prst="rect">
            <a:avLst/>
          </a:prstGeom>
          <a:noFill/>
          <a:ln/>
        </p:spPr>
        <p:txBody>
          <a:bodyPr wrap="square" lIns="0" tIns="0" rIns="0" bIns="0" rtlCol="0" anchor="t"/>
          <a:lstStyle/>
          <a:p>
            <a:pPr marL="0" indent="0" algn="r">
              <a:lnSpc>
                <a:spcPts val="2900"/>
              </a:lnSpc>
              <a:buNone/>
            </a:pPr>
            <a:r>
              <a:rPr lang="en-US" sz="1900">
                <a:solidFill>
                  <a:srgbClr val="E2E6E9"/>
                </a:solidFill>
                <a:latin typeface="Microsoft YaHei UI" panose="020B0503020204020204" pitchFamily="34" charset="-122"/>
                <a:ea typeface="Microsoft YaHei UI" panose="020B0503020204020204" pitchFamily="34" charset="-122"/>
                <a:cs typeface="Source Sans 3" pitchFamily="34" charset="-120"/>
              </a:rPr>
              <a:t>Patentable scheduling metrics and fusion of micro-EMA with bandits. Potential SDK integration.</a:t>
            </a:r>
            <a:endParaRPr lang="en-US" sz="1900">
              <a:latin typeface="Microsoft YaHei UI" panose="020B0503020204020204" pitchFamily="34" charset="-122"/>
              <a:ea typeface="Microsoft YaHei UI" panose="020B0503020204020204" pitchFamily="34" charset="-122"/>
            </a:endParaRPr>
          </a:p>
        </p:txBody>
      </p:sp>
      <p:pic>
        <p:nvPicPr>
          <p:cNvPr id="18" name="Image 6" descr="preencoded.png"/>
          <p:cNvPicPr>
            <a:picLocks noChangeAspect="1"/>
          </p:cNvPicPr>
          <p:nvPr/>
        </p:nvPicPr>
        <p:blipFill>
          <a:blip r:embed="rId9"/>
          <a:stretch>
            <a:fillRect/>
          </a:stretch>
        </p:blipFill>
        <p:spPr>
          <a:xfrm>
            <a:off x="5057180" y="2858095"/>
            <a:ext cx="4515922" cy="4515922"/>
          </a:xfrm>
          <a:prstGeom prst="rect">
            <a:avLst/>
          </a:prstGeom>
        </p:spPr>
      </p:pic>
      <p:pic>
        <p:nvPicPr>
          <p:cNvPr id="19" name="Image 7" descr="preencoded.png"/>
          <p:cNvPicPr>
            <a:picLocks noChangeAspect="1"/>
          </p:cNvPicPr>
          <p:nvPr/>
        </p:nvPicPr>
        <p:blipFill>
          <a:blip r:embed="rId10"/>
          <a:stretch>
            <a:fillRect/>
          </a:stretch>
        </p:blipFill>
        <p:spPr>
          <a:xfrm>
            <a:off x="6319242" y="5721310"/>
            <a:ext cx="347067" cy="433864"/>
          </a:xfrm>
          <a:prstGeom prst="rect">
            <a:avLst/>
          </a:prstGeom>
        </p:spPr>
      </p:pic>
      <p:sp>
        <p:nvSpPr>
          <p:cNvPr id="20" name="Rectangle 19">
            <a:extLst>
              <a:ext uri="{FF2B5EF4-FFF2-40B4-BE49-F238E27FC236}">
                <a16:creationId xmlns:a16="http://schemas.microsoft.com/office/drawing/2014/main" id="{4814E6B8-2842-B068-B2B9-D18247185126}"/>
              </a:ext>
            </a:extLst>
          </p:cNvPr>
          <p:cNvSpPr/>
          <p:nvPr/>
        </p:nvSpPr>
        <p:spPr>
          <a:xfrm>
            <a:off x="12823902" y="7716644"/>
            <a:ext cx="1728439" cy="434897"/>
          </a:xfrm>
          <a:prstGeom prst="rect">
            <a:avLst/>
          </a:prstGeom>
          <a:solidFill>
            <a:srgbClr val="111213"/>
          </a:solidFill>
          <a:ln>
            <a:solidFill>
              <a:srgbClr val="11121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 7">
            <a:extLst>
              <a:ext uri="{FF2B5EF4-FFF2-40B4-BE49-F238E27FC236}">
                <a16:creationId xmlns:a16="http://schemas.microsoft.com/office/drawing/2014/main" id="{3255AFAD-43B0-C2BF-5109-1E1AFE0A55F7}"/>
              </a:ext>
            </a:extLst>
          </p:cNvPr>
          <p:cNvSpPr/>
          <p:nvPr/>
        </p:nvSpPr>
        <p:spPr>
          <a:xfrm>
            <a:off x="1598995" y="7430080"/>
            <a:ext cx="11871771" cy="572614"/>
          </a:xfrm>
          <a:prstGeom prst="rect">
            <a:avLst/>
          </a:prstGeom>
          <a:noFill/>
          <a:ln/>
        </p:spPr>
        <p:txBody>
          <a:bodyPr wrap="square" lIns="0" tIns="0" rIns="0" bIns="0" rtlCol="0" anchor="t"/>
          <a:lstStyle/>
          <a:p>
            <a:pPr>
              <a:lnSpc>
                <a:spcPts val="2900"/>
              </a:lnSpc>
            </a:pPr>
            <a:r>
              <a:rPr lang="en-US" sz="1900">
                <a:solidFill>
                  <a:srgbClr val="E2E6E9"/>
                </a:solidFill>
                <a:ea typeface="+mn-lt"/>
                <a:cs typeface="+mn-lt"/>
              </a:rPr>
              <a:t>1M+ students use Pomodoro apps; capturing even 1% market (~10k users) at $2/month yields $20k monthly revenue.</a:t>
            </a:r>
            <a:endParaRPr lang="en-US">
              <a:ea typeface="+mn-lt"/>
              <a:cs typeface="+mn-lt"/>
            </a:endParaRPr>
          </a:p>
        </p:txBody>
      </p:sp>
    </p:spTree>
    <p:extLst>
      <p:ext uri="{BB962C8B-B14F-4D97-AF65-F5344CB8AC3E}">
        <p14:creationId xmlns:p14="http://schemas.microsoft.com/office/powerpoint/2010/main" val="7056198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pothecary">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D08376A6-FCE2-4A8E-BFFF-11B69BD93976}" vid="{0A5F165D-9E14-4628-BA29-A51D7051FDC3}"/>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8476C4981FE2047819081DBF807662E" ma:contentTypeVersion="15" ma:contentTypeDescription="Create a new document." ma:contentTypeScope="" ma:versionID="0785887ac77d067a4a3ebd0f2bf18ec7">
  <xsd:schema xmlns:xsd="http://www.w3.org/2001/XMLSchema" xmlns:xs="http://www.w3.org/2001/XMLSchema" xmlns:p="http://schemas.microsoft.com/office/2006/metadata/properties" xmlns:ns3="42d1e402-c42d-419a-bd83-d8d365e28f11" xmlns:ns4="fdf483cb-5937-4af3-915e-55fd2d7d3a90" targetNamespace="http://schemas.microsoft.com/office/2006/metadata/properties" ma:root="true" ma:fieldsID="a4425530e458d0935d7373f94e9fafa8" ns3:_="" ns4:_="">
    <xsd:import namespace="42d1e402-c42d-419a-bd83-d8d365e28f11"/>
    <xsd:import namespace="fdf483cb-5937-4af3-915e-55fd2d7d3a90"/>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_activity" minOccurs="0"/>
                <xsd:element ref="ns3:MediaServiceDateTaken" minOccurs="0"/>
                <xsd:element ref="ns3:MediaServiceObjectDetectorVersions" minOccurs="0"/>
                <xsd:element ref="ns3:MediaLengthInSeconds" minOccurs="0"/>
                <xsd:element ref="ns3:MediaServiceSearchProperties" minOccurs="0"/>
                <xsd:element ref="ns4:SharedWithUsers" minOccurs="0"/>
                <xsd:element ref="ns4:SharedWithDetails" minOccurs="0"/>
                <xsd:element ref="ns4:SharingHintHash"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d1e402-c42d-419a-bd83-d8d365e28f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_activity" ma:index="14" nillable="true" ma:displayName="_activity" ma:hidden="true" ma:internalName="_activity">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SystemTags" ma:index="2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df483cb-5937-4af3-915e-55fd2d7d3a90"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SharingHintHash" ma:index="2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42d1e402-c42d-419a-bd83-d8d365e28f11" xsi:nil="true"/>
  </documentManagement>
</p:properties>
</file>

<file path=customXml/itemProps1.xml><?xml version="1.0" encoding="utf-8"?>
<ds:datastoreItem xmlns:ds="http://schemas.openxmlformats.org/officeDocument/2006/customXml" ds:itemID="{301E4DF5-066E-4811-9520-FBF0047EADBA}">
  <ds:schemaRefs>
    <ds:schemaRef ds:uri="42d1e402-c42d-419a-bd83-d8d365e28f11"/>
    <ds:schemaRef ds:uri="fdf483cb-5937-4af3-915e-55fd2d7d3a9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4E7E880-0133-4D7D-A93C-38D37BC6CC00}">
  <ds:schemaRefs>
    <ds:schemaRef ds:uri="http://schemas.microsoft.com/sharepoint/v3/contenttype/forms"/>
  </ds:schemaRefs>
</ds:datastoreItem>
</file>

<file path=customXml/itemProps3.xml><?xml version="1.0" encoding="utf-8"?>
<ds:datastoreItem xmlns:ds="http://schemas.openxmlformats.org/officeDocument/2006/customXml" ds:itemID="{8B3EB916-4FC2-47A1-BC60-A38262FC3255}">
  <ds:schemaRefs>
    <ds:schemaRef ds:uri="42d1e402-c42d-419a-bd83-d8d365e28f11"/>
    <ds:schemaRef ds:uri="http://schemas.openxmlformats.org/package/2006/metadata/core-properties"/>
    <ds:schemaRef ds:uri="http://purl.org/dc/terms/"/>
    <ds:schemaRef ds:uri="http://purl.org/dc/elements/1.1/"/>
    <ds:schemaRef ds:uri="http://purl.org/dc/dcmitype/"/>
    <ds:schemaRef ds:uri="fdf483cb-5937-4af3-915e-55fd2d7d3a90"/>
    <ds:schemaRef ds:uri="http://schemas.microsoft.com/office/2006/metadata/properties"/>
    <ds:schemaRef ds:uri="http://schemas.microsoft.com/office/2006/documentManagement/types"/>
    <ds:schemaRef ds:uri="http://schemas.microsoft.com/office/infopath/2007/PartnerControls"/>
    <ds:schemaRef ds:uri="http://www.w3.org/XML/1998/namespace"/>
  </ds:schemaRefs>
</ds:datastoreItem>
</file>

<file path=docMetadata/LabelInfo.xml><?xml version="1.0" encoding="utf-8"?>
<clbl:labelList xmlns:clbl="http://schemas.microsoft.com/office/2020/mipLabelMetadata">
  <clbl:label id="{44e3cf94-19c9-4e32-96c3-14f5bf01391a}" enabled="0" method="" siteId="{44e3cf94-19c9-4e32-96c3-14f5bf01391a}" removed="1"/>
</clbl:labelList>
</file>

<file path=docProps/app.xml><?xml version="1.0" encoding="utf-8"?>
<Properties xmlns="http://schemas.openxmlformats.org/officeDocument/2006/extended-properties" xmlns:vt="http://schemas.openxmlformats.org/officeDocument/2006/docPropsVTypes">
  <TotalTime>0</TotalTime>
  <Words>3423</Words>
  <Application>Microsoft Office PowerPoint</Application>
  <PresentationFormat>Custom</PresentationFormat>
  <Paragraphs>310</Paragraphs>
  <Slides>24</Slides>
  <Notes>18</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24</vt:i4>
      </vt:variant>
    </vt:vector>
  </HeadingPairs>
  <TitlesOfParts>
    <vt:vector size="37" baseType="lpstr">
      <vt:lpstr>Microsoft YaHei UI</vt:lpstr>
      <vt:lpstr>Source Sans 3</vt:lpstr>
      <vt:lpstr>Calibri</vt:lpstr>
      <vt:lpstr>Aptos</vt:lpstr>
      <vt:lpstr>Montserrat Bold</vt:lpstr>
      <vt:lpstr>Arial,Sans-Serif</vt:lpstr>
      <vt:lpstr>Wingdings</vt:lpstr>
      <vt:lpstr>Adobe Devanagari</vt:lpstr>
      <vt:lpstr>Arial</vt:lpstr>
      <vt:lpstr>Cambria</vt:lpstr>
      <vt:lpstr>Office Theme</vt:lpstr>
      <vt:lpstr>1_Office Theme</vt:lpstr>
      <vt:lpstr>2_Office Theme</vt:lpstr>
      <vt:lpstr>PowerPoint Presentation</vt:lpstr>
      <vt:lpstr>PowerPoint Presentation</vt:lpstr>
      <vt:lpstr>Bogahawatta B.P.S.    --   IT22148254</vt:lpstr>
      <vt:lpstr>PowerPoint Presentation</vt:lpstr>
      <vt:lpstr>PowerPoint Presentation</vt:lpstr>
      <vt:lpstr>PowerPoint Presentation</vt:lpstr>
      <vt:lpstr>PowerPoint Presentation</vt:lpstr>
      <vt:lpstr>IT22054418|V.I.Kaluarachchi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RAJENDRAM P.A.    --   IT22087874</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KALUARACHCHI V I it22054418</cp:lastModifiedBy>
  <cp:revision>2</cp:revision>
  <dcterms:created xsi:type="dcterms:W3CDTF">2025-09-08T16:38:02Z</dcterms:created>
  <dcterms:modified xsi:type="dcterms:W3CDTF">2026-04-26T04:13:05Z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0x01010018476C4981FE2047819081DBF807662E</vt:lpwstr>
  </property>
</Properties>
</file>